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3"/>
  </p:sldMasterIdLst>
  <p:notesMasterIdLst>
    <p:notesMasterId r:id="rId23"/>
  </p:notesMasterIdLst>
  <p:sldIdLst>
    <p:sldId id="269" r:id="rId4"/>
    <p:sldId id="297" r:id="rId5"/>
    <p:sldId id="298" r:id="rId6"/>
    <p:sldId id="308" r:id="rId7"/>
    <p:sldId id="309" r:id="rId8"/>
    <p:sldId id="310" r:id="rId9"/>
    <p:sldId id="311" r:id="rId10"/>
    <p:sldId id="299" r:id="rId11"/>
    <p:sldId id="305" r:id="rId12"/>
    <p:sldId id="306" r:id="rId13"/>
    <p:sldId id="307" r:id="rId14"/>
    <p:sldId id="300" r:id="rId15"/>
    <p:sldId id="261" r:id="rId16"/>
    <p:sldId id="284" r:id="rId17"/>
    <p:sldId id="285" r:id="rId18"/>
    <p:sldId id="301" r:id="rId19"/>
    <p:sldId id="302" r:id="rId20"/>
    <p:sldId id="303" r:id="rId21"/>
    <p:sldId id="304" r:id="rId22"/>
  </p:sldIdLst>
  <p:sldSz cx="12192000" cy="6858000"/>
  <p:notesSz cx="6858000" cy="9144000"/>
  <p:embeddedFontLst>
    <p:embeddedFont>
      <p:font typeface="微软雅黑" panose="020B0503020204020204" pitchFamily="34" charset="-122"/>
      <p:regular r:id="rId27"/>
    </p:embeddedFont>
    <p:embeddedFont>
      <p:font typeface="Calibri" panose="020F0502020204030204"/>
      <p:regular r:id="rId28"/>
      <p:bold r:id="rId29"/>
      <p:italic r:id="rId30"/>
      <p:boldItalic r:id="rId31"/>
    </p:embeddedFont>
    <p:embeddedFont>
      <p:font typeface="Calibri Light" panose="020F0302020204030204" charset="0"/>
      <p:regular r:id="rId32"/>
      <p:italic r:id="rId3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BDCC"/>
    <a:srgbClr val="FFC000"/>
    <a:srgbClr val="C5E0B4"/>
    <a:srgbClr val="5B9BD5"/>
    <a:srgbClr val="92D050"/>
    <a:srgbClr val="35495E"/>
    <a:srgbClr val="F9FC27"/>
    <a:srgbClr val="FF0000"/>
    <a:srgbClr val="6BC4E5"/>
    <a:srgbClr val="4CC1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48" y="48"/>
      </p:cViewPr>
      <p:guideLst>
        <p:guide orient="horz" pos="2223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3" Type="http://schemas.openxmlformats.org/officeDocument/2006/relationships/font" Target="fonts/font7.fntdata"/><Relationship Id="rId32" Type="http://schemas.openxmlformats.org/officeDocument/2006/relationships/font" Target="fonts/font6.fntdata"/><Relationship Id="rId31" Type="http://schemas.openxmlformats.org/officeDocument/2006/relationships/font" Target="fonts/font5.fntdata"/><Relationship Id="rId30" Type="http://schemas.openxmlformats.org/officeDocument/2006/relationships/font" Target="fonts/font4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3.fntdata"/><Relationship Id="rId28" Type="http://schemas.openxmlformats.org/officeDocument/2006/relationships/font" Target="fonts/font2.fntdata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3F4DCD-3E9F-4F9E-ACC9-6C38FDEAE7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FD8AA7-E4F4-4954-B1C4-D60F0423E20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FC5D8-56EA-49FF-87E1-39226AA55F67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C5B3-B496-4650-AFEE-7260D2DF61F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FC5D8-56EA-49FF-87E1-39226AA55F67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C5B3-B496-4650-AFEE-7260D2DF61F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FC5D8-56EA-49FF-87E1-39226AA55F67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C5B3-B496-4650-AFEE-7260D2DF61F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FC5D8-56EA-49FF-87E1-39226AA55F67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C5B3-B496-4650-AFEE-7260D2DF61F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FC5D8-56EA-49FF-87E1-39226AA55F67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C5B3-B496-4650-AFEE-7260D2DF61F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FC5D8-56EA-49FF-87E1-39226AA55F67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C5B3-B496-4650-AFEE-7260D2DF61F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FC5D8-56EA-49FF-87E1-39226AA55F67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C5B3-B496-4650-AFEE-7260D2DF61F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FC5D8-56EA-49FF-87E1-39226AA55F67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C5B3-B496-4650-AFEE-7260D2DF61F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FC5D8-56EA-49FF-87E1-39226AA55F67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C5B3-B496-4650-AFEE-7260D2DF61F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FC5D8-56EA-49FF-87E1-39226AA55F67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C5B3-B496-4650-AFEE-7260D2DF61F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FC5D8-56EA-49FF-87E1-39226AA55F67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C5B3-B496-4650-AFEE-7260D2DF61F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48BC-946A-49D4-BC30-028BCB30CCDA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778D-B42F-4BC1-849E-F9F101E74289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48BC-946A-49D4-BC30-028BCB30CCDA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778D-B42F-4BC1-849E-F9F101E74289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48BC-946A-49D4-BC30-028BCB30CCDA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778D-B42F-4BC1-849E-F9F101E74289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48BC-946A-49D4-BC30-028BCB30CCDA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778D-B42F-4BC1-849E-F9F101E74289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48BC-946A-49D4-BC30-028BCB30CCDA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778D-B42F-4BC1-849E-F9F101E74289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48BC-946A-49D4-BC30-028BCB30CCDA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778D-B42F-4BC1-849E-F9F101E74289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48BC-946A-49D4-BC30-028BCB30CCDA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778D-B42F-4BC1-849E-F9F101E74289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48BC-946A-49D4-BC30-028BCB30CCDA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778D-B42F-4BC1-849E-F9F101E74289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48BC-946A-49D4-BC30-028BCB30CCDA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778D-B42F-4BC1-849E-F9F101E74289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48BC-946A-49D4-BC30-028BCB30CCDA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778D-B42F-4BC1-849E-F9F101E74289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48BC-946A-49D4-BC30-028BCB30CCDA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778D-B42F-4BC1-849E-F9F101E74289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FFC5D8-56EA-49FF-87E1-39226AA55F67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68C5B3-B496-4650-AFEE-7260D2DF61F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248BC-946A-49D4-BC30-028BCB30CCDA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2778D-B42F-4BC1-849E-F9F101E74289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3" Type="http://schemas.openxmlformats.org/officeDocument/2006/relationships/slideLayout" Target="../slideLayouts/slideLayout1.xml"/><Relationship Id="rId22" Type="http://schemas.openxmlformats.org/officeDocument/2006/relationships/image" Target="../media/image13.png"/><Relationship Id="rId21" Type="http://schemas.openxmlformats.org/officeDocument/2006/relationships/tags" Target="../tags/tag33.xml"/><Relationship Id="rId20" Type="http://schemas.openxmlformats.org/officeDocument/2006/relationships/tags" Target="../tags/tag32.xml"/><Relationship Id="rId2" Type="http://schemas.openxmlformats.org/officeDocument/2006/relationships/tags" Target="../tags/tag14.xml"/><Relationship Id="rId19" Type="http://schemas.openxmlformats.org/officeDocument/2006/relationships/tags" Target="../tags/tag31.xml"/><Relationship Id="rId18" Type="http://schemas.openxmlformats.org/officeDocument/2006/relationships/tags" Target="../tags/tag30.xml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tags" Target="../tags/tag34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0" Type="http://schemas.openxmlformats.org/officeDocument/2006/relationships/slideLayout" Target="../slideLayouts/slideLayout18.xml"/><Relationship Id="rId1" Type="http://schemas.openxmlformats.org/officeDocument/2006/relationships/image" Target="../media/image21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png"/><Relationship Id="rId8" Type="http://schemas.openxmlformats.org/officeDocument/2006/relationships/image" Target="../media/image36.png"/><Relationship Id="rId7" Type="http://schemas.openxmlformats.org/officeDocument/2006/relationships/image" Target="../media/image35.png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40.png"/><Relationship Id="rId11" Type="http://schemas.openxmlformats.org/officeDocument/2006/relationships/image" Target="../media/image39.png"/><Relationship Id="rId10" Type="http://schemas.openxmlformats.org/officeDocument/2006/relationships/image" Target="../media/image38.png"/><Relationship Id="rId1" Type="http://schemas.openxmlformats.org/officeDocument/2006/relationships/image" Target="../media/image21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png"/><Relationship Id="rId8" Type="http://schemas.openxmlformats.org/officeDocument/2006/relationships/image" Target="../media/image48.png"/><Relationship Id="rId7" Type="http://schemas.openxmlformats.org/officeDocument/2006/relationships/image" Target="../media/image47.png"/><Relationship Id="rId6" Type="http://schemas.openxmlformats.org/officeDocument/2006/relationships/image" Target="../media/image46.jpeg"/><Relationship Id="rId5" Type="http://schemas.openxmlformats.org/officeDocument/2006/relationships/image" Target="../media/image45.jpe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0" Type="http://schemas.openxmlformats.org/officeDocument/2006/relationships/slideLayout" Target="../slideLayouts/slideLayout18.xml"/><Relationship Id="rId2" Type="http://schemas.openxmlformats.org/officeDocument/2006/relationships/image" Target="../media/image42.jpeg"/><Relationship Id="rId19" Type="http://schemas.openxmlformats.org/officeDocument/2006/relationships/image" Target="../media/image59.jpeg"/><Relationship Id="rId18" Type="http://schemas.openxmlformats.org/officeDocument/2006/relationships/image" Target="../media/image58.jpeg"/><Relationship Id="rId17" Type="http://schemas.openxmlformats.org/officeDocument/2006/relationships/image" Target="../media/image57.png"/><Relationship Id="rId16" Type="http://schemas.openxmlformats.org/officeDocument/2006/relationships/image" Target="../media/image56.png"/><Relationship Id="rId15" Type="http://schemas.openxmlformats.org/officeDocument/2006/relationships/image" Target="../media/image55.jpeg"/><Relationship Id="rId14" Type="http://schemas.openxmlformats.org/officeDocument/2006/relationships/image" Target="../media/image54.png"/><Relationship Id="rId13" Type="http://schemas.openxmlformats.org/officeDocument/2006/relationships/image" Target="../media/image53.png"/><Relationship Id="rId12" Type="http://schemas.openxmlformats.org/officeDocument/2006/relationships/image" Target="../media/image52.png"/><Relationship Id="rId11" Type="http://schemas.openxmlformats.org/officeDocument/2006/relationships/image" Target="../media/image51.png"/><Relationship Id="rId10" Type="http://schemas.openxmlformats.org/officeDocument/2006/relationships/image" Target="../media/image50.png"/><Relationship Id="rId1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196975" y="3618756"/>
            <a:ext cx="14726920" cy="3991138"/>
            <a:chOff x="-840755" y="1905457"/>
            <a:chExt cx="14073292" cy="3972873"/>
          </a:xfrm>
        </p:grpSpPr>
        <p:sp>
          <p:nvSpPr>
            <p:cNvPr id="4" name="椭圆 3"/>
            <p:cNvSpPr/>
            <p:nvPr/>
          </p:nvSpPr>
          <p:spPr>
            <a:xfrm>
              <a:off x="-840755" y="1905565"/>
              <a:ext cx="2159876" cy="2159876"/>
            </a:xfrm>
            <a:prstGeom prst="ellipse">
              <a:avLst/>
            </a:prstGeom>
            <a:solidFill>
              <a:srgbClr val="00A6B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 flipH="1">
              <a:off x="11072661" y="1905457"/>
              <a:ext cx="2159876" cy="2159876"/>
            </a:xfrm>
            <a:prstGeom prst="ellipse">
              <a:avLst/>
            </a:prstGeom>
            <a:solidFill>
              <a:srgbClr val="00A6B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-98200" y="4460100"/>
              <a:ext cx="987711" cy="987711"/>
            </a:xfrm>
            <a:prstGeom prst="ellipse">
              <a:avLst/>
            </a:prstGeom>
            <a:solidFill>
              <a:srgbClr val="20BA7C">
                <a:alpha val="6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2100919" y="4838595"/>
              <a:ext cx="1039735" cy="1039735"/>
            </a:xfrm>
            <a:prstGeom prst="ellipse">
              <a:avLst/>
            </a:prstGeom>
            <a:solidFill>
              <a:srgbClr val="EF9802">
                <a:alpha val="6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 flipH="1">
              <a:off x="11351545" y="4566292"/>
              <a:ext cx="987711" cy="987711"/>
            </a:xfrm>
            <a:prstGeom prst="ellipse">
              <a:avLst/>
            </a:prstGeom>
            <a:solidFill>
              <a:srgbClr val="20BA7C">
                <a:alpha val="6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 flipH="1">
              <a:off x="9290335" y="4838595"/>
              <a:ext cx="1039735" cy="1039735"/>
            </a:xfrm>
            <a:prstGeom prst="ellipse">
              <a:avLst/>
            </a:prstGeom>
            <a:solidFill>
              <a:srgbClr val="EF9802">
                <a:alpha val="6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2749550" y="3010012"/>
            <a:ext cx="6833562" cy="830921"/>
            <a:chOff x="2674620" y="3958792"/>
            <a:chExt cx="6833562" cy="83092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4" name="矩形 23"/>
            <p:cNvSpPr/>
            <p:nvPr/>
          </p:nvSpPr>
          <p:spPr>
            <a:xfrm>
              <a:off x="2674620" y="3958792"/>
              <a:ext cx="6833562" cy="830921"/>
            </a:xfrm>
            <a:prstGeom prst="rect">
              <a:avLst/>
            </a:prstGeom>
            <a:solidFill>
              <a:srgbClr val="00A6BC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3702402" y="4026620"/>
              <a:ext cx="4777740" cy="7067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40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Droid Sans" panose="020B0606030804020204" pitchFamily="34" charset="0"/>
                </a:rPr>
                <a:t>智能化共享租赁平台</a:t>
              </a:r>
              <a:endParaRPr lang="zh-CN" altLang="en-US" sz="4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Droid Sans" panose="020B0606030804020204" pitchFamily="34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256454" y="4270143"/>
            <a:ext cx="3518912" cy="486361"/>
            <a:chOff x="4336464" y="3468410"/>
            <a:chExt cx="3518912" cy="486361"/>
          </a:xfrm>
        </p:grpSpPr>
        <p:sp>
          <p:nvSpPr>
            <p:cNvPr id="39" name="矩形 38"/>
            <p:cNvSpPr/>
            <p:nvPr/>
          </p:nvSpPr>
          <p:spPr>
            <a:xfrm>
              <a:off x="4336464" y="3468410"/>
              <a:ext cx="3518912" cy="486361"/>
            </a:xfrm>
            <a:prstGeom prst="rect">
              <a:avLst/>
            </a:prstGeom>
            <a:solidFill>
              <a:schemeClr val="tx1">
                <a:lumMod val="85000"/>
                <a:lumOff val="15000"/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4802136" y="3511535"/>
              <a:ext cx="2722880" cy="3987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sz="20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第十二届服务外包大赛</a:t>
              </a:r>
              <a:endParaRPr 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0" name="矩形 39"/>
          <p:cNvSpPr/>
          <p:nvPr/>
        </p:nvSpPr>
        <p:spPr>
          <a:xfrm>
            <a:off x="3459488" y="5178819"/>
            <a:ext cx="1828799" cy="378864"/>
          </a:xfrm>
          <a:prstGeom prst="rect">
            <a:avLst/>
          </a:prstGeom>
          <a:solidFill>
            <a:schemeClr val="tx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462020" y="5186045"/>
            <a:ext cx="18897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A19-</a:t>
            </a:r>
            <a:r>
              <a: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不秃头小队</a:t>
            </a:r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8" name="图片 27" descr="logo 竖版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9405" y="1154430"/>
            <a:ext cx="1232535" cy="1426845"/>
          </a:xfrm>
          <a:prstGeom prst="rect">
            <a:avLst/>
          </a:prstGeom>
        </p:spPr>
      </p:pic>
      <p:sp>
        <p:nvSpPr>
          <p:cNvPr id="32" name="矩形 31"/>
          <p:cNvSpPr/>
          <p:nvPr/>
        </p:nvSpPr>
        <p:spPr>
          <a:xfrm>
            <a:off x="6693535" y="5186045"/>
            <a:ext cx="2582545" cy="379095"/>
          </a:xfrm>
          <a:prstGeom prst="rect">
            <a:avLst/>
          </a:prstGeom>
          <a:solidFill>
            <a:schemeClr val="tx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546850" y="5213985"/>
            <a:ext cx="2857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指导老师：杨柳 聂绪海</a:t>
            </a:r>
            <a:endParaRPr lang="en-US" altLang="zh-CN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914299" y="54369"/>
            <a:ext cx="5806440" cy="1713376"/>
            <a:chOff x="2914299" y="54369"/>
            <a:chExt cx="5806440" cy="1713376"/>
          </a:xfrm>
        </p:grpSpPr>
        <p:pic>
          <p:nvPicPr>
            <p:cNvPr id="52" name="图片 51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4299" y="54369"/>
              <a:ext cx="5806440" cy="171337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4" name="TextBox 11"/>
            <p:cNvSpPr txBox="1"/>
            <p:nvPr/>
          </p:nvSpPr>
          <p:spPr>
            <a:xfrm>
              <a:off x="3702618" y="611489"/>
              <a:ext cx="3878396" cy="432057"/>
            </a:xfrm>
            <a:prstGeom prst="rect">
              <a:avLst/>
            </a:prstGeom>
            <a:noFill/>
          </p:spPr>
          <p:txBody>
            <a:bodyPr wrap="none" lIns="360000" tIns="0" rIns="0" bIns="0" anchor="b" anchorCtr="0">
              <a:normAutofit/>
            </a:bodyPr>
            <a:lstStyle/>
            <a:p>
              <a:pPr algn="dist"/>
              <a:r>
                <a:rPr lang="zh-CN" altLang="en-US" sz="2800" b="1" dirty="0">
                  <a:solidFill>
                    <a:srgbClr val="EB3F32"/>
                  </a:solidFill>
                  <a:latin typeface="Arial" panose="020B0604020202020204"/>
                  <a:ea typeface="微软雅黑" panose="020B0503020204020204" pitchFamily="34" charset="-122"/>
                  <a:sym typeface="Arial" panose="020B0604020202020204"/>
                </a:rPr>
                <a:t>背景介绍</a:t>
              </a:r>
              <a:endParaRPr lang="zh-CN" altLang="en-US" sz="2800" b="1" dirty="0">
                <a:solidFill>
                  <a:srgbClr val="EB3F32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702618" y="1702571"/>
            <a:ext cx="5806440" cy="1713376"/>
            <a:chOff x="3702618" y="1702571"/>
            <a:chExt cx="5806440" cy="1713376"/>
          </a:xfrm>
        </p:grpSpPr>
        <p:pic>
          <p:nvPicPr>
            <p:cNvPr id="54" name="图片 5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02618" y="1702571"/>
              <a:ext cx="5806440" cy="171337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7" name="TextBox 19"/>
            <p:cNvSpPr txBox="1"/>
            <p:nvPr/>
          </p:nvSpPr>
          <p:spPr>
            <a:xfrm>
              <a:off x="4525929" y="2224771"/>
              <a:ext cx="3962574" cy="454025"/>
            </a:xfrm>
            <a:prstGeom prst="rect">
              <a:avLst/>
            </a:prstGeom>
            <a:noFill/>
          </p:spPr>
          <p:txBody>
            <a:bodyPr wrap="none" lIns="360000" tIns="0" rIns="0" bIns="0" anchor="b" anchorCtr="0">
              <a:normAutofit/>
            </a:bodyPr>
            <a:lstStyle/>
            <a:p>
              <a:pPr algn="dist"/>
              <a:r>
                <a:rPr lang="zh-CN" altLang="en-US" sz="2800" b="1" dirty="0">
                  <a:solidFill>
                    <a:srgbClr val="FFC000"/>
                  </a:solidFill>
                  <a:latin typeface="Arial" panose="020B0604020202020204"/>
                  <a:ea typeface="微软雅黑" panose="020B0503020204020204" pitchFamily="34" charset="-122"/>
                  <a:sym typeface="Arial" panose="020B0604020202020204"/>
                </a:rPr>
                <a:t>方案设计</a:t>
              </a:r>
              <a:endParaRPr lang="zh-CN" altLang="en-US" sz="2800" b="1" dirty="0">
                <a:solidFill>
                  <a:srgbClr val="FFC000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4525929" y="3356868"/>
            <a:ext cx="5806440" cy="1713376"/>
            <a:chOff x="4525929" y="3356868"/>
            <a:chExt cx="5806440" cy="1713376"/>
          </a:xfrm>
        </p:grpSpPr>
        <p:pic>
          <p:nvPicPr>
            <p:cNvPr id="56" name="图片 5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25929" y="3356868"/>
              <a:ext cx="5806440" cy="171337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00" name="TextBox 26"/>
            <p:cNvSpPr txBox="1"/>
            <p:nvPr/>
          </p:nvSpPr>
          <p:spPr>
            <a:xfrm>
              <a:off x="5343351" y="3845500"/>
              <a:ext cx="3962574" cy="513904"/>
            </a:xfrm>
            <a:prstGeom prst="rect">
              <a:avLst/>
            </a:prstGeom>
            <a:noFill/>
          </p:spPr>
          <p:txBody>
            <a:bodyPr wrap="none" lIns="360000" tIns="0" rIns="0" bIns="0" anchor="b" anchorCtr="0">
              <a:normAutofit/>
            </a:bodyPr>
            <a:lstStyle/>
            <a:p>
              <a:pPr algn="dist"/>
              <a:r>
                <a:rPr lang="zh-CN" altLang="en-US" sz="2800" b="1" dirty="0">
                  <a:solidFill>
                    <a:srgbClr val="2AB7AE"/>
                  </a:solidFill>
                  <a:latin typeface="Arial" panose="020B0604020202020204"/>
                  <a:ea typeface="微软雅黑" panose="020B0503020204020204" pitchFamily="34" charset="-122"/>
                  <a:sym typeface="Arial" panose="020B0604020202020204"/>
                </a:rPr>
                <a:t>项目展示</a:t>
              </a:r>
              <a:endParaRPr lang="zh-CN" altLang="en-US" sz="2800" b="1" dirty="0">
                <a:solidFill>
                  <a:srgbClr val="2AB7AE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349240" y="5018429"/>
            <a:ext cx="5806440" cy="1713376"/>
            <a:chOff x="5349240" y="5018429"/>
            <a:chExt cx="5806440" cy="1713376"/>
          </a:xfrm>
        </p:grpSpPr>
        <p:pic>
          <p:nvPicPr>
            <p:cNvPr id="50" name="图片 4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49240" y="5018429"/>
              <a:ext cx="5806440" cy="171337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03" name="TextBox 33"/>
            <p:cNvSpPr txBox="1"/>
            <p:nvPr/>
          </p:nvSpPr>
          <p:spPr>
            <a:xfrm>
              <a:off x="6178760" y="5460353"/>
              <a:ext cx="3962574" cy="560612"/>
            </a:xfrm>
            <a:prstGeom prst="rect">
              <a:avLst/>
            </a:prstGeom>
            <a:noFill/>
          </p:spPr>
          <p:txBody>
            <a:bodyPr wrap="none" lIns="360000" tIns="0" rIns="0" bIns="0" anchor="b" anchorCtr="0">
              <a:normAutofit/>
            </a:bodyPr>
            <a:lstStyle/>
            <a:p>
              <a:pPr algn="dist"/>
              <a:r>
                <a:rPr lang="zh-CN" altLang="en-US" sz="2800" b="1" dirty="0">
                  <a:solidFill>
                    <a:srgbClr val="2D6B81"/>
                  </a:solidFill>
                  <a:latin typeface="Arial" panose="020B0604020202020204"/>
                  <a:ea typeface="微软雅黑" panose="020B0503020204020204" pitchFamily="34" charset="-122"/>
                  <a:sym typeface="Arial" panose="020B0604020202020204"/>
                </a:rPr>
                <a:t>团队介绍与系统特色</a:t>
              </a:r>
              <a:endParaRPr lang="zh-CN" altLang="en-US" sz="2800" b="1" dirty="0">
                <a:solidFill>
                  <a:srgbClr val="2D6B8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endParaRPr>
            </a:p>
          </p:txBody>
        </p:sp>
      </p:grpSp>
      <p:sp>
        <p:nvSpPr>
          <p:cNvPr id="78" name="文本框 55"/>
          <p:cNvSpPr>
            <a:spLocks noChangeArrowheads="1"/>
          </p:cNvSpPr>
          <p:nvPr/>
        </p:nvSpPr>
        <p:spPr bwMode="auto">
          <a:xfrm>
            <a:off x="407504" y="3727410"/>
            <a:ext cx="1188980" cy="307777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1400" b="1" dirty="0">
                <a:solidFill>
                  <a:schemeClr val="tx2">
                    <a:lumMod val="50000"/>
                  </a:schemeClr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CONTENTS</a:t>
            </a:r>
            <a:endParaRPr lang="zh-CN" altLang="en-US" sz="1400" b="1" dirty="0">
              <a:solidFill>
                <a:schemeClr val="tx2">
                  <a:lumMod val="50000"/>
                </a:schemeClr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79" name="文本框 83"/>
          <p:cNvSpPr>
            <a:spLocks noChangeArrowheads="1"/>
          </p:cNvSpPr>
          <p:nvPr/>
        </p:nvSpPr>
        <p:spPr bwMode="auto">
          <a:xfrm>
            <a:off x="1162235" y="2035161"/>
            <a:ext cx="1986441" cy="2800767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8800" b="1" dirty="0">
                <a:solidFill>
                  <a:schemeClr val="tx2">
                    <a:lumMod val="50000"/>
                  </a:schemeClr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目</a:t>
            </a:r>
            <a:endParaRPr lang="en-US" altLang="zh-CN" sz="8800" b="1" dirty="0">
              <a:solidFill>
                <a:schemeClr val="tx2">
                  <a:lumMod val="50000"/>
                </a:schemeClr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  <a:p>
            <a:r>
              <a:rPr lang="en-US" altLang="zh-CN" sz="8800" b="1" dirty="0">
                <a:solidFill>
                  <a:schemeClr val="tx2">
                    <a:lumMod val="50000"/>
                  </a:schemeClr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  </a:t>
            </a:r>
            <a:r>
              <a:rPr lang="zh-CN" altLang="en-US" sz="8800" b="1" dirty="0">
                <a:solidFill>
                  <a:schemeClr val="tx2">
                    <a:lumMod val="50000"/>
                  </a:schemeClr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录</a:t>
            </a:r>
            <a:endParaRPr lang="zh-CN" altLang="en-US" sz="4400" b="1" dirty="0">
              <a:solidFill>
                <a:schemeClr val="tx2">
                  <a:lumMod val="50000"/>
                </a:schemeClr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cxnSp>
        <p:nvCxnSpPr>
          <p:cNvPr id="60" name="直接连接符 59"/>
          <p:cNvCxnSpPr/>
          <p:nvPr/>
        </p:nvCxnSpPr>
        <p:spPr>
          <a:xfrm>
            <a:off x="2487402" y="2834559"/>
            <a:ext cx="953028" cy="0"/>
          </a:xfrm>
          <a:prstGeom prst="line">
            <a:avLst/>
          </a:prstGeom>
          <a:ln w="19050">
            <a:solidFill>
              <a:srgbClr val="3AB6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 flipH="1">
            <a:off x="445770" y="4168895"/>
            <a:ext cx="1108710" cy="0"/>
          </a:xfrm>
          <a:prstGeom prst="line">
            <a:avLst/>
          </a:prstGeom>
          <a:ln w="19050">
            <a:solidFill>
              <a:srgbClr val="3AB6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椭圆 1"/>
          <p:cNvSpPr/>
          <p:nvPr/>
        </p:nvSpPr>
        <p:spPr>
          <a:xfrm>
            <a:off x="-1308735" y="5233669"/>
            <a:ext cx="2260191" cy="2169806"/>
          </a:xfrm>
          <a:prstGeom prst="ellipse">
            <a:avLst/>
          </a:prstGeom>
          <a:solidFill>
            <a:srgbClr val="00A6B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" name="椭圆 2"/>
          <p:cNvSpPr/>
          <p:nvPr/>
        </p:nvSpPr>
        <p:spPr>
          <a:xfrm>
            <a:off x="951049" y="6359004"/>
            <a:ext cx="1088025" cy="1044515"/>
          </a:xfrm>
          <a:prstGeom prst="ellipse">
            <a:avLst/>
          </a:prstGeom>
          <a:solidFill>
            <a:srgbClr val="EF9802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829945" y="6079490"/>
            <a:ext cx="0" cy="0"/>
            <a:chOff x="1485900" y="6386287"/>
            <a:chExt cx="10537829" cy="0"/>
          </a:xfrm>
        </p:grpSpPr>
        <p:cxnSp>
          <p:nvCxnSpPr>
            <p:cNvPr id="28" name="直接连接符 27"/>
            <p:cNvCxnSpPr/>
            <p:nvPr/>
          </p:nvCxnSpPr>
          <p:spPr>
            <a:xfrm>
              <a:off x="1485900" y="6386287"/>
              <a:ext cx="319534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8369230" y="6386287"/>
              <a:ext cx="3654499" cy="0"/>
            </a:xfrm>
            <a:prstGeom prst="line">
              <a:avLst/>
            </a:prstGeom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椭圆 20"/>
          <p:cNvSpPr/>
          <p:nvPr/>
        </p:nvSpPr>
        <p:spPr>
          <a:xfrm>
            <a:off x="11162665" y="-685801"/>
            <a:ext cx="2260191" cy="2169806"/>
          </a:xfrm>
          <a:prstGeom prst="ellipse">
            <a:avLst/>
          </a:prstGeom>
          <a:solidFill>
            <a:srgbClr val="00A6B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10009324" y="-587261"/>
            <a:ext cx="1088025" cy="1044515"/>
          </a:xfrm>
          <a:prstGeom prst="ellipse">
            <a:avLst/>
          </a:prstGeom>
          <a:solidFill>
            <a:srgbClr val="EF9802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  <p:bldP spid="7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5"/>
          <p:cNvSpPr/>
          <p:nvPr/>
        </p:nvSpPr>
        <p:spPr>
          <a:xfrm>
            <a:off x="5376933" y="1016043"/>
            <a:ext cx="408404" cy="408404"/>
          </a:xfrm>
          <a:prstGeom prst="ellipse">
            <a:avLst/>
          </a:prstGeom>
          <a:solidFill>
            <a:srgbClr val="25B7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Oval 4"/>
          <p:cNvSpPr/>
          <p:nvPr/>
        </p:nvSpPr>
        <p:spPr>
          <a:xfrm>
            <a:off x="2124642" y="4413149"/>
            <a:ext cx="914400" cy="9144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Oval 6"/>
          <p:cNvSpPr/>
          <p:nvPr/>
        </p:nvSpPr>
        <p:spPr>
          <a:xfrm>
            <a:off x="6793206" y="5408114"/>
            <a:ext cx="766148" cy="766148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7" name="组合 79"/>
          <p:cNvGrpSpPr/>
          <p:nvPr/>
        </p:nvGrpSpPr>
        <p:grpSpPr bwMode="auto">
          <a:xfrm>
            <a:off x="1315085" y="1390015"/>
            <a:ext cx="4380230" cy="4389120"/>
            <a:chOff x="6379729" y="2488774"/>
            <a:chExt cx="2513016" cy="2513016"/>
          </a:xfrm>
        </p:grpSpPr>
        <p:sp>
          <p:nvSpPr>
            <p:cNvPr id="8" name="任意多边形 82"/>
            <p:cNvSpPr/>
            <p:nvPr/>
          </p:nvSpPr>
          <p:spPr>
            <a:xfrm rot="3738964">
              <a:off x="6379729" y="2488774"/>
              <a:ext cx="2513016" cy="2513016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gradFill flip="none" rotWithShape="1">
              <a:gsLst>
                <a:gs pos="17000">
                  <a:srgbClr val="FFFFFF"/>
                </a:gs>
                <a:gs pos="88000">
                  <a:srgbClr val="FFFFFF">
                    <a:lumMod val="72000"/>
                  </a:srgbClr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127000" dist="63500" dir="7380000" sx="102000" sy="102000" algn="tr" rotWithShape="0">
                <a:prstClr val="black">
                  <a:alpha val="39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endParaRPr>
            </a:p>
          </p:txBody>
        </p:sp>
        <p:sp>
          <p:nvSpPr>
            <p:cNvPr id="9" name="任意多边形 83"/>
            <p:cNvSpPr/>
            <p:nvPr/>
          </p:nvSpPr>
          <p:spPr>
            <a:xfrm rot="16377237">
              <a:off x="6409518" y="2506881"/>
              <a:ext cx="2476803" cy="2476800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gradFill flip="none" rotWithShape="1">
              <a:gsLst>
                <a:gs pos="29000">
                  <a:srgbClr val="FFFFFF"/>
                </a:gs>
                <a:gs pos="98000">
                  <a:srgbClr val="FFFFFF">
                    <a:lumMod val="75000"/>
                  </a:srgbClr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softEdge rad="0"/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" name="Oval 8"/>
          <p:cNvSpPr/>
          <p:nvPr/>
        </p:nvSpPr>
        <p:spPr>
          <a:xfrm>
            <a:off x="4443461" y="2207559"/>
            <a:ext cx="538550" cy="5385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Oval 9"/>
          <p:cNvSpPr/>
          <p:nvPr/>
        </p:nvSpPr>
        <p:spPr>
          <a:xfrm>
            <a:off x="2762438" y="1521713"/>
            <a:ext cx="553208" cy="55320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Oval 10"/>
          <p:cNvSpPr/>
          <p:nvPr/>
        </p:nvSpPr>
        <p:spPr>
          <a:xfrm>
            <a:off x="6905283" y="1181617"/>
            <a:ext cx="1373608" cy="1373608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b="1" dirty="0"/>
              <a:t>1</a:t>
            </a:r>
            <a:endParaRPr lang="en-US" sz="8000" b="1" dirty="0"/>
          </a:p>
        </p:txBody>
      </p:sp>
      <p:sp>
        <p:nvSpPr>
          <p:cNvPr id="13" name="Oval 11"/>
          <p:cNvSpPr/>
          <p:nvPr/>
        </p:nvSpPr>
        <p:spPr>
          <a:xfrm>
            <a:off x="3236132" y="419245"/>
            <a:ext cx="740105" cy="740105"/>
          </a:xfrm>
          <a:prstGeom prst="ellipse">
            <a:avLst/>
          </a:prstGeom>
          <a:solidFill>
            <a:srgbClr val="F6A5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Oval 12"/>
          <p:cNvSpPr/>
          <p:nvPr/>
        </p:nvSpPr>
        <p:spPr>
          <a:xfrm>
            <a:off x="3085546" y="5791188"/>
            <a:ext cx="230100" cy="230100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" name="Oval 13"/>
          <p:cNvSpPr/>
          <p:nvPr/>
        </p:nvSpPr>
        <p:spPr>
          <a:xfrm>
            <a:off x="587041" y="3007002"/>
            <a:ext cx="554270" cy="55427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6" name="Oval 14"/>
          <p:cNvSpPr/>
          <p:nvPr/>
        </p:nvSpPr>
        <p:spPr>
          <a:xfrm>
            <a:off x="6085604" y="3848143"/>
            <a:ext cx="472224" cy="472224"/>
          </a:xfrm>
          <a:prstGeom prst="ellipse">
            <a:avLst/>
          </a:prstGeom>
          <a:solidFill>
            <a:srgbClr val="F6A5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17" name="Group 31"/>
          <p:cNvGrpSpPr/>
          <p:nvPr/>
        </p:nvGrpSpPr>
        <p:grpSpPr>
          <a:xfrm>
            <a:off x="5055555" y="2297647"/>
            <a:ext cx="986490" cy="986490"/>
            <a:chOff x="5055555" y="2012177"/>
            <a:chExt cx="986490" cy="986490"/>
          </a:xfrm>
        </p:grpSpPr>
        <p:sp>
          <p:nvSpPr>
            <p:cNvPr id="18" name="Oval 32"/>
            <p:cNvSpPr/>
            <p:nvPr/>
          </p:nvSpPr>
          <p:spPr>
            <a:xfrm>
              <a:off x="5055555" y="2012177"/>
              <a:ext cx="986490" cy="98649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pic>
          <p:nvPicPr>
            <p:cNvPr id="19" name="Picture 3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15617" y="2133970"/>
              <a:ext cx="576050" cy="576050"/>
            </a:xfrm>
            <a:prstGeom prst="rect">
              <a:avLst/>
            </a:prstGeom>
          </p:spPr>
        </p:pic>
      </p:grpSp>
      <p:grpSp>
        <p:nvGrpSpPr>
          <p:cNvPr id="20" name="Group 34"/>
          <p:cNvGrpSpPr/>
          <p:nvPr/>
        </p:nvGrpSpPr>
        <p:grpSpPr>
          <a:xfrm>
            <a:off x="1332251" y="1424447"/>
            <a:ext cx="914400" cy="914400"/>
            <a:chOff x="1664298" y="1454017"/>
            <a:chExt cx="914400" cy="914400"/>
          </a:xfrm>
        </p:grpSpPr>
        <p:sp>
          <p:nvSpPr>
            <p:cNvPr id="21" name="Oval 35"/>
            <p:cNvSpPr/>
            <p:nvPr/>
          </p:nvSpPr>
          <p:spPr>
            <a:xfrm>
              <a:off x="1664298" y="1454017"/>
              <a:ext cx="914400" cy="914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pic>
          <p:nvPicPr>
            <p:cNvPr id="22" name="Picture 3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400" y="1543797"/>
              <a:ext cx="679285" cy="679285"/>
            </a:xfrm>
            <a:prstGeom prst="rect">
              <a:avLst/>
            </a:prstGeom>
          </p:spPr>
        </p:pic>
      </p:grpSp>
      <p:sp>
        <p:nvSpPr>
          <p:cNvPr id="23" name="Oval 6"/>
          <p:cNvSpPr/>
          <p:nvPr/>
        </p:nvSpPr>
        <p:spPr>
          <a:xfrm>
            <a:off x="8023147" y="5721444"/>
            <a:ext cx="268024" cy="268024"/>
          </a:xfrm>
          <a:prstGeom prst="ellipse">
            <a:avLst/>
          </a:prstGeom>
          <a:solidFill>
            <a:srgbClr val="25B7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" name="TextBox 12"/>
          <p:cNvSpPr txBox="1"/>
          <p:nvPr/>
        </p:nvSpPr>
        <p:spPr>
          <a:xfrm>
            <a:off x="7771267" y="2746109"/>
            <a:ext cx="242824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400" b="1" dirty="0">
                <a:solidFill>
                  <a:srgbClr val="595859"/>
                </a:solidFill>
                <a:latin typeface="+mj-lt"/>
              </a:rPr>
              <a:t>背景介绍</a:t>
            </a:r>
            <a:endParaRPr lang="en-US" sz="4400" b="1" dirty="0">
              <a:solidFill>
                <a:srgbClr val="595859"/>
              </a:solidFill>
              <a:latin typeface="+mj-lt"/>
            </a:endParaRPr>
          </a:p>
        </p:txBody>
      </p:sp>
      <p:pic>
        <p:nvPicPr>
          <p:cNvPr id="25" name="图片 24" descr="logo 竖版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3540" y="2764703"/>
            <a:ext cx="1523179" cy="17633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6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23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6" name="PA_任意多边形 8"/>
          <p:cNvSpPr/>
          <p:nvPr>
            <p:custDataLst>
              <p:tags r:id="rId1"/>
            </p:custDataLst>
          </p:nvPr>
        </p:nvSpPr>
        <p:spPr bwMode="auto">
          <a:xfrm>
            <a:off x="4647990" y="1972895"/>
            <a:ext cx="2330449" cy="1494828"/>
          </a:xfrm>
          <a:custGeom>
            <a:avLst/>
            <a:gdLst>
              <a:gd name="T0" fmla="*/ 74 w 466"/>
              <a:gd name="T1" fmla="*/ 299 h 299"/>
              <a:gd name="T2" fmla="*/ 394 w 466"/>
              <a:gd name="T3" fmla="*/ 299 h 299"/>
              <a:gd name="T4" fmla="*/ 466 w 466"/>
              <a:gd name="T5" fmla="*/ 215 h 299"/>
              <a:gd name="T6" fmla="*/ 388 w 466"/>
              <a:gd name="T7" fmla="*/ 152 h 299"/>
              <a:gd name="T8" fmla="*/ 308 w 466"/>
              <a:gd name="T9" fmla="*/ 24 h 299"/>
              <a:gd name="T10" fmla="*/ 166 w 466"/>
              <a:gd name="T11" fmla="*/ 98 h 299"/>
              <a:gd name="T12" fmla="*/ 108 w 466"/>
              <a:gd name="T13" fmla="*/ 86 h 299"/>
              <a:gd name="T14" fmla="*/ 83 w 466"/>
              <a:gd name="T15" fmla="*/ 135 h 299"/>
              <a:gd name="T16" fmla="*/ 12 w 466"/>
              <a:gd name="T17" fmla="*/ 202 h 299"/>
              <a:gd name="T18" fmla="*/ 74 w 466"/>
              <a:gd name="T19" fmla="*/ 299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66" h="299">
                <a:moveTo>
                  <a:pt x="74" y="299"/>
                </a:moveTo>
                <a:cubicBezTo>
                  <a:pt x="124" y="299"/>
                  <a:pt x="353" y="299"/>
                  <a:pt x="394" y="299"/>
                </a:cubicBezTo>
                <a:cubicBezTo>
                  <a:pt x="436" y="299"/>
                  <a:pt x="466" y="276"/>
                  <a:pt x="466" y="215"/>
                </a:cubicBezTo>
                <a:cubicBezTo>
                  <a:pt x="466" y="153"/>
                  <a:pt x="408" y="136"/>
                  <a:pt x="388" y="152"/>
                </a:cubicBezTo>
                <a:cubicBezTo>
                  <a:pt x="388" y="152"/>
                  <a:pt x="400" y="48"/>
                  <a:pt x="308" y="24"/>
                </a:cubicBezTo>
                <a:cubicBezTo>
                  <a:pt x="215" y="0"/>
                  <a:pt x="172" y="78"/>
                  <a:pt x="166" y="98"/>
                </a:cubicBezTo>
                <a:cubicBezTo>
                  <a:pt x="166" y="98"/>
                  <a:pt x="145" y="69"/>
                  <a:pt x="108" y="86"/>
                </a:cubicBezTo>
                <a:cubicBezTo>
                  <a:pt x="74" y="101"/>
                  <a:pt x="83" y="135"/>
                  <a:pt x="83" y="135"/>
                </a:cubicBezTo>
                <a:cubicBezTo>
                  <a:pt x="83" y="135"/>
                  <a:pt x="24" y="146"/>
                  <a:pt x="12" y="202"/>
                </a:cubicBezTo>
                <a:cubicBezTo>
                  <a:pt x="0" y="260"/>
                  <a:pt x="37" y="299"/>
                  <a:pt x="74" y="29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pPr defTabSz="1219200"/>
            <a:endParaRPr lang="zh-CN" altLang="en-US" sz="2400">
              <a:solidFill>
                <a:srgbClr val="333333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2546" name="PA_任意多边形 18"/>
          <p:cNvSpPr/>
          <p:nvPr>
            <p:custDataLst>
              <p:tags r:id="rId2"/>
            </p:custDataLst>
          </p:nvPr>
        </p:nvSpPr>
        <p:spPr bwMode="auto">
          <a:xfrm>
            <a:off x="4402879" y="4987793"/>
            <a:ext cx="609600" cy="391705"/>
          </a:xfrm>
          <a:custGeom>
            <a:avLst/>
            <a:gdLst>
              <a:gd name="T0" fmla="*/ 19 w 122"/>
              <a:gd name="T1" fmla="*/ 78 h 78"/>
              <a:gd name="T2" fmla="*/ 103 w 122"/>
              <a:gd name="T3" fmla="*/ 78 h 78"/>
              <a:gd name="T4" fmla="*/ 122 w 122"/>
              <a:gd name="T5" fmla="*/ 56 h 78"/>
              <a:gd name="T6" fmla="*/ 102 w 122"/>
              <a:gd name="T7" fmla="*/ 39 h 78"/>
              <a:gd name="T8" fmla="*/ 81 w 122"/>
              <a:gd name="T9" fmla="*/ 6 h 78"/>
              <a:gd name="T10" fmla="*/ 43 w 122"/>
              <a:gd name="T11" fmla="*/ 25 h 78"/>
              <a:gd name="T12" fmla="*/ 28 w 122"/>
              <a:gd name="T13" fmla="*/ 22 h 78"/>
              <a:gd name="T14" fmla="*/ 22 w 122"/>
              <a:gd name="T15" fmla="*/ 35 h 78"/>
              <a:gd name="T16" fmla="*/ 3 w 122"/>
              <a:gd name="T17" fmla="*/ 53 h 78"/>
              <a:gd name="T18" fmla="*/ 19 w 122"/>
              <a:gd name="T19" fmla="*/ 78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2" h="78">
                <a:moveTo>
                  <a:pt x="19" y="78"/>
                </a:moveTo>
                <a:cubicBezTo>
                  <a:pt x="33" y="78"/>
                  <a:pt x="92" y="78"/>
                  <a:pt x="103" y="78"/>
                </a:cubicBezTo>
                <a:cubicBezTo>
                  <a:pt x="114" y="78"/>
                  <a:pt x="122" y="72"/>
                  <a:pt x="122" y="56"/>
                </a:cubicBezTo>
                <a:cubicBezTo>
                  <a:pt x="122" y="40"/>
                  <a:pt x="107" y="35"/>
                  <a:pt x="102" y="39"/>
                </a:cubicBezTo>
                <a:cubicBezTo>
                  <a:pt x="102" y="39"/>
                  <a:pt x="105" y="12"/>
                  <a:pt x="81" y="6"/>
                </a:cubicBezTo>
                <a:cubicBezTo>
                  <a:pt x="56" y="0"/>
                  <a:pt x="45" y="20"/>
                  <a:pt x="43" y="25"/>
                </a:cubicBezTo>
                <a:cubicBezTo>
                  <a:pt x="43" y="25"/>
                  <a:pt x="38" y="18"/>
                  <a:pt x="28" y="22"/>
                </a:cubicBezTo>
                <a:cubicBezTo>
                  <a:pt x="19" y="26"/>
                  <a:pt x="22" y="35"/>
                  <a:pt x="22" y="35"/>
                </a:cubicBezTo>
                <a:cubicBezTo>
                  <a:pt x="22" y="35"/>
                  <a:pt x="6" y="38"/>
                  <a:pt x="3" y="53"/>
                </a:cubicBezTo>
                <a:cubicBezTo>
                  <a:pt x="0" y="68"/>
                  <a:pt x="10" y="78"/>
                  <a:pt x="19" y="7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/>
          <a:lstStyle/>
          <a:p>
            <a:pPr defTabSz="1219200"/>
            <a:endParaRPr lang="zh-CN" altLang="en-US" sz="2400">
              <a:solidFill>
                <a:srgbClr val="333333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2553" name="PA_任意多边形 25"/>
          <p:cNvSpPr/>
          <p:nvPr>
            <p:custDataLst>
              <p:tags r:id="rId3"/>
            </p:custDataLst>
          </p:nvPr>
        </p:nvSpPr>
        <p:spPr bwMode="auto">
          <a:xfrm>
            <a:off x="3583230" y="4143614"/>
            <a:ext cx="810123" cy="459462"/>
          </a:xfrm>
          <a:custGeom>
            <a:avLst/>
            <a:gdLst>
              <a:gd name="T0" fmla="*/ 17 w 105"/>
              <a:gd name="T1" fmla="*/ 68 h 68"/>
              <a:gd name="T2" fmla="*/ 89 w 105"/>
              <a:gd name="T3" fmla="*/ 68 h 68"/>
              <a:gd name="T4" fmla="*/ 105 w 105"/>
              <a:gd name="T5" fmla="*/ 49 h 68"/>
              <a:gd name="T6" fmla="*/ 87 w 105"/>
              <a:gd name="T7" fmla="*/ 35 h 68"/>
              <a:gd name="T8" fmla="*/ 69 w 105"/>
              <a:gd name="T9" fmla="*/ 6 h 68"/>
              <a:gd name="T10" fmla="*/ 37 w 105"/>
              <a:gd name="T11" fmla="*/ 23 h 68"/>
              <a:gd name="T12" fmla="*/ 24 w 105"/>
              <a:gd name="T13" fmla="*/ 20 h 68"/>
              <a:gd name="T14" fmla="*/ 19 w 105"/>
              <a:gd name="T15" fmla="*/ 31 h 68"/>
              <a:gd name="T16" fmla="*/ 3 w 105"/>
              <a:gd name="T17" fmla="*/ 46 h 68"/>
              <a:gd name="T18" fmla="*/ 17 w 105"/>
              <a:gd name="T19" fmla="*/ 68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05" h="68">
                <a:moveTo>
                  <a:pt x="17" y="68"/>
                </a:moveTo>
                <a:cubicBezTo>
                  <a:pt x="28" y="68"/>
                  <a:pt x="79" y="68"/>
                  <a:pt x="89" y="68"/>
                </a:cubicBezTo>
                <a:cubicBezTo>
                  <a:pt x="98" y="68"/>
                  <a:pt x="105" y="63"/>
                  <a:pt x="105" y="49"/>
                </a:cubicBezTo>
                <a:cubicBezTo>
                  <a:pt x="105" y="35"/>
                  <a:pt x="92" y="31"/>
                  <a:pt x="87" y="35"/>
                </a:cubicBezTo>
                <a:cubicBezTo>
                  <a:pt x="87" y="35"/>
                  <a:pt x="90" y="11"/>
                  <a:pt x="69" y="6"/>
                </a:cubicBezTo>
                <a:cubicBezTo>
                  <a:pt x="48" y="0"/>
                  <a:pt x="39" y="18"/>
                  <a:pt x="37" y="23"/>
                </a:cubicBezTo>
                <a:cubicBezTo>
                  <a:pt x="37" y="23"/>
                  <a:pt x="33" y="16"/>
                  <a:pt x="24" y="20"/>
                </a:cubicBezTo>
                <a:cubicBezTo>
                  <a:pt x="17" y="23"/>
                  <a:pt x="19" y="31"/>
                  <a:pt x="19" y="31"/>
                </a:cubicBezTo>
                <a:cubicBezTo>
                  <a:pt x="19" y="31"/>
                  <a:pt x="5" y="33"/>
                  <a:pt x="3" y="46"/>
                </a:cubicBezTo>
                <a:cubicBezTo>
                  <a:pt x="0" y="59"/>
                  <a:pt x="8" y="68"/>
                  <a:pt x="17" y="6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/>
          <a:lstStyle/>
          <a:p>
            <a:pPr defTabSz="1219200"/>
            <a:endParaRPr lang="zh-CN" altLang="en-US" sz="2400">
              <a:solidFill>
                <a:srgbClr val="333333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111986" y="1096432"/>
            <a:ext cx="10175773" cy="75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互联网在经济发展中正扮演着越来越重要的角色，政府也在积极引导着共享经济理念的健康发展。</a:t>
            </a:r>
            <a:endParaRPr lang="zh-CN" altLang="en-US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共享经济以其“共同拥有而不是占有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的理念，将闲置资源进行合理配置并力求价值最大化。</a:t>
            </a:r>
            <a:endParaRPr lang="zh-CN" altLang="en-US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123108" y="2018519"/>
            <a:ext cx="1460410" cy="931019"/>
            <a:chOff x="2123108" y="2018519"/>
            <a:chExt cx="1460410" cy="931019"/>
          </a:xfrm>
        </p:grpSpPr>
        <p:sp>
          <p:nvSpPr>
            <p:cNvPr id="22541" name="PA_任意多边形 13"/>
            <p:cNvSpPr/>
            <p:nvPr>
              <p:custDataLst>
                <p:tags r:id="rId4"/>
              </p:custDataLst>
            </p:nvPr>
          </p:nvSpPr>
          <p:spPr bwMode="auto">
            <a:xfrm>
              <a:off x="2123108" y="2018519"/>
              <a:ext cx="1460410" cy="931019"/>
            </a:xfrm>
            <a:custGeom>
              <a:avLst/>
              <a:gdLst>
                <a:gd name="T0" fmla="*/ 13 w 82"/>
                <a:gd name="T1" fmla="*/ 52 h 52"/>
                <a:gd name="T2" fmla="*/ 69 w 82"/>
                <a:gd name="T3" fmla="*/ 52 h 52"/>
                <a:gd name="T4" fmla="*/ 82 w 82"/>
                <a:gd name="T5" fmla="*/ 38 h 52"/>
                <a:gd name="T6" fmla="*/ 68 w 82"/>
                <a:gd name="T7" fmla="*/ 27 h 52"/>
                <a:gd name="T8" fmla="*/ 54 w 82"/>
                <a:gd name="T9" fmla="*/ 4 h 52"/>
                <a:gd name="T10" fmla="*/ 29 w 82"/>
                <a:gd name="T11" fmla="*/ 17 h 52"/>
                <a:gd name="T12" fmla="*/ 19 w 82"/>
                <a:gd name="T13" fmla="*/ 15 h 52"/>
                <a:gd name="T14" fmla="*/ 14 w 82"/>
                <a:gd name="T15" fmla="*/ 24 h 52"/>
                <a:gd name="T16" fmla="*/ 2 w 82"/>
                <a:gd name="T17" fmla="*/ 35 h 52"/>
                <a:gd name="T18" fmla="*/ 13 w 82"/>
                <a:gd name="T1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2" h="52">
                  <a:moveTo>
                    <a:pt x="13" y="52"/>
                  </a:moveTo>
                  <a:cubicBezTo>
                    <a:pt x="22" y="52"/>
                    <a:pt x="62" y="52"/>
                    <a:pt x="69" y="52"/>
                  </a:cubicBezTo>
                  <a:cubicBezTo>
                    <a:pt x="76" y="52"/>
                    <a:pt x="82" y="48"/>
                    <a:pt x="82" y="38"/>
                  </a:cubicBezTo>
                  <a:cubicBezTo>
                    <a:pt x="82" y="27"/>
                    <a:pt x="71" y="24"/>
                    <a:pt x="68" y="27"/>
                  </a:cubicBezTo>
                  <a:cubicBezTo>
                    <a:pt x="68" y="27"/>
                    <a:pt x="70" y="8"/>
                    <a:pt x="54" y="4"/>
                  </a:cubicBezTo>
                  <a:cubicBezTo>
                    <a:pt x="38" y="0"/>
                    <a:pt x="30" y="14"/>
                    <a:pt x="29" y="17"/>
                  </a:cubicBezTo>
                  <a:cubicBezTo>
                    <a:pt x="29" y="17"/>
                    <a:pt x="25" y="12"/>
                    <a:pt x="19" y="15"/>
                  </a:cubicBezTo>
                  <a:cubicBezTo>
                    <a:pt x="13" y="18"/>
                    <a:pt x="14" y="24"/>
                    <a:pt x="14" y="24"/>
                  </a:cubicBezTo>
                  <a:cubicBezTo>
                    <a:pt x="14" y="24"/>
                    <a:pt x="4" y="25"/>
                    <a:pt x="2" y="35"/>
                  </a:cubicBezTo>
                  <a:cubicBezTo>
                    <a:pt x="0" y="46"/>
                    <a:pt x="6" y="52"/>
                    <a:pt x="13" y="5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 defTabSz="1219200"/>
              <a:endParaRPr lang="zh-CN" altLang="en-US" sz="2400">
                <a:solidFill>
                  <a:srgbClr val="333333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2255688" y="2392365"/>
              <a:ext cx="1195541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chemeClr val="bg1"/>
                  </a:solidFill>
                </a:rPr>
                <a:t>大数据</a:t>
              </a:r>
              <a:endParaRPr lang="zh-CN" altLang="en-US" sz="24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203013" y="3512943"/>
            <a:ext cx="2158415" cy="1090050"/>
            <a:chOff x="1203013" y="3512943"/>
            <a:chExt cx="2158415" cy="1090050"/>
          </a:xfrm>
        </p:grpSpPr>
        <p:sp>
          <p:nvSpPr>
            <p:cNvPr id="22542" name="PA_任意多边形 14"/>
            <p:cNvSpPr/>
            <p:nvPr>
              <p:custDataLst>
                <p:tags r:id="rId5"/>
              </p:custDataLst>
            </p:nvPr>
          </p:nvSpPr>
          <p:spPr bwMode="auto">
            <a:xfrm>
              <a:off x="1203013" y="3512943"/>
              <a:ext cx="1718730" cy="1090050"/>
            </a:xfrm>
            <a:custGeom>
              <a:avLst/>
              <a:gdLst>
                <a:gd name="T0" fmla="*/ 13 w 82"/>
                <a:gd name="T1" fmla="*/ 52 h 52"/>
                <a:gd name="T2" fmla="*/ 69 w 82"/>
                <a:gd name="T3" fmla="*/ 52 h 52"/>
                <a:gd name="T4" fmla="*/ 82 w 82"/>
                <a:gd name="T5" fmla="*/ 37 h 52"/>
                <a:gd name="T6" fmla="*/ 68 w 82"/>
                <a:gd name="T7" fmla="*/ 26 h 52"/>
                <a:gd name="T8" fmla="*/ 54 w 82"/>
                <a:gd name="T9" fmla="*/ 4 h 52"/>
                <a:gd name="T10" fmla="*/ 29 w 82"/>
                <a:gd name="T11" fmla="*/ 17 h 52"/>
                <a:gd name="T12" fmla="*/ 19 w 82"/>
                <a:gd name="T13" fmla="*/ 15 h 52"/>
                <a:gd name="T14" fmla="*/ 14 w 82"/>
                <a:gd name="T15" fmla="*/ 23 h 52"/>
                <a:gd name="T16" fmla="*/ 2 w 82"/>
                <a:gd name="T17" fmla="*/ 35 h 52"/>
                <a:gd name="T18" fmla="*/ 13 w 82"/>
                <a:gd name="T1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2" h="52">
                  <a:moveTo>
                    <a:pt x="13" y="52"/>
                  </a:moveTo>
                  <a:cubicBezTo>
                    <a:pt x="22" y="52"/>
                    <a:pt x="62" y="52"/>
                    <a:pt x="69" y="52"/>
                  </a:cubicBezTo>
                  <a:cubicBezTo>
                    <a:pt x="76" y="52"/>
                    <a:pt x="82" y="48"/>
                    <a:pt x="82" y="37"/>
                  </a:cubicBezTo>
                  <a:cubicBezTo>
                    <a:pt x="82" y="26"/>
                    <a:pt x="71" y="23"/>
                    <a:pt x="68" y="26"/>
                  </a:cubicBezTo>
                  <a:cubicBezTo>
                    <a:pt x="68" y="26"/>
                    <a:pt x="70" y="8"/>
                    <a:pt x="54" y="4"/>
                  </a:cubicBezTo>
                  <a:cubicBezTo>
                    <a:pt x="38" y="0"/>
                    <a:pt x="30" y="13"/>
                    <a:pt x="29" y="17"/>
                  </a:cubicBezTo>
                  <a:cubicBezTo>
                    <a:pt x="29" y="17"/>
                    <a:pt x="25" y="12"/>
                    <a:pt x="19" y="15"/>
                  </a:cubicBezTo>
                  <a:cubicBezTo>
                    <a:pt x="13" y="17"/>
                    <a:pt x="14" y="23"/>
                    <a:pt x="14" y="23"/>
                  </a:cubicBezTo>
                  <a:cubicBezTo>
                    <a:pt x="14" y="23"/>
                    <a:pt x="4" y="25"/>
                    <a:pt x="2" y="35"/>
                  </a:cubicBezTo>
                  <a:cubicBezTo>
                    <a:pt x="0" y="45"/>
                    <a:pt x="6" y="52"/>
                    <a:pt x="13" y="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defTabSz="1219200"/>
              <a:endParaRPr lang="zh-CN" altLang="en-US" sz="2400">
                <a:solidFill>
                  <a:srgbClr val="333333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1412934" y="3992262"/>
              <a:ext cx="1948494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chemeClr val="bg1"/>
                  </a:solidFill>
                </a:rPr>
                <a:t>汽车共享</a:t>
              </a:r>
              <a:endParaRPr lang="zh-CN" altLang="en-US" sz="24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921894" y="2735834"/>
            <a:ext cx="1765300" cy="1134884"/>
            <a:chOff x="3802639" y="2159254"/>
            <a:chExt cx="1765300" cy="1134884"/>
          </a:xfrm>
        </p:grpSpPr>
        <p:sp>
          <p:nvSpPr>
            <p:cNvPr id="22537" name="PA_任意多边形 9"/>
            <p:cNvSpPr/>
            <p:nvPr>
              <p:custDataLst>
                <p:tags r:id="rId6"/>
              </p:custDataLst>
            </p:nvPr>
          </p:nvSpPr>
          <p:spPr bwMode="auto">
            <a:xfrm>
              <a:off x="3802639" y="2159254"/>
              <a:ext cx="1765300" cy="1134884"/>
            </a:xfrm>
            <a:custGeom>
              <a:avLst/>
              <a:gdLst>
                <a:gd name="T0" fmla="*/ 56 w 353"/>
                <a:gd name="T1" fmla="*/ 227 h 227"/>
                <a:gd name="T2" fmla="*/ 299 w 353"/>
                <a:gd name="T3" fmla="*/ 227 h 227"/>
                <a:gd name="T4" fmla="*/ 353 w 353"/>
                <a:gd name="T5" fmla="*/ 163 h 227"/>
                <a:gd name="T6" fmla="*/ 294 w 353"/>
                <a:gd name="T7" fmla="*/ 115 h 227"/>
                <a:gd name="T8" fmla="*/ 233 w 353"/>
                <a:gd name="T9" fmla="*/ 19 h 227"/>
                <a:gd name="T10" fmla="*/ 125 w 353"/>
                <a:gd name="T11" fmla="*/ 75 h 227"/>
                <a:gd name="T12" fmla="*/ 82 w 353"/>
                <a:gd name="T13" fmla="*/ 65 h 227"/>
                <a:gd name="T14" fmla="*/ 62 w 353"/>
                <a:gd name="T15" fmla="*/ 103 h 227"/>
                <a:gd name="T16" fmla="*/ 9 w 353"/>
                <a:gd name="T17" fmla="*/ 154 h 227"/>
                <a:gd name="T18" fmla="*/ 56 w 353"/>
                <a:gd name="T19" fmla="*/ 227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3" h="227">
                  <a:moveTo>
                    <a:pt x="56" y="227"/>
                  </a:moveTo>
                  <a:cubicBezTo>
                    <a:pt x="94" y="227"/>
                    <a:pt x="267" y="227"/>
                    <a:pt x="299" y="227"/>
                  </a:cubicBezTo>
                  <a:cubicBezTo>
                    <a:pt x="330" y="227"/>
                    <a:pt x="353" y="210"/>
                    <a:pt x="353" y="163"/>
                  </a:cubicBezTo>
                  <a:cubicBezTo>
                    <a:pt x="353" y="116"/>
                    <a:pt x="309" y="104"/>
                    <a:pt x="294" y="115"/>
                  </a:cubicBezTo>
                  <a:cubicBezTo>
                    <a:pt x="294" y="115"/>
                    <a:pt x="303" y="37"/>
                    <a:pt x="233" y="19"/>
                  </a:cubicBezTo>
                  <a:cubicBezTo>
                    <a:pt x="163" y="0"/>
                    <a:pt x="130" y="60"/>
                    <a:pt x="125" y="75"/>
                  </a:cubicBezTo>
                  <a:cubicBezTo>
                    <a:pt x="125" y="75"/>
                    <a:pt x="110" y="53"/>
                    <a:pt x="82" y="65"/>
                  </a:cubicBezTo>
                  <a:cubicBezTo>
                    <a:pt x="56" y="77"/>
                    <a:pt x="62" y="103"/>
                    <a:pt x="62" y="103"/>
                  </a:cubicBezTo>
                  <a:cubicBezTo>
                    <a:pt x="62" y="103"/>
                    <a:pt x="18" y="111"/>
                    <a:pt x="9" y="154"/>
                  </a:cubicBezTo>
                  <a:cubicBezTo>
                    <a:pt x="0" y="198"/>
                    <a:pt x="28" y="227"/>
                    <a:pt x="56" y="22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pPr defTabSz="1219200"/>
              <a:endParaRPr lang="zh-CN" altLang="en-US" sz="2400">
                <a:solidFill>
                  <a:srgbClr val="333333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3965199" y="2765044"/>
              <a:ext cx="156210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>
                  <a:solidFill>
                    <a:schemeClr val="bg1"/>
                  </a:solidFill>
                </a:rPr>
                <a:t>循环经济</a:t>
              </a:r>
              <a:endParaRPr lang="zh-CN" altLang="en-US" sz="24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6978653" y="2425209"/>
            <a:ext cx="2009775" cy="1134884"/>
            <a:chOff x="6978653" y="2521729"/>
            <a:chExt cx="2009775" cy="1134884"/>
          </a:xfrm>
        </p:grpSpPr>
        <p:sp>
          <p:nvSpPr>
            <p:cNvPr id="22539" name="PA_任意多边形 11"/>
            <p:cNvSpPr/>
            <p:nvPr>
              <p:custDataLst>
                <p:tags r:id="rId7"/>
              </p:custDataLst>
            </p:nvPr>
          </p:nvSpPr>
          <p:spPr bwMode="auto">
            <a:xfrm>
              <a:off x="6978653" y="2521729"/>
              <a:ext cx="1765300" cy="1134884"/>
            </a:xfrm>
            <a:custGeom>
              <a:avLst/>
              <a:gdLst>
                <a:gd name="T0" fmla="*/ 56 w 353"/>
                <a:gd name="T1" fmla="*/ 227 h 227"/>
                <a:gd name="T2" fmla="*/ 299 w 353"/>
                <a:gd name="T3" fmla="*/ 227 h 227"/>
                <a:gd name="T4" fmla="*/ 353 w 353"/>
                <a:gd name="T5" fmla="*/ 163 h 227"/>
                <a:gd name="T6" fmla="*/ 294 w 353"/>
                <a:gd name="T7" fmla="*/ 115 h 227"/>
                <a:gd name="T8" fmla="*/ 233 w 353"/>
                <a:gd name="T9" fmla="*/ 18 h 227"/>
                <a:gd name="T10" fmla="*/ 125 w 353"/>
                <a:gd name="T11" fmla="*/ 74 h 227"/>
                <a:gd name="T12" fmla="*/ 82 w 353"/>
                <a:gd name="T13" fmla="*/ 65 h 227"/>
                <a:gd name="T14" fmla="*/ 62 w 353"/>
                <a:gd name="T15" fmla="*/ 103 h 227"/>
                <a:gd name="T16" fmla="*/ 9 w 353"/>
                <a:gd name="T17" fmla="*/ 153 h 227"/>
                <a:gd name="T18" fmla="*/ 56 w 353"/>
                <a:gd name="T19" fmla="*/ 227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3" h="227">
                  <a:moveTo>
                    <a:pt x="56" y="227"/>
                  </a:moveTo>
                  <a:cubicBezTo>
                    <a:pt x="94" y="227"/>
                    <a:pt x="267" y="227"/>
                    <a:pt x="299" y="227"/>
                  </a:cubicBezTo>
                  <a:cubicBezTo>
                    <a:pt x="330" y="227"/>
                    <a:pt x="353" y="210"/>
                    <a:pt x="353" y="163"/>
                  </a:cubicBezTo>
                  <a:cubicBezTo>
                    <a:pt x="353" y="116"/>
                    <a:pt x="309" y="104"/>
                    <a:pt x="294" y="115"/>
                  </a:cubicBezTo>
                  <a:cubicBezTo>
                    <a:pt x="294" y="115"/>
                    <a:pt x="303" y="37"/>
                    <a:pt x="233" y="18"/>
                  </a:cubicBezTo>
                  <a:cubicBezTo>
                    <a:pt x="163" y="0"/>
                    <a:pt x="130" y="59"/>
                    <a:pt x="125" y="74"/>
                  </a:cubicBezTo>
                  <a:cubicBezTo>
                    <a:pt x="125" y="74"/>
                    <a:pt x="110" y="53"/>
                    <a:pt x="82" y="65"/>
                  </a:cubicBezTo>
                  <a:cubicBezTo>
                    <a:pt x="56" y="77"/>
                    <a:pt x="62" y="103"/>
                    <a:pt x="62" y="103"/>
                  </a:cubicBezTo>
                  <a:cubicBezTo>
                    <a:pt x="62" y="103"/>
                    <a:pt x="18" y="111"/>
                    <a:pt x="9" y="153"/>
                  </a:cubicBezTo>
                  <a:cubicBezTo>
                    <a:pt x="0" y="198"/>
                    <a:pt x="28" y="227"/>
                    <a:pt x="56" y="2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/>
            <a:lstStyle/>
            <a:p>
              <a:pPr defTabSz="1219200"/>
              <a:endParaRPr lang="zh-CN" altLang="en-US" sz="2400">
                <a:solidFill>
                  <a:srgbClr val="333333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137403" y="3104024"/>
              <a:ext cx="1851025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chemeClr val="bg1"/>
                  </a:solidFill>
                </a:rPr>
                <a:t>房屋共享</a:t>
              </a:r>
              <a:endParaRPr lang="zh-CN" altLang="en-US" sz="24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9299386" y="1816792"/>
            <a:ext cx="2125980" cy="1300282"/>
            <a:chOff x="9299386" y="1816792"/>
            <a:chExt cx="2125980" cy="1300282"/>
          </a:xfrm>
        </p:grpSpPr>
        <p:sp>
          <p:nvSpPr>
            <p:cNvPr id="22540" name="PA_任意多边形 12"/>
            <p:cNvSpPr/>
            <p:nvPr>
              <p:custDataLst>
                <p:tags r:id="rId8"/>
              </p:custDataLst>
            </p:nvPr>
          </p:nvSpPr>
          <p:spPr bwMode="auto">
            <a:xfrm>
              <a:off x="9299386" y="1816792"/>
              <a:ext cx="2086069" cy="1300282"/>
            </a:xfrm>
            <a:custGeom>
              <a:avLst/>
              <a:gdLst>
                <a:gd name="T0" fmla="*/ 22 w 138"/>
                <a:gd name="T1" fmla="*/ 89 h 89"/>
                <a:gd name="T2" fmla="*/ 117 w 138"/>
                <a:gd name="T3" fmla="*/ 89 h 89"/>
                <a:gd name="T4" fmla="*/ 138 w 138"/>
                <a:gd name="T5" fmla="*/ 64 h 89"/>
                <a:gd name="T6" fmla="*/ 115 w 138"/>
                <a:gd name="T7" fmla="*/ 45 h 89"/>
                <a:gd name="T8" fmla="*/ 91 w 138"/>
                <a:gd name="T9" fmla="*/ 7 h 89"/>
                <a:gd name="T10" fmla="*/ 49 w 138"/>
                <a:gd name="T11" fmla="*/ 29 h 89"/>
                <a:gd name="T12" fmla="*/ 32 w 138"/>
                <a:gd name="T13" fmla="*/ 25 h 89"/>
                <a:gd name="T14" fmla="*/ 24 w 138"/>
                <a:gd name="T15" fmla="*/ 40 h 89"/>
                <a:gd name="T16" fmla="*/ 3 w 138"/>
                <a:gd name="T17" fmla="*/ 60 h 89"/>
                <a:gd name="T18" fmla="*/ 22 w 138"/>
                <a:gd name="T19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8" h="89">
                  <a:moveTo>
                    <a:pt x="22" y="89"/>
                  </a:moveTo>
                  <a:cubicBezTo>
                    <a:pt x="37" y="89"/>
                    <a:pt x="105" y="89"/>
                    <a:pt x="117" y="89"/>
                  </a:cubicBezTo>
                  <a:cubicBezTo>
                    <a:pt x="129" y="89"/>
                    <a:pt x="138" y="82"/>
                    <a:pt x="138" y="64"/>
                  </a:cubicBezTo>
                  <a:cubicBezTo>
                    <a:pt x="138" y="45"/>
                    <a:pt x="121" y="40"/>
                    <a:pt x="115" y="45"/>
                  </a:cubicBezTo>
                  <a:cubicBezTo>
                    <a:pt x="115" y="45"/>
                    <a:pt x="119" y="14"/>
                    <a:pt x="91" y="7"/>
                  </a:cubicBezTo>
                  <a:cubicBezTo>
                    <a:pt x="64" y="0"/>
                    <a:pt x="51" y="23"/>
                    <a:pt x="49" y="29"/>
                  </a:cubicBezTo>
                  <a:cubicBezTo>
                    <a:pt x="49" y="29"/>
                    <a:pt x="43" y="20"/>
                    <a:pt x="32" y="25"/>
                  </a:cubicBezTo>
                  <a:cubicBezTo>
                    <a:pt x="22" y="30"/>
                    <a:pt x="24" y="40"/>
                    <a:pt x="24" y="40"/>
                  </a:cubicBezTo>
                  <a:cubicBezTo>
                    <a:pt x="24" y="40"/>
                    <a:pt x="7" y="43"/>
                    <a:pt x="3" y="60"/>
                  </a:cubicBezTo>
                  <a:cubicBezTo>
                    <a:pt x="0" y="77"/>
                    <a:pt x="11" y="89"/>
                    <a:pt x="22" y="8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pPr defTabSz="1219200"/>
              <a:endParaRPr lang="zh-CN" altLang="en-US" sz="2400">
                <a:solidFill>
                  <a:srgbClr val="333333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9386381" y="2547042"/>
              <a:ext cx="2038985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chemeClr val="bg1"/>
                  </a:solidFill>
                </a:rPr>
                <a:t>昂贵设备租赁</a:t>
              </a:r>
              <a:endParaRPr lang="zh-CN" altLang="en-US" sz="24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9024408" y="3467712"/>
            <a:ext cx="2141534" cy="921460"/>
            <a:chOff x="8661981" y="3706158"/>
            <a:chExt cx="2141534" cy="921460"/>
          </a:xfrm>
        </p:grpSpPr>
        <p:sp>
          <p:nvSpPr>
            <p:cNvPr id="22543" name="PA_任意多边形 15"/>
            <p:cNvSpPr/>
            <p:nvPr>
              <p:custDataLst>
                <p:tags r:id="rId9"/>
              </p:custDataLst>
            </p:nvPr>
          </p:nvSpPr>
          <p:spPr bwMode="auto">
            <a:xfrm>
              <a:off x="8661981" y="3706158"/>
              <a:ext cx="1557864" cy="921460"/>
            </a:xfrm>
            <a:custGeom>
              <a:avLst/>
              <a:gdLst>
                <a:gd name="T0" fmla="*/ 16 w 104"/>
                <a:gd name="T1" fmla="*/ 67 h 67"/>
                <a:gd name="T2" fmla="*/ 88 w 104"/>
                <a:gd name="T3" fmla="*/ 67 h 67"/>
                <a:gd name="T4" fmla="*/ 104 w 104"/>
                <a:gd name="T5" fmla="*/ 48 h 67"/>
                <a:gd name="T6" fmla="*/ 87 w 104"/>
                <a:gd name="T7" fmla="*/ 34 h 67"/>
                <a:gd name="T8" fmla="*/ 69 w 104"/>
                <a:gd name="T9" fmla="*/ 5 h 67"/>
                <a:gd name="T10" fmla="*/ 37 w 104"/>
                <a:gd name="T11" fmla="*/ 22 h 67"/>
                <a:gd name="T12" fmla="*/ 24 w 104"/>
                <a:gd name="T13" fmla="*/ 19 h 67"/>
                <a:gd name="T14" fmla="*/ 18 w 104"/>
                <a:gd name="T15" fmla="*/ 30 h 67"/>
                <a:gd name="T16" fmla="*/ 2 w 104"/>
                <a:gd name="T17" fmla="*/ 45 h 67"/>
                <a:gd name="T18" fmla="*/ 16 w 104"/>
                <a:gd name="T19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67">
                  <a:moveTo>
                    <a:pt x="16" y="67"/>
                  </a:moveTo>
                  <a:cubicBezTo>
                    <a:pt x="28" y="67"/>
                    <a:pt x="79" y="67"/>
                    <a:pt x="88" y="67"/>
                  </a:cubicBezTo>
                  <a:cubicBezTo>
                    <a:pt x="98" y="67"/>
                    <a:pt x="104" y="62"/>
                    <a:pt x="104" y="48"/>
                  </a:cubicBezTo>
                  <a:cubicBezTo>
                    <a:pt x="104" y="34"/>
                    <a:pt x="91" y="31"/>
                    <a:pt x="87" y="34"/>
                  </a:cubicBezTo>
                  <a:cubicBezTo>
                    <a:pt x="87" y="34"/>
                    <a:pt x="90" y="11"/>
                    <a:pt x="69" y="5"/>
                  </a:cubicBezTo>
                  <a:cubicBezTo>
                    <a:pt x="48" y="0"/>
                    <a:pt x="38" y="17"/>
                    <a:pt x="37" y="22"/>
                  </a:cubicBezTo>
                  <a:cubicBezTo>
                    <a:pt x="37" y="22"/>
                    <a:pt x="32" y="16"/>
                    <a:pt x="24" y="19"/>
                  </a:cubicBezTo>
                  <a:cubicBezTo>
                    <a:pt x="16" y="23"/>
                    <a:pt x="18" y="30"/>
                    <a:pt x="18" y="30"/>
                  </a:cubicBezTo>
                  <a:cubicBezTo>
                    <a:pt x="18" y="30"/>
                    <a:pt x="5" y="33"/>
                    <a:pt x="2" y="45"/>
                  </a:cubicBezTo>
                  <a:cubicBezTo>
                    <a:pt x="0" y="58"/>
                    <a:pt x="8" y="67"/>
                    <a:pt x="16" y="6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 defTabSz="1219200"/>
              <a:endParaRPr lang="zh-CN" altLang="en-US" sz="2400">
                <a:solidFill>
                  <a:srgbClr val="333333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8855021" y="4133671"/>
              <a:ext cx="1948494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chemeClr val="bg1"/>
                  </a:solidFill>
                </a:rPr>
                <a:t>物联网</a:t>
              </a:r>
              <a:endParaRPr lang="zh-CN" altLang="en-US" sz="24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222663" y="3243401"/>
            <a:ext cx="2694305" cy="1628494"/>
            <a:chOff x="4936540" y="2547231"/>
            <a:chExt cx="2694305" cy="1628494"/>
          </a:xfrm>
        </p:grpSpPr>
        <p:sp>
          <p:nvSpPr>
            <p:cNvPr id="22538" name="PA_任意多边形 10"/>
            <p:cNvSpPr/>
            <p:nvPr>
              <p:custDataLst>
                <p:tags r:id="rId10"/>
              </p:custDataLst>
            </p:nvPr>
          </p:nvSpPr>
          <p:spPr bwMode="auto">
            <a:xfrm>
              <a:off x="4936540" y="2547231"/>
              <a:ext cx="2627290" cy="1628494"/>
            </a:xfrm>
            <a:custGeom>
              <a:avLst/>
              <a:gdLst>
                <a:gd name="T0" fmla="*/ 56 w 354"/>
                <a:gd name="T1" fmla="*/ 227 h 227"/>
                <a:gd name="T2" fmla="*/ 299 w 354"/>
                <a:gd name="T3" fmla="*/ 227 h 227"/>
                <a:gd name="T4" fmla="*/ 354 w 354"/>
                <a:gd name="T5" fmla="*/ 163 h 227"/>
                <a:gd name="T6" fmla="*/ 294 w 354"/>
                <a:gd name="T7" fmla="*/ 115 h 227"/>
                <a:gd name="T8" fmla="*/ 234 w 354"/>
                <a:gd name="T9" fmla="*/ 19 h 227"/>
                <a:gd name="T10" fmla="*/ 126 w 354"/>
                <a:gd name="T11" fmla="*/ 75 h 227"/>
                <a:gd name="T12" fmla="*/ 82 w 354"/>
                <a:gd name="T13" fmla="*/ 65 h 227"/>
                <a:gd name="T14" fmla="*/ 63 w 354"/>
                <a:gd name="T15" fmla="*/ 103 h 227"/>
                <a:gd name="T16" fmla="*/ 9 w 354"/>
                <a:gd name="T17" fmla="*/ 154 h 227"/>
                <a:gd name="T18" fmla="*/ 56 w 354"/>
                <a:gd name="T19" fmla="*/ 227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4" h="227">
                  <a:moveTo>
                    <a:pt x="56" y="227"/>
                  </a:moveTo>
                  <a:cubicBezTo>
                    <a:pt x="94" y="227"/>
                    <a:pt x="268" y="227"/>
                    <a:pt x="299" y="227"/>
                  </a:cubicBezTo>
                  <a:cubicBezTo>
                    <a:pt x="331" y="227"/>
                    <a:pt x="354" y="210"/>
                    <a:pt x="354" y="163"/>
                  </a:cubicBezTo>
                  <a:cubicBezTo>
                    <a:pt x="354" y="116"/>
                    <a:pt x="309" y="104"/>
                    <a:pt x="294" y="115"/>
                  </a:cubicBezTo>
                  <a:cubicBezTo>
                    <a:pt x="294" y="115"/>
                    <a:pt x="304" y="37"/>
                    <a:pt x="234" y="19"/>
                  </a:cubicBezTo>
                  <a:cubicBezTo>
                    <a:pt x="163" y="0"/>
                    <a:pt x="130" y="60"/>
                    <a:pt x="126" y="75"/>
                  </a:cubicBezTo>
                  <a:cubicBezTo>
                    <a:pt x="126" y="75"/>
                    <a:pt x="110" y="53"/>
                    <a:pt x="82" y="65"/>
                  </a:cubicBezTo>
                  <a:cubicBezTo>
                    <a:pt x="56" y="77"/>
                    <a:pt x="63" y="103"/>
                    <a:pt x="63" y="103"/>
                  </a:cubicBezTo>
                  <a:cubicBezTo>
                    <a:pt x="63" y="103"/>
                    <a:pt x="18" y="111"/>
                    <a:pt x="9" y="154"/>
                  </a:cubicBezTo>
                  <a:cubicBezTo>
                    <a:pt x="0" y="198"/>
                    <a:pt x="28" y="227"/>
                    <a:pt x="56" y="2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defTabSz="1219200"/>
              <a:endParaRPr lang="zh-CN" altLang="en-US" sz="2400">
                <a:solidFill>
                  <a:srgbClr val="333333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5153075" y="3555611"/>
              <a:ext cx="24777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公共资源需求大</a:t>
              </a:r>
              <a:endPara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7565181" y="4168844"/>
            <a:ext cx="2861719" cy="1355091"/>
            <a:chOff x="7243236" y="4338389"/>
            <a:chExt cx="2861719" cy="1355091"/>
          </a:xfrm>
        </p:grpSpPr>
        <p:sp>
          <p:nvSpPr>
            <p:cNvPr id="22545" name="PA_任意多边形 17"/>
            <p:cNvSpPr/>
            <p:nvPr>
              <p:custDataLst>
                <p:tags r:id="rId11"/>
              </p:custDataLst>
            </p:nvPr>
          </p:nvSpPr>
          <p:spPr bwMode="auto">
            <a:xfrm>
              <a:off x="7243236" y="4338389"/>
              <a:ext cx="2251644" cy="1355091"/>
            </a:xfrm>
            <a:custGeom>
              <a:avLst/>
              <a:gdLst>
                <a:gd name="T0" fmla="*/ 39 w 242"/>
                <a:gd name="T1" fmla="*/ 155 h 155"/>
                <a:gd name="T2" fmla="*/ 205 w 242"/>
                <a:gd name="T3" fmla="*/ 155 h 155"/>
                <a:gd name="T4" fmla="*/ 242 w 242"/>
                <a:gd name="T5" fmla="*/ 111 h 155"/>
                <a:gd name="T6" fmla="*/ 202 w 242"/>
                <a:gd name="T7" fmla="*/ 78 h 155"/>
                <a:gd name="T8" fmla="*/ 160 w 242"/>
                <a:gd name="T9" fmla="*/ 12 h 155"/>
                <a:gd name="T10" fmla="*/ 86 w 242"/>
                <a:gd name="T11" fmla="*/ 50 h 155"/>
                <a:gd name="T12" fmla="*/ 56 w 242"/>
                <a:gd name="T13" fmla="*/ 44 h 155"/>
                <a:gd name="T14" fmla="*/ 43 w 242"/>
                <a:gd name="T15" fmla="*/ 70 h 155"/>
                <a:gd name="T16" fmla="*/ 6 w 242"/>
                <a:gd name="T17" fmla="*/ 105 h 155"/>
                <a:gd name="T18" fmla="*/ 39 w 242"/>
                <a:gd name="T19" fmla="*/ 155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2" h="155">
                  <a:moveTo>
                    <a:pt x="39" y="155"/>
                  </a:moveTo>
                  <a:cubicBezTo>
                    <a:pt x="65" y="155"/>
                    <a:pt x="183" y="155"/>
                    <a:pt x="205" y="155"/>
                  </a:cubicBezTo>
                  <a:cubicBezTo>
                    <a:pt x="227" y="155"/>
                    <a:pt x="242" y="143"/>
                    <a:pt x="242" y="111"/>
                  </a:cubicBezTo>
                  <a:cubicBezTo>
                    <a:pt x="242" y="79"/>
                    <a:pt x="212" y="71"/>
                    <a:pt x="202" y="78"/>
                  </a:cubicBezTo>
                  <a:cubicBezTo>
                    <a:pt x="202" y="78"/>
                    <a:pt x="208" y="25"/>
                    <a:pt x="160" y="12"/>
                  </a:cubicBezTo>
                  <a:cubicBezTo>
                    <a:pt x="112" y="0"/>
                    <a:pt x="89" y="40"/>
                    <a:pt x="86" y="50"/>
                  </a:cubicBezTo>
                  <a:cubicBezTo>
                    <a:pt x="86" y="50"/>
                    <a:pt x="76" y="36"/>
                    <a:pt x="56" y="44"/>
                  </a:cubicBezTo>
                  <a:cubicBezTo>
                    <a:pt x="39" y="52"/>
                    <a:pt x="43" y="70"/>
                    <a:pt x="43" y="70"/>
                  </a:cubicBezTo>
                  <a:cubicBezTo>
                    <a:pt x="43" y="70"/>
                    <a:pt x="12" y="75"/>
                    <a:pt x="6" y="105"/>
                  </a:cubicBezTo>
                  <a:cubicBezTo>
                    <a:pt x="0" y="135"/>
                    <a:pt x="19" y="155"/>
                    <a:pt x="39" y="1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defTabSz="1219200"/>
              <a:endParaRPr lang="zh-CN" altLang="en-US" sz="2400">
                <a:solidFill>
                  <a:srgbClr val="333333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7595351" y="5027576"/>
              <a:ext cx="250960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bg1"/>
                  </a:solidFill>
                </a:rPr>
                <a:t>共享经济</a:t>
              </a:r>
              <a:endParaRPr lang="zh-CN" altLang="en-US" sz="28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754664" y="5052794"/>
            <a:ext cx="2000405" cy="1081373"/>
            <a:chOff x="3405664" y="4282539"/>
            <a:chExt cx="2000405" cy="1081373"/>
          </a:xfrm>
        </p:grpSpPr>
        <p:sp>
          <p:nvSpPr>
            <p:cNvPr id="22544" name="PA_任意多边形 16"/>
            <p:cNvSpPr/>
            <p:nvPr>
              <p:custDataLst>
                <p:tags r:id="rId12"/>
              </p:custDataLst>
            </p:nvPr>
          </p:nvSpPr>
          <p:spPr bwMode="auto">
            <a:xfrm>
              <a:off x="3405664" y="4282539"/>
              <a:ext cx="1606604" cy="1081373"/>
            </a:xfrm>
            <a:custGeom>
              <a:avLst/>
              <a:gdLst>
                <a:gd name="T0" fmla="*/ 46 w 286"/>
                <a:gd name="T1" fmla="*/ 183 h 183"/>
                <a:gd name="T2" fmla="*/ 241 w 286"/>
                <a:gd name="T3" fmla="*/ 183 h 183"/>
                <a:gd name="T4" fmla="*/ 286 w 286"/>
                <a:gd name="T5" fmla="*/ 131 h 183"/>
                <a:gd name="T6" fmla="*/ 238 w 286"/>
                <a:gd name="T7" fmla="*/ 93 h 183"/>
                <a:gd name="T8" fmla="*/ 189 w 286"/>
                <a:gd name="T9" fmla="*/ 15 h 183"/>
                <a:gd name="T10" fmla="*/ 102 w 286"/>
                <a:gd name="T11" fmla="*/ 60 h 183"/>
                <a:gd name="T12" fmla="*/ 67 w 286"/>
                <a:gd name="T13" fmla="*/ 52 h 183"/>
                <a:gd name="T14" fmla="*/ 51 w 286"/>
                <a:gd name="T15" fmla="*/ 83 h 183"/>
                <a:gd name="T16" fmla="*/ 8 w 286"/>
                <a:gd name="T17" fmla="*/ 123 h 183"/>
                <a:gd name="T18" fmla="*/ 46 w 286"/>
                <a:gd name="T19" fmla="*/ 183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6" h="183">
                  <a:moveTo>
                    <a:pt x="46" y="183"/>
                  </a:moveTo>
                  <a:cubicBezTo>
                    <a:pt x="76" y="183"/>
                    <a:pt x="216" y="183"/>
                    <a:pt x="241" y="183"/>
                  </a:cubicBezTo>
                  <a:cubicBezTo>
                    <a:pt x="267" y="183"/>
                    <a:pt x="286" y="169"/>
                    <a:pt x="286" y="131"/>
                  </a:cubicBezTo>
                  <a:cubicBezTo>
                    <a:pt x="286" y="93"/>
                    <a:pt x="250" y="83"/>
                    <a:pt x="238" y="93"/>
                  </a:cubicBezTo>
                  <a:cubicBezTo>
                    <a:pt x="238" y="93"/>
                    <a:pt x="245" y="29"/>
                    <a:pt x="189" y="15"/>
                  </a:cubicBezTo>
                  <a:cubicBezTo>
                    <a:pt x="132" y="0"/>
                    <a:pt x="105" y="48"/>
                    <a:pt x="102" y="60"/>
                  </a:cubicBezTo>
                  <a:cubicBezTo>
                    <a:pt x="102" y="60"/>
                    <a:pt x="89" y="42"/>
                    <a:pt x="67" y="52"/>
                  </a:cubicBezTo>
                  <a:cubicBezTo>
                    <a:pt x="46" y="62"/>
                    <a:pt x="51" y="83"/>
                    <a:pt x="51" y="83"/>
                  </a:cubicBezTo>
                  <a:cubicBezTo>
                    <a:pt x="51" y="83"/>
                    <a:pt x="15" y="89"/>
                    <a:pt x="8" y="123"/>
                  </a:cubicBezTo>
                  <a:cubicBezTo>
                    <a:pt x="0" y="159"/>
                    <a:pt x="23" y="183"/>
                    <a:pt x="46" y="1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 defTabSz="1219200"/>
              <a:endParaRPr lang="zh-CN" altLang="en-US" sz="2400">
                <a:solidFill>
                  <a:srgbClr val="333333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3457575" y="4753778"/>
              <a:ext cx="1948494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闲置资源</a:t>
              </a:r>
              <a:endParaRPr lang="zh-CN" altLang="en-US" sz="2400" b="1">
                <a:solidFill>
                  <a:schemeClr val="bg1"/>
                </a:solidFill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012478" y="2852876"/>
            <a:ext cx="24777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移动互联网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78790" y="140335"/>
            <a:ext cx="1644650" cy="584835"/>
          </a:xfrm>
          <a:prstGeom prst="rect">
            <a:avLst/>
          </a:prstGeom>
          <a:solidFill>
            <a:srgbClr val="4CC1D0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/>
          <p:cNvCxnSpPr/>
          <p:nvPr/>
        </p:nvCxnSpPr>
        <p:spPr>
          <a:xfrm flipH="1">
            <a:off x="478790" y="847725"/>
            <a:ext cx="1656715" cy="5715"/>
          </a:xfrm>
          <a:prstGeom prst="line">
            <a:avLst/>
          </a:prstGeom>
          <a:ln w="15875">
            <a:solidFill>
              <a:srgbClr val="54C3D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478790" y="137795"/>
            <a:ext cx="16446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市场背景</a:t>
            </a:r>
            <a:endParaRPr lang="zh-CN" altLang="en-US" sz="28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/>
                                        <p:tgtEl>
                                          <p:spTgt spid="2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22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6" grpId="0" bldLvl="0" animBg="1"/>
      <p:bldP spid="22546" grpId="0" bldLvl="0" animBg="1"/>
      <p:bldP spid="22553" grpId="0" bldLvl="0" animBg="1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939199" y="3751086"/>
            <a:ext cx="1708916" cy="1047115"/>
            <a:chOff x="971385" y="4932530"/>
            <a:chExt cx="1708916" cy="1047115"/>
          </a:xfrm>
        </p:grpSpPr>
        <p:sp>
          <p:nvSpPr>
            <p:cNvPr id="22" name="文本框 21"/>
            <p:cNvSpPr txBox="1"/>
            <p:nvPr/>
          </p:nvSpPr>
          <p:spPr>
            <a:xfrm>
              <a:off x="971385" y="4932530"/>
              <a:ext cx="1708916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2">
                      <a:lumMod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Open Sans Semibold" panose="020B0706030804020204" pitchFamily="34" charset="0"/>
                </a:rPr>
                <a:t>振宇</a:t>
              </a:r>
              <a:endParaRPr lang="zh-CN" altLang="en-US" sz="2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 Semibold" panose="020B0706030804020204" pitchFamily="34" charset="0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158710" y="5334485"/>
              <a:ext cx="1435735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Open Sans" panose="020B0606030504020204" pitchFamily="34" charset="0"/>
                </a:rPr>
                <a:t>北漂</a:t>
              </a:r>
              <a:r>
                <a:rPr lang="en-US" altLang="zh-CN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Open Sans" panose="020B0606030504020204" pitchFamily="34" charset="0"/>
                </a:rPr>
                <a:t>90</a:t>
              </a:r>
              <a:r>
                <a:rPr lang="zh-CN" altLang="en-US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Open Sans" panose="020B0606030504020204" pitchFamily="34" charset="0"/>
                </a:rPr>
                <a:t>后</a:t>
              </a:r>
              <a:endParaRPr lang="zh-CN" altLang="en-US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</a:endParaRPr>
            </a:p>
            <a:p>
              <a:endParaRPr lang="en-US" altLang="zh-CN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643239" y="3751086"/>
            <a:ext cx="1969191" cy="769977"/>
            <a:chOff x="3648812" y="4935145"/>
            <a:chExt cx="1969191" cy="769977"/>
          </a:xfrm>
        </p:grpSpPr>
        <p:sp>
          <p:nvSpPr>
            <p:cNvPr id="25" name="文本框 24"/>
            <p:cNvSpPr txBox="1"/>
            <p:nvPr/>
          </p:nvSpPr>
          <p:spPr>
            <a:xfrm>
              <a:off x="3648812" y="4935145"/>
              <a:ext cx="1969191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2">
                      <a:lumMod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Open Sans Semibold" panose="020B0706030804020204" pitchFamily="34" charset="0"/>
                </a:rPr>
                <a:t>珈蓝</a:t>
              </a:r>
              <a:endParaRPr lang="zh-CN" altLang="en-US" sz="2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 Semibold" panose="020B0706030804020204" pitchFamily="34" charset="0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858543" y="5336822"/>
              <a:ext cx="1667557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Open Sans" panose="020B0606030504020204" pitchFamily="34" charset="0"/>
                </a:rPr>
                <a:t>某电商商户</a:t>
              </a:r>
              <a:endParaRPr lang="zh-CN" altLang="en-US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6559341" y="3751086"/>
            <a:ext cx="1969191" cy="768410"/>
            <a:chOff x="6709227" y="4935145"/>
            <a:chExt cx="1969191" cy="768410"/>
          </a:xfrm>
        </p:grpSpPr>
        <p:sp>
          <p:nvSpPr>
            <p:cNvPr id="28" name="文本框 27"/>
            <p:cNvSpPr txBox="1"/>
            <p:nvPr/>
          </p:nvSpPr>
          <p:spPr>
            <a:xfrm>
              <a:off x="6709227" y="4935145"/>
              <a:ext cx="1969191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2">
                      <a:lumMod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Open Sans Semibold" panose="020B0706030804020204" pitchFamily="34" charset="0"/>
                </a:rPr>
                <a:t>王芳</a:t>
              </a:r>
              <a:endParaRPr lang="zh-CN" altLang="en-US" sz="2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 Semibold" panose="020B0706030804020204" pitchFamily="34" charset="0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6854143" y="5335255"/>
              <a:ext cx="1667557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Open Sans" panose="020B0606030504020204" pitchFamily="34" charset="0"/>
                </a:rPr>
                <a:t>驴友</a:t>
              </a:r>
              <a:endParaRPr lang="zh-CN" altLang="en-US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9550393" y="3751086"/>
            <a:ext cx="1969191" cy="764279"/>
            <a:chOff x="9626408" y="4932530"/>
            <a:chExt cx="1969191" cy="764279"/>
          </a:xfrm>
        </p:grpSpPr>
        <p:sp>
          <p:nvSpPr>
            <p:cNvPr id="31" name="文本框 30"/>
            <p:cNvSpPr txBox="1"/>
            <p:nvPr/>
          </p:nvSpPr>
          <p:spPr>
            <a:xfrm>
              <a:off x="9626408" y="4932530"/>
              <a:ext cx="1969191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2">
                      <a:lumMod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Open Sans Semibold" panose="020B0706030804020204" pitchFamily="34" charset="0"/>
                </a:rPr>
                <a:t>东海</a:t>
              </a:r>
              <a:endParaRPr lang="zh-CN" altLang="en-US" sz="2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 Semibold" panose="020B0706030804020204" pitchFamily="34" charset="0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9704601" y="5328509"/>
              <a:ext cx="1667557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Open Sans" panose="020B0606030504020204" pitchFamily="34" charset="0"/>
                </a:rPr>
                <a:t>主机游戏玩家</a:t>
              </a:r>
              <a:endParaRPr lang="zh-CN" altLang="en-US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897007" y="1422048"/>
            <a:ext cx="10411597" cy="1983788"/>
            <a:chOff x="983628" y="2727608"/>
            <a:chExt cx="10411597" cy="1983788"/>
          </a:xfrm>
        </p:grpSpPr>
        <p:grpSp>
          <p:nvGrpSpPr>
            <p:cNvPr id="35" name="组合 34"/>
            <p:cNvGrpSpPr/>
            <p:nvPr/>
          </p:nvGrpSpPr>
          <p:grpSpPr>
            <a:xfrm>
              <a:off x="983628" y="2942286"/>
              <a:ext cx="10224744" cy="1769110"/>
              <a:chOff x="704702" y="2942286"/>
              <a:chExt cx="10224744" cy="1769110"/>
            </a:xfrm>
          </p:grpSpPr>
          <p:pic>
            <p:nvPicPr>
              <p:cNvPr id="2" name="图片 1" descr="C:\Users\姑苏\Desktop\头像 女孩.png头像 女孩"/>
              <p:cNvPicPr>
                <a:picLocks noChangeAspect="1"/>
              </p:cNvPicPr>
              <p:nvPr/>
            </p:nvPicPr>
            <p:blipFill>
              <a:blip r:embed="rId1"/>
              <a:srcRect/>
              <a:stretch>
                <a:fillRect/>
              </a:stretch>
            </p:blipFill>
            <p:spPr>
              <a:xfrm>
                <a:off x="6345657" y="2942286"/>
                <a:ext cx="1769182" cy="1769110"/>
              </a:xfrm>
              <a:custGeom>
                <a:avLst/>
                <a:gdLst>
                  <a:gd name="connsiteX0" fmla="*/ 1178790 w 2357580"/>
                  <a:gd name="connsiteY0" fmla="*/ 0 h 2357580"/>
                  <a:gd name="connsiteX1" fmla="*/ 2357580 w 2357580"/>
                  <a:gd name="connsiteY1" fmla="*/ 1178790 h 2357580"/>
                  <a:gd name="connsiteX2" fmla="*/ 1178790 w 2357580"/>
                  <a:gd name="connsiteY2" fmla="*/ 2357580 h 2357580"/>
                  <a:gd name="connsiteX3" fmla="*/ 0 w 2357580"/>
                  <a:gd name="connsiteY3" fmla="*/ 1178790 h 2357580"/>
                  <a:gd name="connsiteX4" fmla="*/ 1178790 w 2357580"/>
                  <a:gd name="connsiteY4" fmla="*/ 0 h 2357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57580" h="2357580">
                    <a:moveTo>
                      <a:pt x="1178790" y="0"/>
                    </a:moveTo>
                    <a:cubicBezTo>
                      <a:pt x="1829818" y="0"/>
                      <a:pt x="2357580" y="527762"/>
                      <a:pt x="2357580" y="1178790"/>
                    </a:cubicBezTo>
                    <a:cubicBezTo>
                      <a:pt x="2357580" y="1829818"/>
                      <a:pt x="1829818" y="2357580"/>
                      <a:pt x="1178790" y="2357580"/>
                    </a:cubicBezTo>
                    <a:cubicBezTo>
                      <a:pt x="527762" y="2357580"/>
                      <a:pt x="0" y="1829818"/>
                      <a:pt x="0" y="1178790"/>
                    </a:cubicBezTo>
                    <a:cubicBezTo>
                      <a:pt x="0" y="527762"/>
                      <a:pt x="527762" y="0"/>
                      <a:pt x="1178790" y="0"/>
                    </a:cubicBezTo>
                    <a:close/>
                  </a:path>
                </a:pathLst>
              </a:custGeom>
              <a:ln w="28575">
                <a:solidFill>
                  <a:srgbClr val="BFBFBF">
                    <a:lumMod val="50000"/>
                  </a:srgbClr>
                </a:solidFill>
              </a:ln>
            </p:spPr>
          </p:pic>
          <p:pic>
            <p:nvPicPr>
              <p:cNvPr id="3" name="图片 2" descr="C:\Users\姑苏\Desktop\头像 女孩 (1).png头像 女孩 (1)"/>
              <p:cNvPicPr>
                <a:picLocks noChangeAspect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>
              <a:xfrm>
                <a:off x="3531049" y="2948318"/>
                <a:ext cx="1757443" cy="1757045"/>
              </a:xfrm>
              <a:custGeom>
                <a:avLst/>
                <a:gdLst>
                  <a:gd name="connsiteX0" fmla="*/ 1178790 w 2357580"/>
                  <a:gd name="connsiteY0" fmla="*/ 0 h 2357580"/>
                  <a:gd name="connsiteX1" fmla="*/ 2357580 w 2357580"/>
                  <a:gd name="connsiteY1" fmla="*/ 1178790 h 2357580"/>
                  <a:gd name="connsiteX2" fmla="*/ 1178790 w 2357580"/>
                  <a:gd name="connsiteY2" fmla="*/ 2357580 h 2357580"/>
                  <a:gd name="connsiteX3" fmla="*/ 0 w 2357580"/>
                  <a:gd name="connsiteY3" fmla="*/ 1178790 h 2357580"/>
                  <a:gd name="connsiteX4" fmla="*/ 1178790 w 2357580"/>
                  <a:gd name="connsiteY4" fmla="*/ 0 h 2357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57580" h="2357580">
                    <a:moveTo>
                      <a:pt x="1178790" y="0"/>
                    </a:moveTo>
                    <a:cubicBezTo>
                      <a:pt x="1829818" y="0"/>
                      <a:pt x="2357580" y="527762"/>
                      <a:pt x="2357580" y="1178790"/>
                    </a:cubicBezTo>
                    <a:cubicBezTo>
                      <a:pt x="2357580" y="1829818"/>
                      <a:pt x="1829818" y="2357580"/>
                      <a:pt x="1178790" y="2357580"/>
                    </a:cubicBezTo>
                    <a:cubicBezTo>
                      <a:pt x="527762" y="2357580"/>
                      <a:pt x="0" y="1829818"/>
                      <a:pt x="0" y="1178790"/>
                    </a:cubicBezTo>
                    <a:cubicBezTo>
                      <a:pt x="0" y="527762"/>
                      <a:pt x="527762" y="0"/>
                      <a:pt x="1178790" y="0"/>
                    </a:cubicBezTo>
                    <a:close/>
                  </a:path>
                </a:pathLst>
              </a:custGeom>
              <a:ln w="28575">
                <a:solidFill>
                  <a:srgbClr val="BFBFBF">
                    <a:lumMod val="50000"/>
                  </a:srgbClr>
                </a:solidFill>
              </a:ln>
            </p:spPr>
          </p:pic>
          <p:pic>
            <p:nvPicPr>
              <p:cNvPr id="4" name="图片 3" descr="C:\Users\姑苏\Desktop\头像 男孩 (1).png头像 男孩 (1)"/>
              <p:cNvPicPr>
                <a:picLocks noChangeAspect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>
              <a:xfrm>
                <a:off x="9172003" y="2948318"/>
                <a:ext cx="1757443" cy="1757045"/>
              </a:xfrm>
              <a:custGeom>
                <a:avLst/>
                <a:gdLst>
                  <a:gd name="connsiteX0" fmla="*/ 1178790 w 2357580"/>
                  <a:gd name="connsiteY0" fmla="*/ 0 h 2357580"/>
                  <a:gd name="connsiteX1" fmla="*/ 2357580 w 2357580"/>
                  <a:gd name="connsiteY1" fmla="*/ 1178790 h 2357580"/>
                  <a:gd name="connsiteX2" fmla="*/ 1178790 w 2357580"/>
                  <a:gd name="connsiteY2" fmla="*/ 2357580 h 2357580"/>
                  <a:gd name="connsiteX3" fmla="*/ 0 w 2357580"/>
                  <a:gd name="connsiteY3" fmla="*/ 1178790 h 2357580"/>
                  <a:gd name="connsiteX4" fmla="*/ 1178790 w 2357580"/>
                  <a:gd name="connsiteY4" fmla="*/ 0 h 2357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57580" h="2357580">
                    <a:moveTo>
                      <a:pt x="1178790" y="0"/>
                    </a:moveTo>
                    <a:cubicBezTo>
                      <a:pt x="1829818" y="0"/>
                      <a:pt x="2357580" y="527762"/>
                      <a:pt x="2357580" y="1178790"/>
                    </a:cubicBezTo>
                    <a:cubicBezTo>
                      <a:pt x="2357580" y="1829818"/>
                      <a:pt x="1829818" y="2357580"/>
                      <a:pt x="1178790" y="2357580"/>
                    </a:cubicBezTo>
                    <a:cubicBezTo>
                      <a:pt x="527762" y="2357580"/>
                      <a:pt x="0" y="1829818"/>
                      <a:pt x="0" y="1178790"/>
                    </a:cubicBezTo>
                    <a:cubicBezTo>
                      <a:pt x="0" y="527762"/>
                      <a:pt x="527762" y="0"/>
                      <a:pt x="1178790" y="0"/>
                    </a:cubicBezTo>
                    <a:close/>
                  </a:path>
                </a:pathLst>
              </a:custGeom>
              <a:ln w="28575">
                <a:solidFill>
                  <a:srgbClr val="BFBFBF">
                    <a:lumMod val="50000"/>
                  </a:srgbClr>
                </a:solidFill>
              </a:ln>
            </p:spPr>
          </p:pic>
          <p:pic>
            <p:nvPicPr>
              <p:cNvPr id="33" name="图片 32" descr="C:\Users\姑苏\Desktop\头像 男孩.png头像 男孩"/>
              <p:cNvPicPr>
                <a:picLocks noChangeAspect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>
              <a:xfrm>
                <a:off x="704702" y="2942286"/>
                <a:ext cx="1769182" cy="1769110"/>
              </a:xfrm>
              <a:custGeom>
                <a:avLst/>
                <a:gdLst>
                  <a:gd name="connsiteX0" fmla="*/ 1178790 w 2357580"/>
                  <a:gd name="connsiteY0" fmla="*/ 0 h 2357580"/>
                  <a:gd name="connsiteX1" fmla="*/ 2357580 w 2357580"/>
                  <a:gd name="connsiteY1" fmla="*/ 1178790 h 2357580"/>
                  <a:gd name="connsiteX2" fmla="*/ 1178790 w 2357580"/>
                  <a:gd name="connsiteY2" fmla="*/ 2357580 h 2357580"/>
                  <a:gd name="connsiteX3" fmla="*/ 0 w 2357580"/>
                  <a:gd name="connsiteY3" fmla="*/ 1178790 h 2357580"/>
                  <a:gd name="connsiteX4" fmla="*/ 1178790 w 2357580"/>
                  <a:gd name="connsiteY4" fmla="*/ 0 h 2357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57580" h="2357580">
                    <a:moveTo>
                      <a:pt x="1178790" y="0"/>
                    </a:moveTo>
                    <a:cubicBezTo>
                      <a:pt x="1829818" y="0"/>
                      <a:pt x="2357580" y="527762"/>
                      <a:pt x="2357580" y="1178790"/>
                    </a:cubicBezTo>
                    <a:cubicBezTo>
                      <a:pt x="2357580" y="1829818"/>
                      <a:pt x="1829818" y="2357580"/>
                      <a:pt x="1178790" y="2357580"/>
                    </a:cubicBezTo>
                    <a:cubicBezTo>
                      <a:pt x="527762" y="2357580"/>
                      <a:pt x="0" y="1829818"/>
                      <a:pt x="0" y="1178790"/>
                    </a:cubicBezTo>
                    <a:cubicBezTo>
                      <a:pt x="0" y="527762"/>
                      <a:pt x="527762" y="0"/>
                      <a:pt x="1178790" y="0"/>
                    </a:cubicBezTo>
                    <a:close/>
                  </a:path>
                </a:pathLst>
              </a:custGeom>
              <a:ln w="28575">
                <a:solidFill>
                  <a:srgbClr val="BFBFBF">
                    <a:lumMod val="50000"/>
                  </a:srgbClr>
                </a:solidFill>
              </a:ln>
            </p:spPr>
          </p:pic>
        </p:grpSp>
        <p:grpSp>
          <p:nvGrpSpPr>
            <p:cNvPr id="36" name="组合 35"/>
            <p:cNvGrpSpPr/>
            <p:nvPr/>
          </p:nvGrpSpPr>
          <p:grpSpPr>
            <a:xfrm>
              <a:off x="2282580" y="2727608"/>
              <a:ext cx="9112645" cy="701392"/>
              <a:chOff x="2482954" y="2491314"/>
              <a:chExt cx="9112645" cy="701392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5288582" y="2496945"/>
                <a:ext cx="695761" cy="695761"/>
                <a:chOff x="3100786" y="5297261"/>
                <a:chExt cx="839448" cy="839448"/>
              </a:xfrm>
            </p:grpSpPr>
            <p:sp>
              <p:nvSpPr>
                <p:cNvPr id="9" name="椭圆 8"/>
                <p:cNvSpPr/>
                <p:nvPr/>
              </p:nvSpPr>
              <p:spPr>
                <a:xfrm>
                  <a:off x="3100786" y="5297261"/>
                  <a:ext cx="839448" cy="839448"/>
                </a:xfrm>
                <a:prstGeom prst="ellipse">
                  <a:avLst/>
                </a:prstGeom>
                <a:solidFill>
                  <a:srgbClr val="6A7682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" name="Freeform 117"/>
                <p:cNvSpPr/>
                <p:nvPr/>
              </p:nvSpPr>
              <p:spPr bwMode="auto">
                <a:xfrm>
                  <a:off x="3282007" y="5448378"/>
                  <a:ext cx="522239" cy="484894"/>
                </a:xfrm>
                <a:custGeom>
                  <a:avLst/>
                  <a:gdLst>
                    <a:gd name="T0" fmla="*/ 329 w 376"/>
                    <a:gd name="T1" fmla="*/ 261 h 349"/>
                    <a:gd name="T2" fmla="*/ 275 w 376"/>
                    <a:gd name="T3" fmla="*/ 242 h 349"/>
                    <a:gd name="T4" fmla="*/ 229 w 376"/>
                    <a:gd name="T5" fmla="*/ 222 h 349"/>
                    <a:gd name="T6" fmla="*/ 229 w 376"/>
                    <a:gd name="T7" fmla="*/ 187 h 349"/>
                    <a:gd name="T8" fmla="*/ 247 w 376"/>
                    <a:gd name="T9" fmla="*/ 144 h 349"/>
                    <a:gd name="T10" fmla="*/ 259 w 376"/>
                    <a:gd name="T11" fmla="*/ 126 h 349"/>
                    <a:gd name="T12" fmla="*/ 253 w 376"/>
                    <a:gd name="T13" fmla="*/ 96 h 349"/>
                    <a:gd name="T14" fmla="*/ 257 w 376"/>
                    <a:gd name="T15" fmla="*/ 58 h 349"/>
                    <a:gd name="T16" fmla="*/ 188 w 376"/>
                    <a:gd name="T17" fmla="*/ 0 h 349"/>
                    <a:gd name="T18" fmla="*/ 120 w 376"/>
                    <a:gd name="T19" fmla="*/ 58 h 349"/>
                    <a:gd name="T20" fmla="*/ 123 w 376"/>
                    <a:gd name="T21" fmla="*/ 96 h 349"/>
                    <a:gd name="T22" fmla="*/ 117 w 376"/>
                    <a:gd name="T23" fmla="*/ 126 h 349"/>
                    <a:gd name="T24" fmla="*/ 129 w 376"/>
                    <a:gd name="T25" fmla="*/ 144 h 349"/>
                    <a:gd name="T26" fmla="*/ 147 w 376"/>
                    <a:gd name="T27" fmla="*/ 187 h 349"/>
                    <a:gd name="T28" fmla="*/ 147 w 376"/>
                    <a:gd name="T29" fmla="*/ 222 h 349"/>
                    <a:gd name="T30" fmla="*/ 102 w 376"/>
                    <a:gd name="T31" fmla="*/ 243 h 349"/>
                    <a:gd name="T32" fmla="*/ 47 w 376"/>
                    <a:gd name="T33" fmla="*/ 261 h 349"/>
                    <a:gd name="T34" fmla="*/ 0 w 376"/>
                    <a:gd name="T35" fmla="*/ 349 h 349"/>
                    <a:gd name="T36" fmla="*/ 188 w 376"/>
                    <a:gd name="T37" fmla="*/ 349 h 349"/>
                    <a:gd name="T38" fmla="*/ 376 w 376"/>
                    <a:gd name="T39" fmla="*/ 349 h 349"/>
                    <a:gd name="T40" fmla="*/ 329 w 376"/>
                    <a:gd name="T41" fmla="*/ 261 h 3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76" h="349">
                      <a:moveTo>
                        <a:pt x="329" y="261"/>
                      </a:moveTo>
                      <a:cubicBezTo>
                        <a:pt x="300" y="246"/>
                        <a:pt x="311" y="257"/>
                        <a:pt x="275" y="242"/>
                      </a:cubicBezTo>
                      <a:cubicBezTo>
                        <a:pt x="238" y="227"/>
                        <a:pt x="229" y="222"/>
                        <a:pt x="229" y="222"/>
                      </a:cubicBezTo>
                      <a:cubicBezTo>
                        <a:pt x="229" y="187"/>
                        <a:pt x="229" y="187"/>
                        <a:pt x="229" y="187"/>
                      </a:cubicBezTo>
                      <a:cubicBezTo>
                        <a:pt x="229" y="187"/>
                        <a:pt x="243" y="177"/>
                        <a:pt x="247" y="144"/>
                      </a:cubicBezTo>
                      <a:cubicBezTo>
                        <a:pt x="256" y="146"/>
                        <a:pt x="258" y="134"/>
                        <a:pt x="259" y="126"/>
                      </a:cubicBezTo>
                      <a:cubicBezTo>
                        <a:pt x="259" y="118"/>
                        <a:pt x="264" y="94"/>
                        <a:pt x="253" y="96"/>
                      </a:cubicBezTo>
                      <a:cubicBezTo>
                        <a:pt x="256" y="80"/>
                        <a:pt x="257" y="65"/>
                        <a:pt x="257" y="58"/>
                      </a:cubicBezTo>
                      <a:cubicBezTo>
                        <a:pt x="254" y="31"/>
                        <a:pt x="235" y="2"/>
                        <a:pt x="188" y="0"/>
                      </a:cubicBezTo>
                      <a:cubicBezTo>
                        <a:pt x="148" y="2"/>
                        <a:pt x="122" y="31"/>
                        <a:pt x="120" y="58"/>
                      </a:cubicBezTo>
                      <a:cubicBezTo>
                        <a:pt x="119" y="65"/>
                        <a:pt x="121" y="80"/>
                        <a:pt x="123" y="96"/>
                      </a:cubicBezTo>
                      <a:cubicBezTo>
                        <a:pt x="112" y="94"/>
                        <a:pt x="117" y="118"/>
                        <a:pt x="117" y="126"/>
                      </a:cubicBezTo>
                      <a:cubicBezTo>
                        <a:pt x="118" y="134"/>
                        <a:pt x="121" y="146"/>
                        <a:pt x="129" y="144"/>
                      </a:cubicBezTo>
                      <a:cubicBezTo>
                        <a:pt x="133" y="177"/>
                        <a:pt x="147" y="187"/>
                        <a:pt x="147" y="187"/>
                      </a:cubicBezTo>
                      <a:cubicBezTo>
                        <a:pt x="147" y="222"/>
                        <a:pt x="147" y="222"/>
                        <a:pt x="147" y="222"/>
                      </a:cubicBezTo>
                      <a:cubicBezTo>
                        <a:pt x="147" y="222"/>
                        <a:pt x="138" y="228"/>
                        <a:pt x="102" y="243"/>
                      </a:cubicBezTo>
                      <a:cubicBezTo>
                        <a:pt x="65" y="258"/>
                        <a:pt x="77" y="246"/>
                        <a:pt x="47" y="261"/>
                      </a:cubicBezTo>
                      <a:cubicBezTo>
                        <a:pt x="0" y="284"/>
                        <a:pt x="0" y="349"/>
                        <a:pt x="0" y="349"/>
                      </a:cubicBezTo>
                      <a:cubicBezTo>
                        <a:pt x="188" y="349"/>
                        <a:pt x="188" y="349"/>
                        <a:pt x="188" y="349"/>
                      </a:cubicBezTo>
                      <a:cubicBezTo>
                        <a:pt x="376" y="349"/>
                        <a:pt x="376" y="349"/>
                        <a:pt x="376" y="349"/>
                      </a:cubicBezTo>
                      <a:cubicBezTo>
                        <a:pt x="376" y="349"/>
                        <a:pt x="376" y="284"/>
                        <a:pt x="329" y="261"/>
                      </a:cubicBezTo>
                      <a:close/>
                    </a:path>
                  </a:pathLst>
                </a:custGeom>
                <a:solidFill>
                  <a:srgbClr val="FFFFFF">
                    <a:lumMod val="95000"/>
                  </a:srgb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11" name="组合 10"/>
              <p:cNvGrpSpPr/>
              <p:nvPr/>
            </p:nvGrpSpPr>
            <p:grpSpPr>
              <a:xfrm>
                <a:off x="8094210" y="2491314"/>
                <a:ext cx="695761" cy="695761"/>
                <a:chOff x="3100786" y="5297261"/>
                <a:chExt cx="839448" cy="839448"/>
              </a:xfrm>
            </p:grpSpPr>
            <p:sp>
              <p:nvSpPr>
                <p:cNvPr id="12" name="椭圆 11"/>
                <p:cNvSpPr/>
                <p:nvPr/>
              </p:nvSpPr>
              <p:spPr>
                <a:xfrm>
                  <a:off x="3100786" y="5297261"/>
                  <a:ext cx="839448" cy="839448"/>
                </a:xfrm>
                <a:prstGeom prst="ellipse">
                  <a:avLst/>
                </a:prstGeom>
                <a:solidFill>
                  <a:srgbClr val="6A7682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" name="Freeform 117"/>
                <p:cNvSpPr/>
                <p:nvPr/>
              </p:nvSpPr>
              <p:spPr bwMode="auto">
                <a:xfrm>
                  <a:off x="3282007" y="5448378"/>
                  <a:ext cx="522239" cy="484894"/>
                </a:xfrm>
                <a:custGeom>
                  <a:avLst/>
                  <a:gdLst>
                    <a:gd name="T0" fmla="*/ 329 w 376"/>
                    <a:gd name="T1" fmla="*/ 261 h 349"/>
                    <a:gd name="T2" fmla="*/ 275 w 376"/>
                    <a:gd name="T3" fmla="*/ 242 h 349"/>
                    <a:gd name="T4" fmla="*/ 229 w 376"/>
                    <a:gd name="T5" fmla="*/ 222 h 349"/>
                    <a:gd name="T6" fmla="*/ 229 w 376"/>
                    <a:gd name="T7" fmla="*/ 187 h 349"/>
                    <a:gd name="T8" fmla="*/ 247 w 376"/>
                    <a:gd name="T9" fmla="*/ 144 h 349"/>
                    <a:gd name="T10" fmla="*/ 259 w 376"/>
                    <a:gd name="T11" fmla="*/ 126 h 349"/>
                    <a:gd name="T12" fmla="*/ 253 w 376"/>
                    <a:gd name="T13" fmla="*/ 96 h 349"/>
                    <a:gd name="T14" fmla="*/ 257 w 376"/>
                    <a:gd name="T15" fmla="*/ 58 h 349"/>
                    <a:gd name="T16" fmla="*/ 188 w 376"/>
                    <a:gd name="T17" fmla="*/ 0 h 349"/>
                    <a:gd name="T18" fmla="*/ 120 w 376"/>
                    <a:gd name="T19" fmla="*/ 58 h 349"/>
                    <a:gd name="T20" fmla="*/ 123 w 376"/>
                    <a:gd name="T21" fmla="*/ 96 h 349"/>
                    <a:gd name="T22" fmla="*/ 117 w 376"/>
                    <a:gd name="T23" fmla="*/ 126 h 349"/>
                    <a:gd name="T24" fmla="*/ 129 w 376"/>
                    <a:gd name="T25" fmla="*/ 144 h 349"/>
                    <a:gd name="T26" fmla="*/ 147 w 376"/>
                    <a:gd name="T27" fmla="*/ 187 h 349"/>
                    <a:gd name="T28" fmla="*/ 147 w 376"/>
                    <a:gd name="T29" fmla="*/ 222 h 349"/>
                    <a:gd name="T30" fmla="*/ 102 w 376"/>
                    <a:gd name="T31" fmla="*/ 243 h 349"/>
                    <a:gd name="T32" fmla="*/ 47 w 376"/>
                    <a:gd name="T33" fmla="*/ 261 h 349"/>
                    <a:gd name="T34" fmla="*/ 0 w 376"/>
                    <a:gd name="T35" fmla="*/ 349 h 349"/>
                    <a:gd name="T36" fmla="*/ 188 w 376"/>
                    <a:gd name="T37" fmla="*/ 349 h 349"/>
                    <a:gd name="T38" fmla="*/ 376 w 376"/>
                    <a:gd name="T39" fmla="*/ 349 h 349"/>
                    <a:gd name="T40" fmla="*/ 329 w 376"/>
                    <a:gd name="T41" fmla="*/ 261 h 3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76" h="349">
                      <a:moveTo>
                        <a:pt x="329" y="261"/>
                      </a:moveTo>
                      <a:cubicBezTo>
                        <a:pt x="300" y="246"/>
                        <a:pt x="311" y="257"/>
                        <a:pt x="275" y="242"/>
                      </a:cubicBezTo>
                      <a:cubicBezTo>
                        <a:pt x="238" y="227"/>
                        <a:pt x="229" y="222"/>
                        <a:pt x="229" y="222"/>
                      </a:cubicBezTo>
                      <a:cubicBezTo>
                        <a:pt x="229" y="187"/>
                        <a:pt x="229" y="187"/>
                        <a:pt x="229" y="187"/>
                      </a:cubicBezTo>
                      <a:cubicBezTo>
                        <a:pt x="229" y="187"/>
                        <a:pt x="243" y="177"/>
                        <a:pt x="247" y="144"/>
                      </a:cubicBezTo>
                      <a:cubicBezTo>
                        <a:pt x="256" y="146"/>
                        <a:pt x="258" y="134"/>
                        <a:pt x="259" y="126"/>
                      </a:cubicBezTo>
                      <a:cubicBezTo>
                        <a:pt x="259" y="118"/>
                        <a:pt x="264" y="94"/>
                        <a:pt x="253" y="96"/>
                      </a:cubicBezTo>
                      <a:cubicBezTo>
                        <a:pt x="256" y="80"/>
                        <a:pt x="257" y="65"/>
                        <a:pt x="257" y="58"/>
                      </a:cubicBezTo>
                      <a:cubicBezTo>
                        <a:pt x="254" y="31"/>
                        <a:pt x="235" y="2"/>
                        <a:pt x="188" y="0"/>
                      </a:cubicBezTo>
                      <a:cubicBezTo>
                        <a:pt x="148" y="2"/>
                        <a:pt x="122" y="31"/>
                        <a:pt x="120" y="58"/>
                      </a:cubicBezTo>
                      <a:cubicBezTo>
                        <a:pt x="119" y="65"/>
                        <a:pt x="121" y="80"/>
                        <a:pt x="123" y="96"/>
                      </a:cubicBezTo>
                      <a:cubicBezTo>
                        <a:pt x="112" y="94"/>
                        <a:pt x="117" y="118"/>
                        <a:pt x="117" y="126"/>
                      </a:cubicBezTo>
                      <a:cubicBezTo>
                        <a:pt x="118" y="134"/>
                        <a:pt x="121" y="146"/>
                        <a:pt x="129" y="144"/>
                      </a:cubicBezTo>
                      <a:cubicBezTo>
                        <a:pt x="133" y="177"/>
                        <a:pt x="147" y="187"/>
                        <a:pt x="147" y="187"/>
                      </a:cubicBezTo>
                      <a:cubicBezTo>
                        <a:pt x="147" y="222"/>
                        <a:pt x="147" y="222"/>
                        <a:pt x="147" y="222"/>
                      </a:cubicBezTo>
                      <a:cubicBezTo>
                        <a:pt x="147" y="222"/>
                        <a:pt x="138" y="228"/>
                        <a:pt x="102" y="243"/>
                      </a:cubicBezTo>
                      <a:cubicBezTo>
                        <a:pt x="65" y="258"/>
                        <a:pt x="77" y="246"/>
                        <a:pt x="47" y="261"/>
                      </a:cubicBezTo>
                      <a:cubicBezTo>
                        <a:pt x="0" y="284"/>
                        <a:pt x="0" y="349"/>
                        <a:pt x="0" y="349"/>
                      </a:cubicBezTo>
                      <a:cubicBezTo>
                        <a:pt x="188" y="349"/>
                        <a:pt x="188" y="349"/>
                        <a:pt x="188" y="349"/>
                      </a:cubicBezTo>
                      <a:cubicBezTo>
                        <a:pt x="376" y="349"/>
                        <a:pt x="376" y="349"/>
                        <a:pt x="376" y="349"/>
                      </a:cubicBezTo>
                      <a:cubicBezTo>
                        <a:pt x="376" y="349"/>
                        <a:pt x="376" y="284"/>
                        <a:pt x="329" y="261"/>
                      </a:cubicBezTo>
                      <a:close/>
                    </a:path>
                  </a:pathLst>
                </a:custGeom>
                <a:solidFill>
                  <a:srgbClr val="FFFFFF">
                    <a:lumMod val="95000"/>
                  </a:srgb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14" name="组合 13"/>
              <p:cNvGrpSpPr/>
              <p:nvPr/>
            </p:nvGrpSpPr>
            <p:grpSpPr>
              <a:xfrm>
                <a:off x="10899838" y="2491314"/>
                <a:ext cx="695761" cy="695761"/>
                <a:chOff x="3100786" y="5297261"/>
                <a:chExt cx="839448" cy="839448"/>
              </a:xfrm>
            </p:grpSpPr>
            <p:sp>
              <p:nvSpPr>
                <p:cNvPr id="15" name="椭圆 14"/>
                <p:cNvSpPr/>
                <p:nvPr/>
              </p:nvSpPr>
              <p:spPr>
                <a:xfrm>
                  <a:off x="3100786" y="5297261"/>
                  <a:ext cx="839448" cy="839448"/>
                </a:xfrm>
                <a:prstGeom prst="ellipse">
                  <a:avLst/>
                </a:prstGeom>
                <a:solidFill>
                  <a:srgbClr val="6A7682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" name="Freeform 117"/>
                <p:cNvSpPr/>
                <p:nvPr/>
              </p:nvSpPr>
              <p:spPr bwMode="auto">
                <a:xfrm>
                  <a:off x="3282007" y="5448378"/>
                  <a:ext cx="522239" cy="484894"/>
                </a:xfrm>
                <a:custGeom>
                  <a:avLst/>
                  <a:gdLst>
                    <a:gd name="T0" fmla="*/ 329 w 376"/>
                    <a:gd name="T1" fmla="*/ 261 h 349"/>
                    <a:gd name="T2" fmla="*/ 275 w 376"/>
                    <a:gd name="T3" fmla="*/ 242 h 349"/>
                    <a:gd name="T4" fmla="*/ 229 w 376"/>
                    <a:gd name="T5" fmla="*/ 222 h 349"/>
                    <a:gd name="T6" fmla="*/ 229 w 376"/>
                    <a:gd name="T7" fmla="*/ 187 h 349"/>
                    <a:gd name="T8" fmla="*/ 247 w 376"/>
                    <a:gd name="T9" fmla="*/ 144 h 349"/>
                    <a:gd name="T10" fmla="*/ 259 w 376"/>
                    <a:gd name="T11" fmla="*/ 126 h 349"/>
                    <a:gd name="T12" fmla="*/ 253 w 376"/>
                    <a:gd name="T13" fmla="*/ 96 h 349"/>
                    <a:gd name="T14" fmla="*/ 257 w 376"/>
                    <a:gd name="T15" fmla="*/ 58 h 349"/>
                    <a:gd name="T16" fmla="*/ 188 w 376"/>
                    <a:gd name="T17" fmla="*/ 0 h 349"/>
                    <a:gd name="T18" fmla="*/ 120 w 376"/>
                    <a:gd name="T19" fmla="*/ 58 h 349"/>
                    <a:gd name="T20" fmla="*/ 123 w 376"/>
                    <a:gd name="T21" fmla="*/ 96 h 349"/>
                    <a:gd name="T22" fmla="*/ 117 w 376"/>
                    <a:gd name="T23" fmla="*/ 126 h 349"/>
                    <a:gd name="T24" fmla="*/ 129 w 376"/>
                    <a:gd name="T25" fmla="*/ 144 h 349"/>
                    <a:gd name="T26" fmla="*/ 147 w 376"/>
                    <a:gd name="T27" fmla="*/ 187 h 349"/>
                    <a:gd name="T28" fmla="*/ 147 w 376"/>
                    <a:gd name="T29" fmla="*/ 222 h 349"/>
                    <a:gd name="T30" fmla="*/ 102 w 376"/>
                    <a:gd name="T31" fmla="*/ 243 h 349"/>
                    <a:gd name="T32" fmla="*/ 47 w 376"/>
                    <a:gd name="T33" fmla="*/ 261 h 349"/>
                    <a:gd name="T34" fmla="*/ 0 w 376"/>
                    <a:gd name="T35" fmla="*/ 349 h 349"/>
                    <a:gd name="T36" fmla="*/ 188 w 376"/>
                    <a:gd name="T37" fmla="*/ 349 h 349"/>
                    <a:gd name="T38" fmla="*/ 376 w 376"/>
                    <a:gd name="T39" fmla="*/ 349 h 349"/>
                    <a:gd name="T40" fmla="*/ 329 w 376"/>
                    <a:gd name="T41" fmla="*/ 261 h 3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76" h="349">
                      <a:moveTo>
                        <a:pt x="329" y="261"/>
                      </a:moveTo>
                      <a:cubicBezTo>
                        <a:pt x="300" y="246"/>
                        <a:pt x="311" y="257"/>
                        <a:pt x="275" y="242"/>
                      </a:cubicBezTo>
                      <a:cubicBezTo>
                        <a:pt x="238" y="227"/>
                        <a:pt x="229" y="222"/>
                        <a:pt x="229" y="222"/>
                      </a:cubicBezTo>
                      <a:cubicBezTo>
                        <a:pt x="229" y="187"/>
                        <a:pt x="229" y="187"/>
                        <a:pt x="229" y="187"/>
                      </a:cubicBezTo>
                      <a:cubicBezTo>
                        <a:pt x="229" y="187"/>
                        <a:pt x="243" y="177"/>
                        <a:pt x="247" y="144"/>
                      </a:cubicBezTo>
                      <a:cubicBezTo>
                        <a:pt x="256" y="146"/>
                        <a:pt x="258" y="134"/>
                        <a:pt x="259" y="126"/>
                      </a:cubicBezTo>
                      <a:cubicBezTo>
                        <a:pt x="259" y="118"/>
                        <a:pt x="264" y="94"/>
                        <a:pt x="253" y="96"/>
                      </a:cubicBezTo>
                      <a:cubicBezTo>
                        <a:pt x="256" y="80"/>
                        <a:pt x="257" y="65"/>
                        <a:pt x="257" y="58"/>
                      </a:cubicBezTo>
                      <a:cubicBezTo>
                        <a:pt x="254" y="31"/>
                        <a:pt x="235" y="2"/>
                        <a:pt x="188" y="0"/>
                      </a:cubicBezTo>
                      <a:cubicBezTo>
                        <a:pt x="148" y="2"/>
                        <a:pt x="122" y="31"/>
                        <a:pt x="120" y="58"/>
                      </a:cubicBezTo>
                      <a:cubicBezTo>
                        <a:pt x="119" y="65"/>
                        <a:pt x="121" y="80"/>
                        <a:pt x="123" y="96"/>
                      </a:cubicBezTo>
                      <a:cubicBezTo>
                        <a:pt x="112" y="94"/>
                        <a:pt x="117" y="118"/>
                        <a:pt x="117" y="126"/>
                      </a:cubicBezTo>
                      <a:cubicBezTo>
                        <a:pt x="118" y="134"/>
                        <a:pt x="121" y="146"/>
                        <a:pt x="129" y="144"/>
                      </a:cubicBezTo>
                      <a:cubicBezTo>
                        <a:pt x="133" y="177"/>
                        <a:pt x="147" y="187"/>
                        <a:pt x="147" y="187"/>
                      </a:cubicBezTo>
                      <a:cubicBezTo>
                        <a:pt x="147" y="222"/>
                        <a:pt x="147" y="222"/>
                        <a:pt x="147" y="222"/>
                      </a:cubicBezTo>
                      <a:cubicBezTo>
                        <a:pt x="147" y="222"/>
                        <a:pt x="138" y="228"/>
                        <a:pt x="102" y="243"/>
                      </a:cubicBezTo>
                      <a:cubicBezTo>
                        <a:pt x="65" y="258"/>
                        <a:pt x="77" y="246"/>
                        <a:pt x="47" y="261"/>
                      </a:cubicBezTo>
                      <a:cubicBezTo>
                        <a:pt x="0" y="284"/>
                        <a:pt x="0" y="349"/>
                        <a:pt x="0" y="349"/>
                      </a:cubicBezTo>
                      <a:cubicBezTo>
                        <a:pt x="188" y="349"/>
                        <a:pt x="188" y="349"/>
                        <a:pt x="188" y="349"/>
                      </a:cubicBezTo>
                      <a:cubicBezTo>
                        <a:pt x="376" y="349"/>
                        <a:pt x="376" y="349"/>
                        <a:pt x="376" y="349"/>
                      </a:cubicBezTo>
                      <a:cubicBezTo>
                        <a:pt x="376" y="349"/>
                        <a:pt x="376" y="284"/>
                        <a:pt x="329" y="261"/>
                      </a:cubicBezTo>
                      <a:close/>
                    </a:path>
                  </a:pathLst>
                </a:custGeom>
                <a:solidFill>
                  <a:srgbClr val="FFFFFF">
                    <a:lumMod val="95000"/>
                  </a:srgb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17" name="组合 16"/>
              <p:cNvGrpSpPr/>
              <p:nvPr/>
            </p:nvGrpSpPr>
            <p:grpSpPr>
              <a:xfrm>
                <a:off x="2482954" y="2491314"/>
                <a:ext cx="695761" cy="695761"/>
                <a:chOff x="2482954" y="2347628"/>
                <a:chExt cx="839448" cy="839448"/>
              </a:xfrm>
            </p:grpSpPr>
            <p:sp>
              <p:nvSpPr>
                <p:cNvPr id="18" name="椭圆 17"/>
                <p:cNvSpPr/>
                <p:nvPr/>
              </p:nvSpPr>
              <p:spPr>
                <a:xfrm>
                  <a:off x="2482954" y="2347628"/>
                  <a:ext cx="839448" cy="839448"/>
                </a:xfrm>
                <a:prstGeom prst="ellipse">
                  <a:avLst/>
                </a:prstGeom>
                <a:solidFill>
                  <a:srgbClr val="6A7682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" name="Freeform 112"/>
                <p:cNvSpPr/>
                <p:nvPr/>
              </p:nvSpPr>
              <p:spPr bwMode="auto">
                <a:xfrm>
                  <a:off x="2609127" y="2510482"/>
                  <a:ext cx="559845" cy="491103"/>
                </a:xfrm>
                <a:custGeom>
                  <a:avLst/>
                  <a:gdLst>
                    <a:gd name="T0" fmla="*/ 3 w 380"/>
                    <a:gd name="T1" fmla="*/ 333 h 333"/>
                    <a:gd name="T2" fmla="*/ 34 w 380"/>
                    <a:gd name="T3" fmla="*/ 298 h 333"/>
                    <a:gd name="T4" fmla="*/ 108 w 380"/>
                    <a:gd name="T5" fmla="*/ 264 h 333"/>
                    <a:gd name="T6" fmla="*/ 111 w 380"/>
                    <a:gd name="T7" fmla="*/ 232 h 333"/>
                    <a:gd name="T8" fmla="*/ 140 w 380"/>
                    <a:gd name="T9" fmla="*/ 230 h 333"/>
                    <a:gd name="T10" fmla="*/ 144 w 380"/>
                    <a:gd name="T11" fmla="*/ 199 h 333"/>
                    <a:gd name="T12" fmla="*/ 126 w 380"/>
                    <a:gd name="T13" fmla="*/ 159 h 333"/>
                    <a:gd name="T14" fmla="*/ 117 w 380"/>
                    <a:gd name="T15" fmla="*/ 122 h 333"/>
                    <a:gd name="T16" fmla="*/ 123 w 380"/>
                    <a:gd name="T17" fmla="*/ 117 h 333"/>
                    <a:gd name="T18" fmla="*/ 124 w 380"/>
                    <a:gd name="T19" fmla="*/ 58 h 333"/>
                    <a:gd name="T20" fmla="*/ 231 w 380"/>
                    <a:gd name="T21" fmla="*/ 0 h 333"/>
                    <a:gd name="T22" fmla="*/ 222 w 380"/>
                    <a:gd name="T23" fmla="*/ 12 h 333"/>
                    <a:gd name="T24" fmla="*/ 260 w 380"/>
                    <a:gd name="T25" fmla="*/ 66 h 333"/>
                    <a:gd name="T26" fmla="*/ 260 w 380"/>
                    <a:gd name="T27" fmla="*/ 117 h 333"/>
                    <a:gd name="T28" fmla="*/ 265 w 380"/>
                    <a:gd name="T29" fmla="*/ 139 h 333"/>
                    <a:gd name="T30" fmla="*/ 256 w 380"/>
                    <a:gd name="T31" fmla="*/ 161 h 333"/>
                    <a:gd name="T32" fmla="*/ 242 w 380"/>
                    <a:gd name="T33" fmla="*/ 197 h 333"/>
                    <a:gd name="T34" fmla="*/ 241 w 380"/>
                    <a:gd name="T35" fmla="*/ 230 h 333"/>
                    <a:gd name="T36" fmla="*/ 269 w 380"/>
                    <a:gd name="T37" fmla="*/ 233 h 333"/>
                    <a:gd name="T38" fmla="*/ 274 w 380"/>
                    <a:gd name="T39" fmla="*/ 261 h 333"/>
                    <a:gd name="T40" fmla="*/ 361 w 380"/>
                    <a:gd name="T41" fmla="*/ 304 h 333"/>
                    <a:gd name="T42" fmla="*/ 379 w 380"/>
                    <a:gd name="T43" fmla="*/ 333 h 333"/>
                    <a:gd name="T44" fmla="*/ 3 w 380"/>
                    <a:gd name="T45" fmla="*/ 333 h 3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380" h="333">
                      <a:moveTo>
                        <a:pt x="3" y="333"/>
                      </a:moveTo>
                      <a:cubicBezTo>
                        <a:pt x="3" y="333"/>
                        <a:pt x="0" y="317"/>
                        <a:pt x="34" y="298"/>
                      </a:cubicBezTo>
                      <a:cubicBezTo>
                        <a:pt x="34" y="298"/>
                        <a:pt x="66" y="282"/>
                        <a:pt x="108" y="264"/>
                      </a:cubicBezTo>
                      <a:cubicBezTo>
                        <a:pt x="111" y="232"/>
                        <a:pt x="111" y="232"/>
                        <a:pt x="111" y="232"/>
                      </a:cubicBezTo>
                      <a:cubicBezTo>
                        <a:pt x="140" y="230"/>
                        <a:pt x="140" y="230"/>
                        <a:pt x="140" y="230"/>
                      </a:cubicBezTo>
                      <a:cubicBezTo>
                        <a:pt x="144" y="199"/>
                        <a:pt x="144" y="199"/>
                        <a:pt x="144" y="199"/>
                      </a:cubicBezTo>
                      <a:cubicBezTo>
                        <a:pt x="144" y="199"/>
                        <a:pt x="128" y="190"/>
                        <a:pt x="126" y="159"/>
                      </a:cubicBezTo>
                      <a:cubicBezTo>
                        <a:pt x="126" y="159"/>
                        <a:pt x="118" y="148"/>
                        <a:pt x="117" y="122"/>
                      </a:cubicBezTo>
                      <a:cubicBezTo>
                        <a:pt x="117" y="122"/>
                        <a:pt x="118" y="113"/>
                        <a:pt x="123" y="117"/>
                      </a:cubicBezTo>
                      <a:cubicBezTo>
                        <a:pt x="124" y="58"/>
                        <a:pt x="124" y="58"/>
                        <a:pt x="124" y="58"/>
                      </a:cubicBezTo>
                      <a:cubicBezTo>
                        <a:pt x="124" y="58"/>
                        <a:pt x="121" y="6"/>
                        <a:pt x="231" y="0"/>
                      </a:cubicBezTo>
                      <a:cubicBezTo>
                        <a:pt x="231" y="0"/>
                        <a:pt x="216" y="9"/>
                        <a:pt x="222" y="12"/>
                      </a:cubicBezTo>
                      <a:cubicBezTo>
                        <a:pt x="222" y="12"/>
                        <a:pt x="268" y="42"/>
                        <a:pt x="260" y="66"/>
                      </a:cubicBezTo>
                      <a:cubicBezTo>
                        <a:pt x="260" y="117"/>
                        <a:pt x="260" y="117"/>
                        <a:pt x="260" y="117"/>
                      </a:cubicBezTo>
                      <a:cubicBezTo>
                        <a:pt x="260" y="117"/>
                        <a:pt x="272" y="111"/>
                        <a:pt x="265" y="139"/>
                      </a:cubicBezTo>
                      <a:cubicBezTo>
                        <a:pt x="265" y="139"/>
                        <a:pt x="263" y="161"/>
                        <a:pt x="256" y="161"/>
                      </a:cubicBezTo>
                      <a:cubicBezTo>
                        <a:pt x="256" y="161"/>
                        <a:pt x="253" y="188"/>
                        <a:pt x="242" y="197"/>
                      </a:cubicBezTo>
                      <a:cubicBezTo>
                        <a:pt x="241" y="230"/>
                        <a:pt x="241" y="230"/>
                        <a:pt x="241" y="230"/>
                      </a:cubicBezTo>
                      <a:cubicBezTo>
                        <a:pt x="269" y="233"/>
                        <a:pt x="269" y="233"/>
                        <a:pt x="269" y="233"/>
                      </a:cubicBezTo>
                      <a:cubicBezTo>
                        <a:pt x="274" y="261"/>
                        <a:pt x="274" y="261"/>
                        <a:pt x="274" y="261"/>
                      </a:cubicBezTo>
                      <a:cubicBezTo>
                        <a:pt x="274" y="261"/>
                        <a:pt x="348" y="297"/>
                        <a:pt x="361" y="304"/>
                      </a:cubicBezTo>
                      <a:cubicBezTo>
                        <a:pt x="361" y="304"/>
                        <a:pt x="380" y="320"/>
                        <a:pt x="379" y="333"/>
                      </a:cubicBezTo>
                      <a:lnTo>
                        <a:pt x="3" y="33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</p:grpSp>
      <p:sp>
        <p:nvSpPr>
          <p:cNvPr id="38" name="文本框 37"/>
          <p:cNvSpPr txBox="1"/>
          <p:nvPr/>
        </p:nvSpPr>
        <p:spPr>
          <a:xfrm>
            <a:off x="478554" y="4523143"/>
            <a:ext cx="25344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薪资平平，经常租赁各种物品，但苦于平台繁多，找寻租赁困难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365315" y="4521200"/>
            <a:ext cx="25365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曾在某租赁开展短租产品业务，但由于租赁模式单一，无法支持客户需要，业绩不佳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253925" y="4521200"/>
            <a:ext cx="2470659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热爱旅游，经常进行异地房屋租赁，但是往往找房，租房，退房体验不佳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142536" y="4521200"/>
            <a:ext cx="2497468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经常购买游戏卡带，光碟，闲置时希望能够出租卡带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3" name="直接连接符 42"/>
          <p:cNvCxnSpPr/>
          <p:nvPr/>
        </p:nvCxnSpPr>
        <p:spPr>
          <a:xfrm>
            <a:off x="3169730" y="3951141"/>
            <a:ext cx="0" cy="1653515"/>
          </a:xfrm>
          <a:prstGeom prst="line">
            <a:avLst/>
          </a:prstGeom>
          <a:ln w="28575">
            <a:solidFill>
              <a:srgbClr val="2ABD82">
                <a:alpha val="9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6058568" y="3949700"/>
            <a:ext cx="0" cy="1653515"/>
          </a:xfrm>
          <a:prstGeom prst="line">
            <a:avLst/>
          </a:prstGeom>
          <a:ln w="28575">
            <a:solidFill>
              <a:srgbClr val="2ABD82">
                <a:alpha val="9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8948031" y="3949700"/>
            <a:ext cx="0" cy="1653515"/>
          </a:xfrm>
          <a:prstGeom prst="line">
            <a:avLst/>
          </a:prstGeom>
          <a:ln w="28575">
            <a:solidFill>
              <a:srgbClr val="2ABD82">
                <a:alpha val="9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/>
          <p:cNvGrpSpPr/>
          <p:nvPr/>
        </p:nvGrpSpPr>
        <p:grpSpPr>
          <a:xfrm>
            <a:off x="1398824" y="5988995"/>
            <a:ext cx="9407961" cy="0"/>
            <a:chOff x="1727201" y="6444343"/>
            <a:chExt cx="8602750" cy="0"/>
          </a:xfrm>
        </p:grpSpPr>
        <p:cxnSp>
          <p:nvCxnSpPr>
            <p:cNvPr id="49" name="直接连接符 48"/>
            <p:cNvCxnSpPr/>
            <p:nvPr/>
          </p:nvCxnSpPr>
          <p:spPr>
            <a:xfrm>
              <a:off x="1727201" y="6444343"/>
              <a:ext cx="2866955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>
              <a:off x="4594156" y="6444343"/>
              <a:ext cx="2866955" cy="0"/>
            </a:xfrm>
            <a:prstGeom prst="line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7462996" y="6444343"/>
              <a:ext cx="2866955" cy="0"/>
            </a:xfrm>
            <a:prstGeom prst="line">
              <a:avLst/>
            </a:prstGeom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矩形 4"/>
          <p:cNvSpPr/>
          <p:nvPr/>
        </p:nvSpPr>
        <p:spPr>
          <a:xfrm>
            <a:off x="478554" y="140293"/>
            <a:ext cx="2429569" cy="584775"/>
          </a:xfrm>
          <a:prstGeom prst="rect">
            <a:avLst/>
          </a:prstGeom>
          <a:solidFill>
            <a:srgbClr val="4CC1D0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478790" y="137795"/>
            <a:ext cx="24295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典型用户画像</a:t>
            </a:r>
            <a:endParaRPr lang="zh-CN" altLang="en-US" sz="2800" dirty="0">
              <a:solidFill>
                <a:schemeClr val="bg1"/>
              </a:solidFill>
              <a:ea typeface="造字工房悦黑体验版细体" pitchFamily="2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H="1" flipV="1">
            <a:off x="478790" y="853440"/>
            <a:ext cx="2451100" cy="5715"/>
          </a:xfrm>
          <a:prstGeom prst="line">
            <a:avLst/>
          </a:prstGeom>
          <a:ln w="15875">
            <a:solidFill>
              <a:srgbClr val="54C3D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roup 211"/>
          <p:cNvGrpSpPr/>
          <p:nvPr/>
        </p:nvGrpSpPr>
        <p:grpSpPr>
          <a:xfrm>
            <a:off x="806450" y="1962150"/>
            <a:ext cx="2365202" cy="1976755"/>
            <a:chOff x="1436000" y="2261879"/>
            <a:chExt cx="2897763" cy="2421717"/>
          </a:xfrm>
        </p:grpSpPr>
        <p:sp>
          <p:nvSpPr>
            <p:cNvPr id="199" name="Rounded Rectangle 198"/>
            <p:cNvSpPr/>
            <p:nvPr/>
          </p:nvSpPr>
          <p:spPr>
            <a:xfrm>
              <a:off x="1436000" y="2261879"/>
              <a:ext cx="2798394" cy="2421717"/>
            </a:xfrm>
            <a:prstGeom prst="roundRect">
              <a:avLst>
                <a:gd name="adj" fmla="val 6328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微软雅黑" panose="020B0503020204020204" pitchFamily="34" charset="-122"/>
              </a:endParaRPr>
            </a:p>
          </p:txBody>
        </p:sp>
        <p:grpSp>
          <p:nvGrpSpPr>
            <p:cNvPr id="202" name="Group 201"/>
            <p:cNvGrpSpPr/>
            <p:nvPr/>
          </p:nvGrpSpPr>
          <p:grpSpPr>
            <a:xfrm>
              <a:off x="1704787" y="2516874"/>
              <a:ext cx="2628976" cy="1995362"/>
              <a:chOff x="1188680" y="2963462"/>
              <a:chExt cx="2628976" cy="1995362"/>
            </a:xfrm>
          </p:grpSpPr>
          <p:sp>
            <p:nvSpPr>
              <p:cNvPr id="203" name="Text Placeholder 2"/>
              <p:cNvSpPr txBox="1"/>
              <p:nvPr/>
            </p:nvSpPr>
            <p:spPr>
              <a:xfrm>
                <a:off x="1188680" y="2963462"/>
                <a:ext cx="2231875" cy="1016913"/>
              </a:xfrm>
              <a:prstGeom prst="rect">
                <a:avLst/>
              </a:prstGeom>
            </p:spPr>
            <p:txBody>
              <a:bodyPr/>
              <a:lstStyle>
                <a:lvl1pPr marL="0" indent="0" algn="ctr" defTabSz="914400" rtl="0" eaLnBrk="1" latinLnBrk="0" hangingPunct="1">
                  <a:lnSpc>
                    <a:spcPct val="6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800" b="0" i="0" kern="1200">
                    <a:solidFill>
                      <a:schemeClr val="tx1"/>
                    </a:solidFill>
                    <a:latin typeface="SF UI Display Thin" charset="0"/>
                    <a:ea typeface="SF UI Display Thin" charset="0"/>
                    <a:cs typeface="SF UI Display Thin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zh-CN" altLang="en-US" sz="2400" dirty="0">
                    <a:solidFill>
                      <a:srgbClr val="FE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Roboto Condensed Light" charset="0"/>
                  </a:rPr>
                  <a:t>品类繁多</a:t>
                </a:r>
                <a:endParaRPr lang="zh-CN" altLang="en-US" sz="2400" dirty="0">
                  <a:solidFill>
                    <a:srgbClr val="FE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 Condensed Light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zh-CN" altLang="en-US" sz="2400" dirty="0">
                    <a:solidFill>
                      <a:srgbClr val="FE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Roboto Condensed Light" charset="0"/>
                  </a:rPr>
                  <a:t>平台混乱</a:t>
                </a:r>
                <a:endParaRPr lang="zh-CN" altLang="en-US" sz="2400" dirty="0">
                  <a:solidFill>
                    <a:srgbClr val="FE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 Condensed Light" charset="0"/>
                </a:endParaRPr>
              </a:p>
            </p:txBody>
          </p:sp>
          <p:sp>
            <p:nvSpPr>
              <p:cNvPr id="204" name="Title 1"/>
              <p:cNvSpPr txBox="1"/>
              <p:nvPr/>
            </p:nvSpPr>
            <p:spPr>
              <a:xfrm>
                <a:off x="2626394" y="4025680"/>
                <a:ext cx="1191262" cy="933144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800" b="0" i="0" kern="1200">
                    <a:solidFill>
                      <a:schemeClr val="tx1"/>
                    </a:solidFill>
                    <a:latin typeface="SF UI Display Thin" charset="0"/>
                    <a:ea typeface="SF UI Display Thin" charset="0"/>
                    <a:cs typeface="SF UI Display Thin" charset="0"/>
                  </a:defRPr>
                </a:lvl1pPr>
              </a:lstStyle>
              <a:p>
                <a:r>
                  <a:rPr lang="en-US" sz="5400" dirty="0">
                    <a:solidFill>
                      <a:srgbClr val="FEFFFF"/>
                    </a:solidFill>
                    <a:latin typeface="linea-arrows-10" charset="0"/>
                    <a:ea typeface="linea-arrows-10" charset="0"/>
                    <a:cs typeface="linea-arrows-10" charset="0"/>
                  </a:rPr>
                  <a:t>p</a:t>
                </a:r>
                <a:endParaRPr lang="en-US" sz="5400" dirty="0">
                  <a:solidFill>
                    <a:srgbClr val="FE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 Condensed Light" charset="0"/>
                </a:endParaRPr>
              </a:p>
            </p:txBody>
          </p:sp>
        </p:grpSp>
      </p:grpSp>
      <p:grpSp>
        <p:nvGrpSpPr>
          <p:cNvPr id="213" name="Group 212"/>
          <p:cNvGrpSpPr/>
          <p:nvPr/>
        </p:nvGrpSpPr>
        <p:grpSpPr>
          <a:xfrm>
            <a:off x="3563832" y="1962150"/>
            <a:ext cx="2284095" cy="1976755"/>
            <a:chOff x="4691338" y="2261879"/>
            <a:chExt cx="2798394" cy="2421717"/>
          </a:xfrm>
        </p:grpSpPr>
        <p:sp>
          <p:nvSpPr>
            <p:cNvPr id="200" name="Rounded Rectangle 199"/>
            <p:cNvSpPr/>
            <p:nvPr/>
          </p:nvSpPr>
          <p:spPr>
            <a:xfrm>
              <a:off x="4691338" y="2261879"/>
              <a:ext cx="2798394" cy="2421717"/>
            </a:xfrm>
            <a:prstGeom prst="roundRect">
              <a:avLst>
                <a:gd name="adj" fmla="val 6328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207" name="Text Placeholder 2"/>
            <p:cNvSpPr txBox="1"/>
            <p:nvPr/>
          </p:nvSpPr>
          <p:spPr>
            <a:xfrm>
              <a:off x="4880442" y="2516874"/>
              <a:ext cx="2550996" cy="1016763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6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b="0" i="0" kern="1200">
                  <a:solidFill>
                    <a:schemeClr val="tx1"/>
                  </a:solidFill>
                  <a:latin typeface="SF UI Display Thin" charset="0"/>
                  <a:ea typeface="SF UI Display Thin" charset="0"/>
                  <a:cs typeface="SF UI Display Thin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400" dirty="0">
                  <a:solidFill>
                    <a:srgbClr val="FE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 Condensed Light" charset="0"/>
                </a:rPr>
                <a:t>传统难以革新</a:t>
              </a:r>
              <a:endParaRPr lang="zh-CN" altLang="en-US" sz="2400" dirty="0">
                <a:solidFill>
                  <a:srgbClr val="FE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Condensed Light" charset="0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400" dirty="0">
                  <a:solidFill>
                    <a:srgbClr val="FE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 Condensed Light" charset="0"/>
                </a:rPr>
                <a:t>租赁业务僵硬</a:t>
              </a:r>
              <a:endParaRPr lang="en-US" altLang="zh-CN" sz="2400" dirty="0">
                <a:solidFill>
                  <a:srgbClr val="FE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Condensed Light" charset="0"/>
              </a:endParaRPr>
            </a:p>
          </p:txBody>
        </p:sp>
      </p:grpSp>
      <p:grpSp>
        <p:nvGrpSpPr>
          <p:cNvPr id="214" name="Group 213"/>
          <p:cNvGrpSpPr/>
          <p:nvPr/>
        </p:nvGrpSpPr>
        <p:grpSpPr>
          <a:xfrm>
            <a:off x="6321214" y="1962150"/>
            <a:ext cx="2284095" cy="1976755"/>
            <a:chOff x="7946676" y="2261879"/>
            <a:chExt cx="2798394" cy="2421717"/>
          </a:xfrm>
        </p:grpSpPr>
        <p:sp>
          <p:nvSpPr>
            <p:cNvPr id="201" name="Rounded Rectangle 200"/>
            <p:cNvSpPr/>
            <p:nvPr/>
          </p:nvSpPr>
          <p:spPr>
            <a:xfrm>
              <a:off x="7946676" y="2261879"/>
              <a:ext cx="2798394" cy="2421717"/>
            </a:xfrm>
            <a:prstGeom prst="roundRect">
              <a:avLst>
                <a:gd name="adj" fmla="val 6328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210" name="Text Placeholder 2"/>
            <p:cNvSpPr txBox="1"/>
            <p:nvPr/>
          </p:nvSpPr>
          <p:spPr>
            <a:xfrm>
              <a:off x="8192561" y="2516874"/>
              <a:ext cx="2551774" cy="1016763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6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b="0" i="0" kern="1200">
                  <a:solidFill>
                    <a:schemeClr val="tx1"/>
                  </a:solidFill>
                  <a:latin typeface="SF UI Display Thin" charset="0"/>
                  <a:ea typeface="SF UI Display Thin" charset="0"/>
                  <a:cs typeface="SF UI Display Thin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400" dirty="0">
                  <a:solidFill>
                    <a:srgbClr val="FE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 Condensed Light" charset="0"/>
                  <a:sym typeface="+mn-ea"/>
                </a:rPr>
                <a:t>平台服务迟钝</a:t>
              </a:r>
              <a:endParaRPr lang="zh-CN" altLang="en-US" sz="2400" dirty="0">
                <a:solidFill>
                  <a:srgbClr val="FE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Condensed Light" charset="0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400" dirty="0">
                  <a:solidFill>
                    <a:srgbClr val="FE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 Condensed Light" charset="0"/>
                </a:rPr>
                <a:t>租后体验差</a:t>
              </a:r>
              <a:endParaRPr lang="zh-CN" altLang="en-US" sz="2400" dirty="0">
                <a:solidFill>
                  <a:srgbClr val="FE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Condensed Light" charset="0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endParaRPr lang="zh-CN" altLang="en-US" sz="2400" dirty="0">
                <a:solidFill>
                  <a:srgbClr val="FE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Condensed Light" charset="0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endParaRPr lang="zh-CN" altLang="en-US" sz="2400" dirty="0">
                <a:solidFill>
                  <a:srgbClr val="FE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Condensed Light" charset="0"/>
              </a:endParaRPr>
            </a:p>
          </p:txBody>
        </p:sp>
      </p:grpSp>
      <p:grpSp>
        <p:nvGrpSpPr>
          <p:cNvPr id="50" name="Group 49"/>
          <p:cNvGrpSpPr>
            <a:grpSpLocks noChangeAspect="1"/>
          </p:cNvGrpSpPr>
          <p:nvPr/>
        </p:nvGrpSpPr>
        <p:grpSpPr bwMode="auto">
          <a:xfrm>
            <a:off x="806450" y="3380105"/>
            <a:ext cx="864235" cy="1818005"/>
            <a:chOff x="3549" y="-478"/>
            <a:chExt cx="2281" cy="4798"/>
          </a:xfrm>
        </p:grpSpPr>
        <p:sp>
          <p:nvSpPr>
            <p:cNvPr id="51" name="AutoShape 361"/>
            <p:cNvSpPr>
              <a:spLocks noChangeAspect="1" noChangeArrowheads="1" noTextEdit="1"/>
            </p:cNvSpPr>
            <p:nvPr/>
          </p:nvSpPr>
          <p:spPr bwMode="auto">
            <a:xfrm>
              <a:off x="3549" y="-478"/>
              <a:ext cx="2281" cy="47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52" name="Freeform 363"/>
            <p:cNvSpPr/>
            <p:nvPr/>
          </p:nvSpPr>
          <p:spPr bwMode="auto">
            <a:xfrm>
              <a:off x="3535" y="2685"/>
              <a:ext cx="2269" cy="1633"/>
            </a:xfrm>
            <a:custGeom>
              <a:avLst/>
              <a:gdLst>
                <a:gd name="T0" fmla="*/ 598 w 958"/>
                <a:gd name="T1" fmla="*/ 219 h 690"/>
                <a:gd name="T2" fmla="*/ 706 w 958"/>
                <a:gd name="T3" fmla="*/ 234 h 690"/>
                <a:gd name="T4" fmla="*/ 812 w 958"/>
                <a:gd name="T5" fmla="*/ 337 h 690"/>
                <a:gd name="T6" fmla="*/ 833 w 958"/>
                <a:gd name="T7" fmla="*/ 407 h 690"/>
                <a:gd name="T8" fmla="*/ 848 w 958"/>
                <a:gd name="T9" fmla="*/ 420 h 690"/>
                <a:gd name="T10" fmla="*/ 872 w 958"/>
                <a:gd name="T11" fmla="*/ 452 h 690"/>
                <a:gd name="T12" fmla="*/ 839 w 958"/>
                <a:gd name="T13" fmla="*/ 458 h 690"/>
                <a:gd name="T14" fmla="*/ 798 w 958"/>
                <a:gd name="T15" fmla="*/ 429 h 690"/>
                <a:gd name="T16" fmla="*/ 777 w 958"/>
                <a:gd name="T17" fmla="*/ 431 h 690"/>
                <a:gd name="T18" fmla="*/ 797 w 958"/>
                <a:gd name="T19" fmla="*/ 406 h 690"/>
                <a:gd name="T20" fmla="*/ 760 w 958"/>
                <a:gd name="T21" fmla="*/ 342 h 690"/>
                <a:gd name="T22" fmla="*/ 713 w 958"/>
                <a:gd name="T23" fmla="*/ 303 h 690"/>
                <a:gd name="T24" fmla="*/ 741 w 958"/>
                <a:gd name="T25" fmla="*/ 393 h 690"/>
                <a:gd name="T26" fmla="*/ 835 w 958"/>
                <a:gd name="T27" fmla="*/ 633 h 690"/>
                <a:gd name="T28" fmla="*/ 862 w 958"/>
                <a:gd name="T29" fmla="*/ 668 h 690"/>
                <a:gd name="T30" fmla="*/ 947 w 958"/>
                <a:gd name="T31" fmla="*/ 682 h 690"/>
                <a:gd name="T32" fmla="*/ 801 w 958"/>
                <a:gd name="T33" fmla="*/ 683 h 690"/>
                <a:gd name="T34" fmla="*/ 761 w 958"/>
                <a:gd name="T35" fmla="*/ 671 h 690"/>
                <a:gd name="T36" fmla="*/ 744 w 958"/>
                <a:gd name="T37" fmla="*/ 636 h 690"/>
                <a:gd name="T38" fmla="*/ 628 w 958"/>
                <a:gd name="T39" fmla="*/ 428 h 690"/>
                <a:gd name="T40" fmla="*/ 620 w 958"/>
                <a:gd name="T41" fmla="*/ 486 h 690"/>
                <a:gd name="T42" fmla="*/ 708 w 958"/>
                <a:gd name="T43" fmla="*/ 671 h 690"/>
                <a:gd name="T44" fmla="*/ 707 w 958"/>
                <a:gd name="T45" fmla="*/ 673 h 690"/>
                <a:gd name="T46" fmla="*/ 566 w 958"/>
                <a:gd name="T47" fmla="*/ 690 h 690"/>
                <a:gd name="T48" fmla="*/ 596 w 958"/>
                <a:gd name="T49" fmla="*/ 669 h 690"/>
                <a:gd name="T50" fmla="*/ 598 w 958"/>
                <a:gd name="T51" fmla="*/ 667 h 690"/>
                <a:gd name="T52" fmla="*/ 512 w 958"/>
                <a:gd name="T53" fmla="*/ 488 h 690"/>
                <a:gd name="T54" fmla="*/ 451 w 958"/>
                <a:gd name="T55" fmla="*/ 388 h 690"/>
                <a:gd name="T56" fmla="*/ 202 w 958"/>
                <a:gd name="T57" fmla="*/ 302 h 690"/>
                <a:gd name="T58" fmla="*/ 157 w 958"/>
                <a:gd name="T59" fmla="*/ 293 h 690"/>
                <a:gd name="T60" fmla="*/ 104 w 958"/>
                <a:gd name="T61" fmla="*/ 248 h 690"/>
                <a:gd name="T62" fmla="*/ 13 w 958"/>
                <a:gd name="T63" fmla="*/ 213 h 690"/>
                <a:gd name="T64" fmla="*/ 18 w 958"/>
                <a:gd name="T65" fmla="*/ 197 h 690"/>
                <a:gd name="T66" fmla="*/ 59 w 958"/>
                <a:gd name="T67" fmla="*/ 200 h 690"/>
                <a:gd name="T68" fmla="*/ 105 w 958"/>
                <a:gd name="T69" fmla="*/ 204 h 690"/>
                <a:gd name="T70" fmla="*/ 137 w 958"/>
                <a:gd name="T71" fmla="*/ 229 h 690"/>
                <a:gd name="T72" fmla="*/ 139 w 958"/>
                <a:gd name="T73" fmla="*/ 242 h 690"/>
                <a:gd name="T74" fmla="*/ 379 w 958"/>
                <a:gd name="T75" fmla="*/ 234 h 690"/>
                <a:gd name="T76" fmla="*/ 475 w 958"/>
                <a:gd name="T77" fmla="*/ 218 h 690"/>
                <a:gd name="T78" fmla="*/ 487 w 958"/>
                <a:gd name="T79" fmla="*/ 205 h 690"/>
                <a:gd name="T80" fmla="*/ 338 w 958"/>
                <a:gd name="T81" fmla="*/ 162 h 690"/>
                <a:gd name="T82" fmla="*/ 297 w 958"/>
                <a:gd name="T83" fmla="*/ 134 h 690"/>
                <a:gd name="T84" fmla="*/ 270 w 958"/>
                <a:gd name="T85" fmla="*/ 100 h 690"/>
                <a:gd name="T86" fmla="*/ 272 w 958"/>
                <a:gd name="T87" fmla="*/ 85 h 690"/>
                <a:gd name="T88" fmla="*/ 187 w 958"/>
                <a:gd name="T89" fmla="*/ 45 h 690"/>
                <a:gd name="T90" fmla="*/ 193 w 958"/>
                <a:gd name="T91" fmla="*/ 29 h 690"/>
                <a:gd name="T92" fmla="*/ 309 w 958"/>
                <a:gd name="T93" fmla="*/ 12 h 690"/>
                <a:gd name="T94" fmla="*/ 373 w 958"/>
                <a:gd name="T95" fmla="*/ 1 h 690"/>
                <a:gd name="T96" fmla="*/ 655 w 958"/>
                <a:gd name="T97" fmla="*/ 23 h 690"/>
                <a:gd name="T98" fmla="*/ 712 w 958"/>
                <a:gd name="T99" fmla="*/ 94 h 690"/>
                <a:gd name="T100" fmla="*/ 715 w 958"/>
                <a:gd name="T101" fmla="*/ 100 h 690"/>
                <a:gd name="T102" fmla="*/ 715 w 958"/>
                <a:gd name="T103" fmla="*/ 134 h 690"/>
                <a:gd name="T104" fmla="*/ 709 w 958"/>
                <a:gd name="T105" fmla="*/ 140 h 690"/>
                <a:gd name="T106" fmla="*/ 572 w 958"/>
                <a:gd name="T107" fmla="*/ 192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58" h="690">
                  <a:moveTo>
                    <a:pt x="577" y="205"/>
                  </a:moveTo>
                  <a:cubicBezTo>
                    <a:pt x="579" y="211"/>
                    <a:pt x="588" y="216"/>
                    <a:pt x="598" y="219"/>
                  </a:cubicBezTo>
                  <a:cubicBezTo>
                    <a:pt x="599" y="219"/>
                    <a:pt x="599" y="219"/>
                    <a:pt x="599" y="218"/>
                  </a:cubicBezTo>
                  <a:cubicBezTo>
                    <a:pt x="637" y="222"/>
                    <a:pt x="678" y="228"/>
                    <a:pt x="706" y="234"/>
                  </a:cubicBezTo>
                  <a:cubicBezTo>
                    <a:pt x="709" y="234"/>
                    <a:pt x="711" y="235"/>
                    <a:pt x="713" y="236"/>
                  </a:cubicBezTo>
                  <a:cubicBezTo>
                    <a:pt x="735" y="249"/>
                    <a:pt x="801" y="329"/>
                    <a:pt x="812" y="337"/>
                  </a:cubicBezTo>
                  <a:cubicBezTo>
                    <a:pt x="814" y="339"/>
                    <a:pt x="815" y="342"/>
                    <a:pt x="813" y="344"/>
                  </a:cubicBezTo>
                  <a:cubicBezTo>
                    <a:pt x="819" y="358"/>
                    <a:pt x="833" y="407"/>
                    <a:pt x="833" y="407"/>
                  </a:cubicBezTo>
                  <a:cubicBezTo>
                    <a:pt x="825" y="406"/>
                    <a:pt x="825" y="406"/>
                    <a:pt x="825" y="406"/>
                  </a:cubicBezTo>
                  <a:cubicBezTo>
                    <a:pt x="830" y="411"/>
                    <a:pt x="837" y="416"/>
                    <a:pt x="848" y="420"/>
                  </a:cubicBezTo>
                  <a:cubicBezTo>
                    <a:pt x="865" y="426"/>
                    <a:pt x="875" y="439"/>
                    <a:pt x="878" y="445"/>
                  </a:cubicBezTo>
                  <a:cubicBezTo>
                    <a:pt x="882" y="450"/>
                    <a:pt x="876" y="454"/>
                    <a:pt x="872" y="452"/>
                  </a:cubicBezTo>
                  <a:cubicBezTo>
                    <a:pt x="878" y="458"/>
                    <a:pt x="865" y="462"/>
                    <a:pt x="858" y="458"/>
                  </a:cubicBezTo>
                  <a:cubicBezTo>
                    <a:pt x="856" y="463"/>
                    <a:pt x="843" y="465"/>
                    <a:pt x="839" y="458"/>
                  </a:cubicBezTo>
                  <a:cubicBezTo>
                    <a:pt x="828" y="464"/>
                    <a:pt x="821" y="454"/>
                    <a:pt x="820" y="451"/>
                  </a:cubicBezTo>
                  <a:cubicBezTo>
                    <a:pt x="818" y="445"/>
                    <a:pt x="808" y="430"/>
                    <a:pt x="798" y="429"/>
                  </a:cubicBezTo>
                  <a:cubicBezTo>
                    <a:pt x="786" y="427"/>
                    <a:pt x="805" y="444"/>
                    <a:pt x="795" y="444"/>
                  </a:cubicBezTo>
                  <a:cubicBezTo>
                    <a:pt x="784" y="444"/>
                    <a:pt x="778" y="436"/>
                    <a:pt x="777" y="431"/>
                  </a:cubicBezTo>
                  <a:cubicBezTo>
                    <a:pt x="776" y="425"/>
                    <a:pt x="772" y="420"/>
                    <a:pt x="783" y="417"/>
                  </a:cubicBezTo>
                  <a:cubicBezTo>
                    <a:pt x="792" y="414"/>
                    <a:pt x="796" y="411"/>
                    <a:pt x="797" y="406"/>
                  </a:cubicBezTo>
                  <a:cubicBezTo>
                    <a:pt x="781" y="406"/>
                    <a:pt x="781" y="406"/>
                    <a:pt x="781" y="406"/>
                  </a:cubicBezTo>
                  <a:cubicBezTo>
                    <a:pt x="781" y="406"/>
                    <a:pt x="766" y="349"/>
                    <a:pt x="760" y="342"/>
                  </a:cubicBezTo>
                  <a:cubicBezTo>
                    <a:pt x="758" y="341"/>
                    <a:pt x="758" y="339"/>
                    <a:pt x="757" y="338"/>
                  </a:cubicBezTo>
                  <a:cubicBezTo>
                    <a:pt x="744" y="329"/>
                    <a:pt x="728" y="316"/>
                    <a:pt x="713" y="303"/>
                  </a:cubicBezTo>
                  <a:cubicBezTo>
                    <a:pt x="717" y="325"/>
                    <a:pt x="727" y="353"/>
                    <a:pt x="750" y="388"/>
                  </a:cubicBezTo>
                  <a:cubicBezTo>
                    <a:pt x="751" y="390"/>
                    <a:pt x="748" y="392"/>
                    <a:pt x="741" y="393"/>
                  </a:cubicBezTo>
                  <a:cubicBezTo>
                    <a:pt x="758" y="421"/>
                    <a:pt x="774" y="455"/>
                    <a:pt x="780" y="488"/>
                  </a:cubicBezTo>
                  <a:cubicBezTo>
                    <a:pt x="789" y="538"/>
                    <a:pt x="824" y="614"/>
                    <a:pt x="835" y="633"/>
                  </a:cubicBezTo>
                  <a:cubicBezTo>
                    <a:pt x="846" y="653"/>
                    <a:pt x="864" y="667"/>
                    <a:pt x="864" y="667"/>
                  </a:cubicBezTo>
                  <a:cubicBezTo>
                    <a:pt x="864" y="667"/>
                    <a:pt x="864" y="667"/>
                    <a:pt x="862" y="668"/>
                  </a:cubicBezTo>
                  <a:cubicBezTo>
                    <a:pt x="865" y="668"/>
                    <a:pt x="867" y="669"/>
                    <a:pt x="870" y="669"/>
                  </a:cubicBezTo>
                  <a:cubicBezTo>
                    <a:pt x="886" y="673"/>
                    <a:pt x="937" y="681"/>
                    <a:pt x="947" y="682"/>
                  </a:cubicBezTo>
                  <a:cubicBezTo>
                    <a:pt x="958" y="684"/>
                    <a:pt x="954" y="689"/>
                    <a:pt x="915" y="690"/>
                  </a:cubicBezTo>
                  <a:cubicBezTo>
                    <a:pt x="890" y="690"/>
                    <a:pt x="838" y="687"/>
                    <a:pt x="801" y="683"/>
                  </a:cubicBezTo>
                  <a:cubicBezTo>
                    <a:pt x="781" y="680"/>
                    <a:pt x="765" y="677"/>
                    <a:pt x="762" y="673"/>
                  </a:cubicBezTo>
                  <a:cubicBezTo>
                    <a:pt x="761" y="672"/>
                    <a:pt x="761" y="672"/>
                    <a:pt x="761" y="671"/>
                  </a:cubicBezTo>
                  <a:cubicBezTo>
                    <a:pt x="759" y="671"/>
                    <a:pt x="758" y="671"/>
                    <a:pt x="758" y="671"/>
                  </a:cubicBezTo>
                  <a:cubicBezTo>
                    <a:pt x="758" y="671"/>
                    <a:pt x="755" y="657"/>
                    <a:pt x="744" y="636"/>
                  </a:cubicBezTo>
                  <a:cubicBezTo>
                    <a:pt x="733" y="614"/>
                    <a:pt x="691" y="519"/>
                    <a:pt x="670" y="486"/>
                  </a:cubicBezTo>
                  <a:cubicBezTo>
                    <a:pt x="649" y="453"/>
                    <a:pt x="640" y="427"/>
                    <a:pt x="628" y="428"/>
                  </a:cubicBezTo>
                  <a:cubicBezTo>
                    <a:pt x="621" y="428"/>
                    <a:pt x="612" y="428"/>
                    <a:pt x="605" y="428"/>
                  </a:cubicBezTo>
                  <a:cubicBezTo>
                    <a:pt x="593" y="427"/>
                    <a:pt x="609" y="453"/>
                    <a:pt x="620" y="486"/>
                  </a:cubicBezTo>
                  <a:cubicBezTo>
                    <a:pt x="630" y="519"/>
                    <a:pt x="679" y="614"/>
                    <a:pt x="688" y="636"/>
                  </a:cubicBezTo>
                  <a:cubicBezTo>
                    <a:pt x="698" y="657"/>
                    <a:pt x="708" y="671"/>
                    <a:pt x="708" y="671"/>
                  </a:cubicBezTo>
                  <a:cubicBezTo>
                    <a:pt x="708" y="671"/>
                    <a:pt x="708" y="671"/>
                    <a:pt x="706" y="671"/>
                  </a:cubicBezTo>
                  <a:cubicBezTo>
                    <a:pt x="707" y="672"/>
                    <a:pt x="707" y="672"/>
                    <a:pt x="707" y="673"/>
                  </a:cubicBezTo>
                  <a:cubicBezTo>
                    <a:pt x="707" y="677"/>
                    <a:pt x="693" y="680"/>
                    <a:pt x="675" y="683"/>
                  </a:cubicBezTo>
                  <a:cubicBezTo>
                    <a:pt x="642" y="687"/>
                    <a:pt x="592" y="690"/>
                    <a:pt x="566" y="690"/>
                  </a:cubicBezTo>
                  <a:cubicBezTo>
                    <a:pt x="527" y="689"/>
                    <a:pt x="519" y="684"/>
                    <a:pt x="529" y="682"/>
                  </a:cubicBezTo>
                  <a:cubicBezTo>
                    <a:pt x="538" y="681"/>
                    <a:pt x="583" y="673"/>
                    <a:pt x="596" y="669"/>
                  </a:cubicBezTo>
                  <a:cubicBezTo>
                    <a:pt x="598" y="669"/>
                    <a:pt x="600" y="668"/>
                    <a:pt x="602" y="668"/>
                  </a:cubicBezTo>
                  <a:cubicBezTo>
                    <a:pt x="599" y="667"/>
                    <a:pt x="598" y="667"/>
                    <a:pt x="598" y="667"/>
                  </a:cubicBezTo>
                  <a:cubicBezTo>
                    <a:pt x="598" y="667"/>
                    <a:pt x="602" y="653"/>
                    <a:pt x="595" y="633"/>
                  </a:cubicBezTo>
                  <a:cubicBezTo>
                    <a:pt x="588" y="614"/>
                    <a:pt x="550" y="538"/>
                    <a:pt x="512" y="488"/>
                  </a:cubicBezTo>
                  <a:cubicBezTo>
                    <a:pt x="486" y="455"/>
                    <a:pt x="471" y="420"/>
                    <a:pt x="464" y="393"/>
                  </a:cubicBezTo>
                  <a:cubicBezTo>
                    <a:pt x="455" y="392"/>
                    <a:pt x="451" y="390"/>
                    <a:pt x="451" y="388"/>
                  </a:cubicBezTo>
                  <a:cubicBezTo>
                    <a:pt x="447" y="348"/>
                    <a:pt x="412" y="301"/>
                    <a:pt x="391" y="270"/>
                  </a:cubicBezTo>
                  <a:cubicBezTo>
                    <a:pt x="354" y="278"/>
                    <a:pt x="233" y="298"/>
                    <a:pt x="202" y="302"/>
                  </a:cubicBezTo>
                  <a:cubicBezTo>
                    <a:pt x="202" y="302"/>
                    <a:pt x="202" y="302"/>
                    <a:pt x="202" y="302"/>
                  </a:cubicBezTo>
                  <a:cubicBezTo>
                    <a:pt x="189" y="304"/>
                    <a:pt x="171" y="302"/>
                    <a:pt x="157" y="293"/>
                  </a:cubicBezTo>
                  <a:cubicBezTo>
                    <a:pt x="143" y="283"/>
                    <a:pt x="94" y="249"/>
                    <a:pt x="94" y="249"/>
                  </a:cubicBezTo>
                  <a:cubicBezTo>
                    <a:pt x="104" y="248"/>
                    <a:pt x="104" y="248"/>
                    <a:pt x="104" y="248"/>
                  </a:cubicBezTo>
                  <a:cubicBezTo>
                    <a:pt x="95" y="242"/>
                    <a:pt x="81" y="237"/>
                    <a:pt x="65" y="234"/>
                  </a:cubicBezTo>
                  <a:cubicBezTo>
                    <a:pt x="44" y="230"/>
                    <a:pt x="22" y="218"/>
                    <a:pt x="13" y="213"/>
                  </a:cubicBezTo>
                  <a:cubicBezTo>
                    <a:pt x="5" y="208"/>
                    <a:pt x="7" y="204"/>
                    <a:pt x="11" y="205"/>
                  </a:cubicBezTo>
                  <a:cubicBezTo>
                    <a:pt x="0" y="199"/>
                    <a:pt x="8" y="194"/>
                    <a:pt x="18" y="197"/>
                  </a:cubicBezTo>
                  <a:cubicBezTo>
                    <a:pt x="15" y="193"/>
                    <a:pt x="24" y="189"/>
                    <a:pt x="35" y="195"/>
                  </a:cubicBezTo>
                  <a:cubicBezTo>
                    <a:pt x="40" y="189"/>
                    <a:pt x="55" y="197"/>
                    <a:pt x="59" y="200"/>
                  </a:cubicBezTo>
                  <a:cubicBezTo>
                    <a:pt x="67" y="206"/>
                    <a:pt x="89" y="219"/>
                    <a:pt x="99" y="218"/>
                  </a:cubicBezTo>
                  <a:cubicBezTo>
                    <a:pt x="121" y="218"/>
                    <a:pt x="96" y="205"/>
                    <a:pt x="105" y="204"/>
                  </a:cubicBezTo>
                  <a:cubicBezTo>
                    <a:pt x="114" y="203"/>
                    <a:pt x="123" y="209"/>
                    <a:pt x="129" y="214"/>
                  </a:cubicBezTo>
                  <a:cubicBezTo>
                    <a:pt x="135" y="219"/>
                    <a:pt x="144" y="224"/>
                    <a:pt x="137" y="229"/>
                  </a:cubicBezTo>
                  <a:cubicBezTo>
                    <a:pt x="132" y="233"/>
                    <a:pt x="124" y="237"/>
                    <a:pt x="128" y="244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9" y="242"/>
                    <a:pt x="176" y="266"/>
                    <a:pt x="199" y="279"/>
                  </a:cubicBezTo>
                  <a:cubicBezTo>
                    <a:pt x="247" y="267"/>
                    <a:pt x="360" y="237"/>
                    <a:pt x="379" y="234"/>
                  </a:cubicBezTo>
                  <a:cubicBezTo>
                    <a:pt x="379" y="234"/>
                    <a:pt x="379" y="234"/>
                    <a:pt x="379" y="234"/>
                  </a:cubicBezTo>
                  <a:cubicBezTo>
                    <a:pt x="403" y="228"/>
                    <a:pt x="439" y="222"/>
                    <a:pt x="475" y="218"/>
                  </a:cubicBezTo>
                  <a:cubicBezTo>
                    <a:pt x="475" y="219"/>
                    <a:pt x="475" y="219"/>
                    <a:pt x="476" y="219"/>
                  </a:cubicBezTo>
                  <a:cubicBezTo>
                    <a:pt x="484" y="216"/>
                    <a:pt x="489" y="211"/>
                    <a:pt x="487" y="205"/>
                  </a:cubicBezTo>
                  <a:cubicBezTo>
                    <a:pt x="482" y="192"/>
                    <a:pt x="482" y="192"/>
                    <a:pt x="482" y="192"/>
                  </a:cubicBezTo>
                  <a:cubicBezTo>
                    <a:pt x="431" y="185"/>
                    <a:pt x="364" y="172"/>
                    <a:pt x="338" y="162"/>
                  </a:cubicBezTo>
                  <a:cubicBezTo>
                    <a:pt x="326" y="158"/>
                    <a:pt x="314" y="149"/>
                    <a:pt x="304" y="138"/>
                  </a:cubicBezTo>
                  <a:cubicBezTo>
                    <a:pt x="302" y="138"/>
                    <a:pt x="299" y="136"/>
                    <a:pt x="297" y="134"/>
                  </a:cubicBezTo>
                  <a:cubicBezTo>
                    <a:pt x="282" y="132"/>
                    <a:pt x="267" y="127"/>
                    <a:pt x="259" y="121"/>
                  </a:cubicBezTo>
                  <a:cubicBezTo>
                    <a:pt x="246" y="111"/>
                    <a:pt x="251" y="102"/>
                    <a:pt x="270" y="100"/>
                  </a:cubicBezTo>
                  <a:cubicBezTo>
                    <a:pt x="272" y="100"/>
                    <a:pt x="275" y="99"/>
                    <a:pt x="277" y="100"/>
                  </a:cubicBezTo>
                  <a:cubicBezTo>
                    <a:pt x="275" y="94"/>
                    <a:pt x="273" y="89"/>
                    <a:pt x="272" y="85"/>
                  </a:cubicBezTo>
                  <a:cubicBezTo>
                    <a:pt x="266" y="69"/>
                    <a:pt x="243" y="66"/>
                    <a:pt x="234" y="59"/>
                  </a:cubicBezTo>
                  <a:cubicBezTo>
                    <a:pt x="223" y="50"/>
                    <a:pt x="214" y="38"/>
                    <a:pt x="187" y="45"/>
                  </a:cubicBezTo>
                  <a:cubicBezTo>
                    <a:pt x="160" y="53"/>
                    <a:pt x="190" y="34"/>
                    <a:pt x="216" y="31"/>
                  </a:cubicBezTo>
                  <a:cubicBezTo>
                    <a:pt x="247" y="27"/>
                    <a:pt x="231" y="23"/>
                    <a:pt x="193" y="29"/>
                  </a:cubicBezTo>
                  <a:cubicBezTo>
                    <a:pt x="155" y="34"/>
                    <a:pt x="147" y="31"/>
                    <a:pt x="184" y="24"/>
                  </a:cubicBezTo>
                  <a:cubicBezTo>
                    <a:pt x="221" y="16"/>
                    <a:pt x="242" y="14"/>
                    <a:pt x="309" y="12"/>
                  </a:cubicBezTo>
                  <a:cubicBezTo>
                    <a:pt x="376" y="11"/>
                    <a:pt x="402" y="7"/>
                    <a:pt x="354" y="6"/>
                  </a:cubicBezTo>
                  <a:cubicBezTo>
                    <a:pt x="307" y="5"/>
                    <a:pt x="298" y="2"/>
                    <a:pt x="373" y="1"/>
                  </a:cubicBezTo>
                  <a:cubicBezTo>
                    <a:pt x="447" y="0"/>
                    <a:pt x="517" y="7"/>
                    <a:pt x="572" y="20"/>
                  </a:cubicBezTo>
                  <a:cubicBezTo>
                    <a:pt x="627" y="34"/>
                    <a:pt x="668" y="31"/>
                    <a:pt x="655" y="23"/>
                  </a:cubicBezTo>
                  <a:cubicBezTo>
                    <a:pt x="643" y="16"/>
                    <a:pt x="686" y="24"/>
                    <a:pt x="713" y="44"/>
                  </a:cubicBezTo>
                  <a:cubicBezTo>
                    <a:pt x="741" y="64"/>
                    <a:pt x="709" y="80"/>
                    <a:pt x="712" y="94"/>
                  </a:cubicBezTo>
                  <a:cubicBezTo>
                    <a:pt x="712" y="96"/>
                    <a:pt x="713" y="98"/>
                    <a:pt x="713" y="100"/>
                  </a:cubicBezTo>
                  <a:cubicBezTo>
                    <a:pt x="714" y="100"/>
                    <a:pt x="714" y="100"/>
                    <a:pt x="715" y="100"/>
                  </a:cubicBezTo>
                  <a:cubicBezTo>
                    <a:pt x="735" y="102"/>
                    <a:pt x="747" y="111"/>
                    <a:pt x="742" y="121"/>
                  </a:cubicBezTo>
                  <a:cubicBezTo>
                    <a:pt x="738" y="127"/>
                    <a:pt x="728" y="132"/>
                    <a:pt x="715" y="134"/>
                  </a:cubicBezTo>
                  <a:cubicBezTo>
                    <a:pt x="715" y="139"/>
                    <a:pt x="713" y="142"/>
                    <a:pt x="710" y="141"/>
                  </a:cubicBezTo>
                  <a:cubicBezTo>
                    <a:pt x="710" y="140"/>
                    <a:pt x="709" y="140"/>
                    <a:pt x="709" y="140"/>
                  </a:cubicBezTo>
                  <a:cubicBezTo>
                    <a:pt x="706" y="150"/>
                    <a:pt x="702" y="158"/>
                    <a:pt x="693" y="162"/>
                  </a:cubicBezTo>
                  <a:cubicBezTo>
                    <a:pt x="675" y="173"/>
                    <a:pt x="617" y="186"/>
                    <a:pt x="572" y="192"/>
                  </a:cubicBezTo>
                  <a:lnTo>
                    <a:pt x="577" y="205"/>
                  </a:lnTo>
                  <a:close/>
                </a:path>
              </a:pathLst>
            </a:custGeom>
            <a:solidFill>
              <a:schemeClr val="bg1">
                <a:lumMod val="75000"/>
                <a:lumOff val="2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53" name="Freeform 364"/>
            <p:cNvSpPr/>
            <p:nvPr/>
          </p:nvSpPr>
          <p:spPr bwMode="auto">
            <a:xfrm>
              <a:off x="4947" y="873"/>
              <a:ext cx="312" cy="466"/>
            </a:xfrm>
            <a:custGeom>
              <a:avLst/>
              <a:gdLst>
                <a:gd name="T0" fmla="*/ 72 w 132"/>
                <a:gd name="T1" fmla="*/ 29 h 197"/>
                <a:gd name="T2" fmla="*/ 20 w 132"/>
                <a:gd name="T3" fmla="*/ 87 h 197"/>
                <a:gd name="T4" fmla="*/ 132 w 132"/>
                <a:gd name="T5" fmla="*/ 191 h 197"/>
                <a:gd name="T6" fmla="*/ 123 w 132"/>
                <a:gd name="T7" fmla="*/ 0 h 197"/>
                <a:gd name="T8" fmla="*/ 72 w 132"/>
                <a:gd name="T9" fmla="*/ 29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97">
                  <a:moveTo>
                    <a:pt x="72" y="29"/>
                  </a:moveTo>
                  <a:cubicBezTo>
                    <a:pt x="72" y="68"/>
                    <a:pt x="40" y="82"/>
                    <a:pt x="20" y="87"/>
                  </a:cubicBezTo>
                  <a:cubicBezTo>
                    <a:pt x="0" y="92"/>
                    <a:pt x="132" y="197"/>
                    <a:pt x="132" y="191"/>
                  </a:cubicBezTo>
                  <a:cubicBezTo>
                    <a:pt x="132" y="185"/>
                    <a:pt x="123" y="0"/>
                    <a:pt x="123" y="0"/>
                  </a:cubicBezTo>
                  <a:cubicBezTo>
                    <a:pt x="123" y="0"/>
                    <a:pt x="93" y="2"/>
                    <a:pt x="72" y="29"/>
                  </a:cubicBezTo>
                  <a:close/>
                </a:path>
              </a:pathLst>
            </a:custGeom>
            <a:solidFill>
              <a:srgbClr val="F2AC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54" name="Freeform 365"/>
            <p:cNvSpPr/>
            <p:nvPr/>
          </p:nvSpPr>
          <p:spPr bwMode="auto">
            <a:xfrm>
              <a:off x="5190" y="873"/>
              <a:ext cx="313" cy="466"/>
            </a:xfrm>
            <a:custGeom>
              <a:avLst/>
              <a:gdLst>
                <a:gd name="T0" fmla="*/ 60 w 132"/>
                <a:gd name="T1" fmla="*/ 29 h 197"/>
                <a:gd name="T2" fmla="*/ 113 w 132"/>
                <a:gd name="T3" fmla="*/ 87 h 197"/>
                <a:gd name="T4" fmla="*/ 0 w 132"/>
                <a:gd name="T5" fmla="*/ 191 h 197"/>
                <a:gd name="T6" fmla="*/ 10 w 132"/>
                <a:gd name="T7" fmla="*/ 0 h 197"/>
                <a:gd name="T8" fmla="*/ 60 w 132"/>
                <a:gd name="T9" fmla="*/ 29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97">
                  <a:moveTo>
                    <a:pt x="60" y="29"/>
                  </a:moveTo>
                  <a:cubicBezTo>
                    <a:pt x="60" y="68"/>
                    <a:pt x="93" y="82"/>
                    <a:pt x="113" y="87"/>
                  </a:cubicBezTo>
                  <a:cubicBezTo>
                    <a:pt x="132" y="92"/>
                    <a:pt x="0" y="197"/>
                    <a:pt x="0" y="191"/>
                  </a:cubicBezTo>
                  <a:cubicBezTo>
                    <a:pt x="0" y="185"/>
                    <a:pt x="10" y="0"/>
                    <a:pt x="10" y="0"/>
                  </a:cubicBezTo>
                  <a:cubicBezTo>
                    <a:pt x="10" y="0"/>
                    <a:pt x="39" y="2"/>
                    <a:pt x="60" y="29"/>
                  </a:cubicBezTo>
                  <a:close/>
                </a:path>
              </a:pathLst>
            </a:custGeom>
            <a:solidFill>
              <a:srgbClr val="F2AC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55" name="Rectangle 366"/>
            <p:cNvSpPr>
              <a:spLocks noChangeArrowheads="1"/>
            </p:cNvSpPr>
            <p:nvPr/>
          </p:nvSpPr>
          <p:spPr bwMode="auto">
            <a:xfrm>
              <a:off x="5117" y="504"/>
              <a:ext cx="216" cy="655"/>
            </a:xfrm>
            <a:prstGeom prst="rect">
              <a:avLst/>
            </a:prstGeom>
            <a:solidFill>
              <a:srgbClr val="F2AC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56" name="Freeform 367"/>
            <p:cNvSpPr/>
            <p:nvPr/>
          </p:nvSpPr>
          <p:spPr bwMode="auto">
            <a:xfrm>
              <a:off x="5117" y="738"/>
              <a:ext cx="216" cy="234"/>
            </a:xfrm>
            <a:custGeom>
              <a:avLst/>
              <a:gdLst>
                <a:gd name="T0" fmla="*/ 0 w 216"/>
                <a:gd name="T1" fmla="*/ 0 h 234"/>
                <a:gd name="T2" fmla="*/ 216 w 216"/>
                <a:gd name="T3" fmla="*/ 0 h 234"/>
                <a:gd name="T4" fmla="*/ 216 w 216"/>
                <a:gd name="T5" fmla="*/ 128 h 234"/>
                <a:gd name="T6" fmla="*/ 0 w 216"/>
                <a:gd name="T7" fmla="*/ 234 h 234"/>
                <a:gd name="T8" fmla="*/ 0 w 216"/>
                <a:gd name="T9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6" h="234">
                  <a:moveTo>
                    <a:pt x="0" y="0"/>
                  </a:moveTo>
                  <a:lnTo>
                    <a:pt x="216" y="0"/>
                  </a:lnTo>
                  <a:lnTo>
                    <a:pt x="216" y="128"/>
                  </a:lnTo>
                  <a:lnTo>
                    <a:pt x="0" y="2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8C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57" name="Freeform 368"/>
            <p:cNvSpPr/>
            <p:nvPr/>
          </p:nvSpPr>
          <p:spPr bwMode="auto">
            <a:xfrm>
              <a:off x="4631" y="194"/>
              <a:ext cx="209" cy="270"/>
            </a:xfrm>
            <a:custGeom>
              <a:avLst/>
              <a:gdLst>
                <a:gd name="T0" fmla="*/ 28 w 88"/>
                <a:gd name="T1" fmla="*/ 6 h 114"/>
                <a:gd name="T2" fmla="*/ 79 w 88"/>
                <a:gd name="T3" fmla="*/ 48 h 114"/>
                <a:gd name="T4" fmla="*/ 60 w 88"/>
                <a:gd name="T5" fmla="*/ 109 h 114"/>
                <a:gd name="T6" fmla="*/ 9 w 88"/>
                <a:gd name="T7" fmla="*/ 67 h 114"/>
                <a:gd name="T8" fmla="*/ 28 w 88"/>
                <a:gd name="T9" fmla="*/ 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114">
                  <a:moveTo>
                    <a:pt x="28" y="6"/>
                  </a:moveTo>
                  <a:cubicBezTo>
                    <a:pt x="47" y="0"/>
                    <a:pt x="70" y="19"/>
                    <a:pt x="79" y="48"/>
                  </a:cubicBezTo>
                  <a:cubicBezTo>
                    <a:pt x="88" y="76"/>
                    <a:pt x="79" y="104"/>
                    <a:pt x="60" y="109"/>
                  </a:cubicBezTo>
                  <a:cubicBezTo>
                    <a:pt x="41" y="114"/>
                    <a:pt x="18" y="95"/>
                    <a:pt x="9" y="67"/>
                  </a:cubicBezTo>
                  <a:cubicBezTo>
                    <a:pt x="0" y="38"/>
                    <a:pt x="9" y="11"/>
                    <a:pt x="28" y="6"/>
                  </a:cubicBezTo>
                  <a:close/>
                </a:path>
              </a:pathLst>
            </a:custGeom>
            <a:solidFill>
              <a:srgbClr val="F2AC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58" name="Freeform 369"/>
            <p:cNvSpPr/>
            <p:nvPr/>
          </p:nvSpPr>
          <p:spPr bwMode="auto">
            <a:xfrm>
              <a:off x="5610" y="194"/>
              <a:ext cx="208" cy="270"/>
            </a:xfrm>
            <a:custGeom>
              <a:avLst/>
              <a:gdLst>
                <a:gd name="T0" fmla="*/ 60 w 88"/>
                <a:gd name="T1" fmla="*/ 6 h 114"/>
                <a:gd name="T2" fmla="*/ 9 w 88"/>
                <a:gd name="T3" fmla="*/ 48 h 114"/>
                <a:gd name="T4" fmla="*/ 28 w 88"/>
                <a:gd name="T5" fmla="*/ 109 h 114"/>
                <a:gd name="T6" fmla="*/ 79 w 88"/>
                <a:gd name="T7" fmla="*/ 67 h 114"/>
                <a:gd name="T8" fmla="*/ 60 w 88"/>
                <a:gd name="T9" fmla="*/ 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114">
                  <a:moveTo>
                    <a:pt x="60" y="6"/>
                  </a:moveTo>
                  <a:cubicBezTo>
                    <a:pt x="41" y="0"/>
                    <a:pt x="18" y="19"/>
                    <a:pt x="9" y="48"/>
                  </a:cubicBezTo>
                  <a:cubicBezTo>
                    <a:pt x="0" y="76"/>
                    <a:pt x="9" y="104"/>
                    <a:pt x="28" y="109"/>
                  </a:cubicBezTo>
                  <a:cubicBezTo>
                    <a:pt x="47" y="114"/>
                    <a:pt x="70" y="95"/>
                    <a:pt x="79" y="67"/>
                  </a:cubicBezTo>
                  <a:cubicBezTo>
                    <a:pt x="88" y="38"/>
                    <a:pt x="80" y="11"/>
                    <a:pt x="60" y="6"/>
                  </a:cubicBezTo>
                  <a:close/>
                </a:path>
              </a:pathLst>
            </a:custGeom>
            <a:solidFill>
              <a:srgbClr val="F2AC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59" name="Freeform 370"/>
            <p:cNvSpPr/>
            <p:nvPr/>
          </p:nvSpPr>
          <p:spPr bwMode="auto">
            <a:xfrm>
              <a:off x="4705" y="-386"/>
              <a:ext cx="1042" cy="1261"/>
            </a:xfrm>
            <a:custGeom>
              <a:avLst/>
              <a:gdLst>
                <a:gd name="T0" fmla="*/ 223 w 440"/>
                <a:gd name="T1" fmla="*/ 533 h 533"/>
                <a:gd name="T2" fmla="*/ 42 w 440"/>
                <a:gd name="T3" fmla="*/ 435 h 533"/>
                <a:gd name="T4" fmla="*/ 7 w 440"/>
                <a:gd name="T5" fmla="*/ 184 h 533"/>
                <a:gd name="T6" fmla="*/ 220 w 440"/>
                <a:gd name="T7" fmla="*/ 0 h 533"/>
                <a:gd name="T8" fmla="*/ 433 w 440"/>
                <a:gd name="T9" fmla="*/ 184 h 533"/>
                <a:gd name="T10" fmla="*/ 397 w 440"/>
                <a:gd name="T11" fmla="*/ 435 h 533"/>
                <a:gd name="T12" fmla="*/ 223 w 440"/>
                <a:gd name="T13" fmla="*/ 533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0" h="533">
                  <a:moveTo>
                    <a:pt x="223" y="533"/>
                  </a:moveTo>
                  <a:cubicBezTo>
                    <a:pt x="183" y="533"/>
                    <a:pt x="73" y="476"/>
                    <a:pt x="42" y="435"/>
                  </a:cubicBezTo>
                  <a:cubicBezTo>
                    <a:pt x="11" y="394"/>
                    <a:pt x="0" y="248"/>
                    <a:pt x="7" y="184"/>
                  </a:cubicBezTo>
                  <a:cubicBezTo>
                    <a:pt x="14" y="119"/>
                    <a:pt x="87" y="0"/>
                    <a:pt x="220" y="0"/>
                  </a:cubicBezTo>
                  <a:cubicBezTo>
                    <a:pt x="352" y="0"/>
                    <a:pt x="425" y="119"/>
                    <a:pt x="433" y="184"/>
                  </a:cubicBezTo>
                  <a:cubicBezTo>
                    <a:pt x="440" y="248"/>
                    <a:pt x="428" y="394"/>
                    <a:pt x="397" y="435"/>
                  </a:cubicBezTo>
                  <a:cubicBezTo>
                    <a:pt x="367" y="476"/>
                    <a:pt x="262" y="533"/>
                    <a:pt x="223" y="533"/>
                  </a:cubicBezTo>
                  <a:close/>
                </a:path>
              </a:pathLst>
            </a:custGeom>
            <a:solidFill>
              <a:srgbClr val="F2AC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60" name="Freeform 371"/>
            <p:cNvSpPr>
              <a:spLocks noEditPoints="1"/>
            </p:cNvSpPr>
            <p:nvPr/>
          </p:nvSpPr>
          <p:spPr bwMode="auto">
            <a:xfrm>
              <a:off x="4731" y="319"/>
              <a:ext cx="990" cy="556"/>
            </a:xfrm>
            <a:custGeom>
              <a:avLst/>
              <a:gdLst>
                <a:gd name="T0" fmla="*/ 418 w 418"/>
                <a:gd name="T1" fmla="*/ 22 h 235"/>
                <a:gd name="T2" fmla="*/ 405 w 418"/>
                <a:gd name="T3" fmla="*/ 27 h 235"/>
                <a:gd name="T4" fmla="*/ 319 w 418"/>
                <a:gd name="T5" fmla="*/ 166 h 235"/>
                <a:gd name="T6" fmla="*/ 310 w 418"/>
                <a:gd name="T7" fmla="*/ 121 h 235"/>
                <a:gd name="T8" fmla="*/ 252 w 418"/>
                <a:gd name="T9" fmla="*/ 93 h 235"/>
                <a:gd name="T10" fmla="*/ 207 w 418"/>
                <a:gd name="T11" fmla="*/ 105 h 235"/>
                <a:gd name="T12" fmla="*/ 207 w 418"/>
                <a:gd name="T13" fmla="*/ 122 h 235"/>
                <a:gd name="T14" fmla="*/ 269 w 418"/>
                <a:gd name="T15" fmla="*/ 104 h 235"/>
                <a:gd name="T16" fmla="*/ 297 w 418"/>
                <a:gd name="T17" fmla="*/ 130 h 235"/>
                <a:gd name="T18" fmla="*/ 254 w 418"/>
                <a:gd name="T19" fmla="*/ 194 h 235"/>
                <a:gd name="T20" fmla="*/ 208 w 418"/>
                <a:gd name="T21" fmla="*/ 187 h 235"/>
                <a:gd name="T22" fmla="*/ 207 w 418"/>
                <a:gd name="T23" fmla="*/ 187 h 235"/>
                <a:gd name="T24" fmla="*/ 207 w 418"/>
                <a:gd name="T25" fmla="*/ 235 h 235"/>
                <a:gd name="T26" fmla="*/ 212 w 418"/>
                <a:gd name="T27" fmla="*/ 235 h 235"/>
                <a:gd name="T28" fmla="*/ 386 w 418"/>
                <a:gd name="T29" fmla="*/ 137 h 235"/>
                <a:gd name="T30" fmla="*/ 418 w 418"/>
                <a:gd name="T31" fmla="*/ 22 h 235"/>
                <a:gd name="T32" fmla="*/ 207 w 418"/>
                <a:gd name="T33" fmla="*/ 105 h 235"/>
                <a:gd name="T34" fmla="*/ 187 w 418"/>
                <a:gd name="T35" fmla="*/ 103 h 235"/>
                <a:gd name="T36" fmla="*/ 111 w 418"/>
                <a:gd name="T37" fmla="*/ 103 h 235"/>
                <a:gd name="T38" fmla="*/ 80 w 418"/>
                <a:gd name="T39" fmla="*/ 154 h 235"/>
                <a:gd name="T40" fmla="*/ 14 w 418"/>
                <a:gd name="T41" fmla="*/ 39 h 235"/>
                <a:gd name="T42" fmla="*/ 0 w 418"/>
                <a:gd name="T43" fmla="*/ 26 h 235"/>
                <a:gd name="T44" fmla="*/ 31 w 418"/>
                <a:gd name="T45" fmla="*/ 137 h 235"/>
                <a:gd name="T46" fmla="*/ 207 w 418"/>
                <a:gd name="T47" fmla="*/ 235 h 235"/>
                <a:gd name="T48" fmla="*/ 207 w 418"/>
                <a:gd name="T49" fmla="*/ 187 h 235"/>
                <a:gd name="T50" fmla="*/ 171 w 418"/>
                <a:gd name="T51" fmla="*/ 198 h 235"/>
                <a:gd name="T52" fmla="*/ 125 w 418"/>
                <a:gd name="T53" fmla="*/ 180 h 235"/>
                <a:gd name="T54" fmla="*/ 122 w 418"/>
                <a:gd name="T55" fmla="*/ 110 h 235"/>
                <a:gd name="T56" fmla="*/ 203 w 418"/>
                <a:gd name="T57" fmla="*/ 122 h 235"/>
                <a:gd name="T58" fmla="*/ 207 w 418"/>
                <a:gd name="T59" fmla="*/ 122 h 235"/>
                <a:gd name="T60" fmla="*/ 207 w 418"/>
                <a:gd name="T61" fmla="*/ 105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18" h="235">
                  <a:moveTo>
                    <a:pt x="418" y="22"/>
                  </a:moveTo>
                  <a:cubicBezTo>
                    <a:pt x="414" y="8"/>
                    <a:pt x="408" y="3"/>
                    <a:pt x="405" y="27"/>
                  </a:cubicBezTo>
                  <a:cubicBezTo>
                    <a:pt x="401" y="64"/>
                    <a:pt x="355" y="142"/>
                    <a:pt x="319" y="166"/>
                  </a:cubicBezTo>
                  <a:cubicBezTo>
                    <a:pt x="283" y="189"/>
                    <a:pt x="307" y="164"/>
                    <a:pt x="310" y="121"/>
                  </a:cubicBezTo>
                  <a:cubicBezTo>
                    <a:pt x="312" y="78"/>
                    <a:pt x="278" y="81"/>
                    <a:pt x="252" y="93"/>
                  </a:cubicBezTo>
                  <a:cubicBezTo>
                    <a:pt x="236" y="100"/>
                    <a:pt x="220" y="105"/>
                    <a:pt x="207" y="105"/>
                  </a:cubicBezTo>
                  <a:cubicBezTo>
                    <a:pt x="207" y="122"/>
                    <a:pt x="207" y="122"/>
                    <a:pt x="207" y="122"/>
                  </a:cubicBezTo>
                  <a:cubicBezTo>
                    <a:pt x="237" y="120"/>
                    <a:pt x="241" y="116"/>
                    <a:pt x="269" y="104"/>
                  </a:cubicBezTo>
                  <a:cubicBezTo>
                    <a:pt x="298" y="91"/>
                    <a:pt x="306" y="100"/>
                    <a:pt x="297" y="130"/>
                  </a:cubicBezTo>
                  <a:cubicBezTo>
                    <a:pt x="289" y="159"/>
                    <a:pt x="283" y="177"/>
                    <a:pt x="254" y="194"/>
                  </a:cubicBezTo>
                  <a:cubicBezTo>
                    <a:pt x="224" y="211"/>
                    <a:pt x="230" y="186"/>
                    <a:pt x="208" y="187"/>
                  </a:cubicBezTo>
                  <a:cubicBezTo>
                    <a:pt x="208" y="187"/>
                    <a:pt x="207" y="187"/>
                    <a:pt x="207" y="187"/>
                  </a:cubicBezTo>
                  <a:cubicBezTo>
                    <a:pt x="207" y="235"/>
                    <a:pt x="207" y="235"/>
                    <a:pt x="207" y="235"/>
                  </a:cubicBezTo>
                  <a:cubicBezTo>
                    <a:pt x="208" y="235"/>
                    <a:pt x="210" y="235"/>
                    <a:pt x="212" y="235"/>
                  </a:cubicBezTo>
                  <a:cubicBezTo>
                    <a:pt x="251" y="235"/>
                    <a:pt x="356" y="178"/>
                    <a:pt x="386" y="137"/>
                  </a:cubicBezTo>
                  <a:cubicBezTo>
                    <a:pt x="401" y="117"/>
                    <a:pt x="412" y="71"/>
                    <a:pt x="418" y="22"/>
                  </a:cubicBezTo>
                  <a:close/>
                  <a:moveTo>
                    <a:pt x="207" y="105"/>
                  </a:moveTo>
                  <a:cubicBezTo>
                    <a:pt x="199" y="105"/>
                    <a:pt x="193" y="105"/>
                    <a:pt x="187" y="103"/>
                  </a:cubicBezTo>
                  <a:cubicBezTo>
                    <a:pt x="171" y="96"/>
                    <a:pt x="130" y="82"/>
                    <a:pt x="111" y="103"/>
                  </a:cubicBezTo>
                  <a:cubicBezTo>
                    <a:pt x="90" y="126"/>
                    <a:pt x="110" y="179"/>
                    <a:pt x="80" y="154"/>
                  </a:cubicBezTo>
                  <a:cubicBezTo>
                    <a:pt x="49" y="129"/>
                    <a:pt x="14" y="87"/>
                    <a:pt x="14" y="39"/>
                  </a:cubicBezTo>
                  <a:cubicBezTo>
                    <a:pt x="14" y="0"/>
                    <a:pt x="2" y="5"/>
                    <a:pt x="0" y="26"/>
                  </a:cubicBezTo>
                  <a:cubicBezTo>
                    <a:pt x="6" y="74"/>
                    <a:pt x="16" y="117"/>
                    <a:pt x="31" y="137"/>
                  </a:cubicBezTo>
                  <a:cubicBezTo>
                    <a:pt x="60" y="176"/>
                    <a:pt x="164" y="231"/>
                    <a:pt x="207" y="235"/>
                  </a:cubicBezTo>
                  <a:cubicBezTo>
                    <a:pt x="207" y="187"/>
                    <a:pt x="207" y="187"/>
                    <a:pt x="207" y="187"/>
                  </a:cubicBezTo>
                  <a:cubicBezTo>
                    <a:pt x="187" y="189"/>
                    <a:pt x="190" y="202"/>
                    <a:pt x="171" y="198"/>
                  </a:cubicBezTo>
                  <a:cubicBezTo>
                    <a:pt x="151" y="193"/>
                    <a:pt x="144" y="198"/>
                    <a:pt x="125" y="180"/>
                  </a:cubicBezTo>
                  <a:cubicBezTo>
                    <a:pt x="105" y="162"/>
                    <a:pt x="113" y="138"/>
                    <a:pt x="122" y="110"/>
                  </a:cubicBezTo>
                  <a:cubicBezTo>
                    <a:pt x="136" y="94"/>
                    <a:pt x="170" y="123"/>
                    <a:pt x="203" y="122"/>
                  </a:cubicBezTo>
                  <a:cubicBezTo>
                    <a:pt x="204" y="122"/>
                    <a:pt x="205" y="122"/>
                    <a:pt x="207" y="122"/>
                  </a:cubicBezTo>
                  <a:lnTo>
                    <a:pt x="207" y="105"/>
                  </a:lnTo>
                  <a:close/>
                </a:path>
              </a:pathLst>
            </a:custGeom>
            <a:solidFill>
              <a:srgbClr val="CC8C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61" name="Freeform 372"/>
            <p:cNvSpPr/>
            <p:nvPr/>
          </p:nvSpPr>
          <p:spPr bwMode="auto">
            <a:xfrm>
              <a:off x="5134" y="279"/>
              <a:ext cx="163" cy="308"/>
            </a:xfrm>
            <a:custGeom>
              <a:avLst/>
              <a:gdLst>
                <a:gd name="T0" fmla="*/ 20 w 69"/>
                <a:gd name="T1" fmla="*/ 15 h 130"/>
                <a:gd name="T2" fmla="*/ 15 w 69"/>
                <a:gd name="T3" fmla="*/ 69 h 130"/>
                <a:gd name="T4" fmla="*/ 19 w 69"/>
                <a:gd name="T5" fmla="*/ 113 h 130"/>
                <a:gd name="T6" fmla="*/ 57 w 69"/>
                <a:gd name="T7" fmla="*/ 110 h 130"/>
                <a:gd name="T8" fmla="*/ 59 w 69"/>
                <a:gd name="T9" fmla="*/ 117 h 130"/>
                <a:gd name="T10" fmla="*/ 16 w 69"/>
                <a:gd name="T11" fmla="*/ 120 h 130"/>
                <a:gd name="T12" fmla="*/ 8 w 69"/>
                <a:gd name="T13" fmla="*/ 74 h 130"/>
                <a:gd name="T14" fmla="*/ 20 w 69"/>
                <a:gd name="T15" fmla="*/ 15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130">
                  <a:moveTo>
                    <a:pt x="20" y="15"/>
                  </a:moveTo>
                  <a:cubicBezTo>
                    <a:pt x="20" y="36"/>
                    <a:pt x="18" y="51"/>
                    <a:pt x="15" y="69"/>
                  </a:cubicBezTo>
                  <a:cubicBezTo>
                    <a:pt x="11" y="88"/>
                    <a:pt x="1" y="105"/>
                    <a:pt x="19" y="113"/>
                  </a:cubicBezTo>
                  <a:cubicBezTo>
                    <a:pt x="37" y="120"/>
                    <a:pt x="46" y="120"/>
                    <a:pt x="57" y="110"/>
                  </a:cubicBezTo>
                  <a:cubicBezTo>
                    <a:pt x="69" y="100"/>
                    <a:pt x="67" y="110"/>
                    <a:pt x="59" y="117"/>
                  </a:cubicBezTo>
                  <a:cubicBezTo>
                    <a:pt x="51" y="123"/>
                    <a:pt x="30" y="130"/>
                    <a:pt x="16" y="120"/>
                  </a:cubicBezTo>
                  <a:cubicBezTo>
                    <a:pt x="2" y="111"/>
                    <a:pt x="0" y="119"/>
                    <a:pt x="8" y="74"/>
                  </a:cubicBezTo>
                  <a:cubicBezTo>
                    <a:pt x="16" y="30"/>
                    <a:pt x="19" y="0"/>
                    <a:pt x="20" y="15"/>
                  </a:cubicBezTo>
                  <a:close/>
                </a:path>
              </a:pathLst>
            </a:custGeom>
            <a:solidFill>
              <a:srgbClr val="CC8C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62" name="Freeform 373"/>
            <p:cNvSpPr/>
            <p:nvPr/>
          </p:nvSpPr>
          <p:spPr bwMode="auto">
            <a:xfrm>
              <a:off x="5003" y="580"/>
              <a:ext cx="429" cy="92"/>
            </a:xfrm>
            <a:custGeom>
              <a:avLst/>
              <a:gdLst>
                <a:gd name="T0" fmla="*/ 12 w 181"/>
                <a:gd name="T1" fmla="*/ 13 h 39"/>
                <a:gd name="T2" fmla="*/ 56 w 181"/>
                <a:gd name="T3" fmla="*/ 29 h 39"/>
                <a:gd name="T4" fmla="*/ 140 w 181"/>
                <a:gd name="T5" fmla="*/ 18 h 39"/>
                <a:gd name="T6" fmla="*/ 165 w 181"/>
                <a:gd name="T7" fmla="*/ 3 h 39"/>
                <a:gd name="T8" fmla="*/ 164 w 181"/>
                <a:gd name="T9" fmla="*/ 15 h 39"/>
                <a:gd name="T10" fmla="*/ 141 w 181"/>
                <a:gd name="T11" fmla="*/ 26 h 39"/>
                <a:gd name="T12" fmla="*/ 56 w 181"/>
                <a:gd name="T13" fmla="*/ 35 h 39"/>
                <a:gd name="T14" fmla="*/ 13 w 181"/>
                <a:gd name="T15" fmla="*/ 23 h 39"/>
                <a:gd name="T16" fmla="*/ 12 w 181"/>
                <a:gd name="T17" fmla="*/ 13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1" h="39">
                  <a:moveTo>
                    <a:pt x="12" y="13"/>
                  </a:moveTo>
                  <a:cubicBezTo>
                    <a:pt x="22" y="14"/>
                    <a:pt x="24" y="27"/>
                    <a:pt x="56" y="29"/>
                  </a:cubicBezTo>
                  <a:cubicBezTo>
                    <a:pt x="88" y="32"/>
                    <a:pt x="127" y="26"/>
                    <a:pt x="140" y="18"/>
                  </a:cubicBezTo>
                  <a:cubicBezTo>
                    <a:pt x="153" y="10"/>
                    <a:pt x="152" y="7"/>
                    <a:pt x="165" y="3"/>
                  </a:cubicBezTo>
                  <a:cubicBezTo>
                    <a:pt x="178" y="0"/>
                    <a:pt x="181" y="12"/>
                    <a:pt x="164" y="15"/>
                  </a:cubicBezTo>
                  <a:cubicBezTo>
                    <a:pt x="147" y="17"/>
                    <a:pt x="153" y="20"/>
                    <a:pt x="141" y="26"/>
                  </a:cubicBezTo>
                  <a:cubicBezTo>
                    <a:pt x="128" y="32"/>
                    <a:pt x="72" y="39"/>
                    <a:pt x="56" y="35"/>
                  </a:cubicBezTo>
                  <a:cubicBezTo>
                    <a:pt x="39" y="32"/>
                    <a:pt x="24" y="26"/>
                    <a:pt x="13" y="23"/>
                  </a:cubicBezTo>
                  <a:cubicBezTo>
                    <a:pt x="2" y="20"/>
                    <a:pt x="0" y="10"/>
                    <a:pt x="12" y="13"/>
                  </a:cubicBezTo>
                  <a:close/>
                </a:path>
              </a:pathLst>
            </a:custGeom>
            <a:solidFill>
              <a:srgbClr val="CC8C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63" name="Freeform 374"/>
            <p:cNvSpPr/>
            <p:nvPr/>
          </p:nvSpPr>
          <p:spPr bwMode="auto">
            <a:xfrm>
              <a:off x="5110" y="696"/>
              <a:ext cx="208" cy="54"/>
            </a:xfrm>
            <a:custGeom>
              <a:avLst/>
              <a:gdLst>
                <a:gd name="T0" fmla="*/ 14 w 88"/>
                <a:gd name="T1" fmla="*/ 5 h 23"/>
                <a:gd name="T2" fmla="*/ 72 w 88"/>
                <a:gd name="T3" fmla="*/ 6 h 23"/>
                <a:gd name="T4" fmla="*/ 69 w 88"/>
                <a:gd name="T5" fmla="*/ 14 h 23"/>
                <a:gd name="T6" fmla="*/ 19 w 88"/>
                <a:gd name="T7" fmla="*/ 13 h 23"/>
                <a:gd name="T8" fmla="*/ 14 w 88"/>
                <a:gd name="T9" fmla="*/ 5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23">
                  <a:moveTo>
                    <a:pt x="14" y="5"/>
                  </a:moveTo>
                  <a:cubicBezTo>
                    <a:pt x="37" y="14"/>
                    <a:pt x="56" y="13"/>
                    <a:pt x="72" y="6"/>
                  </a:cubicBezTo>
                  <a:cubicBezTo>
                    <a:pt x="88" y="0"/>
                    <a:pt x="88" y="5"/>
                    <a:pt x="69" y="14"/>
                  </a:cubicBezTo>
                  <a:cubicBezTo>
                    <a:pt x="54" y="23"/>
                    <a:pt x="37" y="23"/>
                    <a:pt x="19" y="13"/>
                  </a:cubicBezTo>
                  <a:cubicBezTo>
                    <a:pt x="0" y="4"/>
                    <a:pt x="5" y="0"/>
                    <a:pt x="14" y="5"/>
                  </a:cubicBezTo>
                  <a:close/>
                </a:path>
              </a:pathLst>
            </a:custGeom>
            <a:solidFill>
              <a:srgbClr val="CC8C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64" name="Freeform 375"/>
            <p:cNvSpPr/>
            <p:nvPr/>
          </p:nvSpPr>
          <p:spPr bwMode="auto">
            <a:xfrm>
              <a:off x="4771" y="4114"/>
              <a:ext cx="467" cy="204"/>
            </a:xfrm>
            <a:custGeom>
              <a:avLst/>
              <a:gdLst>
                <a:gd name="T0" fmla="*/ 82 w 197"/>
                <a:gd name="T1" fmla="*/ 25 h 86"/>
                <a:gd name="T2" fmla="*/ 9 w 197"/>
                <a:gd name="T3" fmla="*/ 64 h 86"/>
                <a:gd name="T4" fmla="*/ 44 w 197"/>
                <a:gd name="T5" fmla="*/ 86 h 86"/>
                <a:gd name="T6" fmla="*/ 156 w 197"/>
                <a:gd name="T7" fmla="*/ 65 h 86"/>
                <a:gd name="T8" fmla="*/ 191 w 197"/>
                <a:gd name="T9" fmla="*/ 37 h 86"/>
                <a:gd name="T10" fmla="*/ 82 w 197"/>
                <a:gd name="T11" fmla="*/ 25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7" h="86">
                  <a:moveTo>
                    <a:pt x="82" y="25"/>
                  </a:moveTo>
                  <a:cubicBezTo>
                    <a:pt x="67" y="36"/>
                    <a:pt x="19" y="60"/>
                    <a:pt x="9" y="64"/>
                  </a:cubicBezTo>
                  <a:cubicBezTo>
                    <a:pt x="0" y="68"/>
                    <a:pt x="5" y="85"/>
                    <a:pt x="44" y="86"/>
                  </a:cubicBezTo>
                  <a:cubicBezTo>
                    <a:pt x="70" y="86"/>
                    <a:pt x="121" y="79"/>
                    <a:pt x="156" y="65"/>
                  </a:cubicBezTo>
                  <a:cubicBezTo>
                    <a:pt x="175" y="57"/>
                    <a:pt x="190" y="48"/>
                    <a:pt x="191" y="37"/>
                  </a:cubicBezTo>
                  <a:cubicBezTo>
                    <a:pt x="197" y="6"/>
                    <a:pt x="115" y="0"/>
                    <a:pt x="82" y="25"/>
                  </a:cubicBezTo>
                  <a:close/>
                </a:path>
              </a:pathLst>
            </a:custGeom>
            <a:solidFill>
              <a:srgbClr val="4E27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65" name="Freeform 376"/>
            <p:cNvSpPr/>
            <p:nvPr/>
          </p:nvSpPr>
          <p:spPr bwMode="auto">
            <a:xfrm>
              <a:off x="5342" y="4114"/>
              <a:ext cx="467" cy="204"/>
            </a:xfrm>
            <a:custGeom>
              <a:avLst/>
              <a:gdLst>
                <a:gd name="T0" fmla="*/ 114 w 197"/>
                <a:gd name="T1" fmla="*/ 25 h 86"/>
                <a:gd name="T2" fmla="*/ 187 w 197"/>
                <a:gd name="T3" fmla="*/ 64 h 86"/>
                <a:gd name="T4" fmla="*/ 152 w 197"/>
                <a:gd name="T5" fmla="*/ 86 h 86"/>
                <a:gd name="T6" fmla="*/ 41 w 197"/>
                <a:gd name="T7" fmla="*/ 65 h 86"/>
                <a:gd name="T8" fmla="*/ 5 w 197"/>
                <a:gd name="T9" fmla="*/ 37 h 86"/>
                <a:gd name="T10" fmla="*/ 114 w 197"/>
                <a:gd name="T11" fmla="*/ 25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7" h="86">
                  <a:moveTo>
                    <a:pt x="114" y="25"/>
                  </a:moveTo>
                  <a:cubicBezTo>
                    <a:pt x="130" y="36"/>
                    <a:pt x="177" y="60"/>
                    <a:pt x="187" y="64"/>
                  </a:cubicBezTo>
                  <a:cubicBezTo>
                    <a:pt x="197" y="68"/>
                    <a:pt x="191" y="85"/>
                    <a:pt x="152" y="86"/>
                  </a:cubicBezTo>
                  <a:cubicBezTo>
                    <a:pt x="127" y="86"/>
                    <a:pt x="76" y="79"/>
                    <a:pt x="41" y="65"/>
                  </a:cubicBezTo>
                  <a:cubicBezTo>
                    <a:pt x="21" y="57"/>
                    <a:pt x="7" y="48"/>
                    <a:pt x="5" y="37"/>
                  </a:cubicBezTo>
                  <a:cubicBezTo>
                    <a:pt x="0" y="6"/>
                    <a:pt x="81" y="0"/>
                    <a:pt x="114" y="25"/>
                  </a:cubicBezTo>
                  <a:close/>
                </a:path>
              </a:pathLst>
            </a:custGeom>
            <a:solidFill>
              <a:srgbClr val="4E27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66" name="Freeform 377"/>
            <p:cNvSpPr/>
            <p:nvPr/>
          </p:nvSpPr>
          <p:spPr bwMode="auto">
            <a:xfrm>
              <a:off x="4880" y="2018"/>
              <a:ext cx="723" cy="2170"/>
            </a:xfrm>
            <a:custGeom>
              <a:avLst/>
              <a:gdLst>
                <a:gd name="T0" fmla="*/ 14 w 305"/>
                <a:gd name="T1" fmla="*/ 0 h 917"/>
                <a:gd name="T2" fmla="*/ 19 w 305"/>
                <a:gd name="T3" fmla="*/ 378 h 917"/>
                <a:gd name="T4" fmla="*/ 48 w 305"/>
                <a:gd name="T5" fmla="*/ 806 h 917"/>
                <a:gd name="T6" fmla="*/ 39 w 305"/>
                <a:gd name="T7" fmla="*/ 905 h 917"/>
                <a:gd name="T8" fmla="*/ 89 w 305"/>
                <a:gd name="T9" fmla="*/ 916 h 917"/>
                <a:gd name="T10" fmla="*/ 147 w 305"/>
                <a:gd name="T11" fmla="*/ 917 h 917"/>
                <a:gd name="T12" fmla="*/ 141 w 305"/>
                <a:gd name="T13" fmla="*/ 812 h 917"/>
                <a:gd name="T14" fmla="*/ 128 w 305"/>
                <a:gd name="T15" fmla="*/ 373 h 917"/>
                <a:gd name="T16" fmla="*/ 136 w 305"/>
                <a:gd name="T17" fmla="*/ 199 h 917"/>
                <a:gd name="T18" fmla="*/ 159 w 305"/>
                <a:gd name="T19" fmla="*/ 199 h 917"/>
                <a:gd name="T20" fmla="*/ 179 w 305"/>
                <a:gd name="T21" fmla="*/ 373 h 917"/>
                <a:gd name="T22" fmla="*/ 196 w 305"/>
                <a:gd name="T23" fmla="*/ 812 h 917"/>
                <a:gd name="T24" fmla="*/ 197 w 305"/>
                <a:gd name="T25" fmla="*/ 917 h 917"/>
                <a:gd name="T26" fmla="*/ 255 w 305"/>
                <a:gd name="T27" fmla="*/ 916 h 917"/>
                <a:gd name="T28" fmla="*/ 305 w 305"/>
                <a:gd name="T29" fmla="*/ 905 h 917"/>
                <a:gd name="T30" fmla="*/ 288 w 305"/>
                <a:gd name="T31" fmla="*/ 806 h 917"/>
                <a:gd name="T32" fmla="*/ 288 w 305"/>
                <a:gd name="T33" fmla="*/ 378 h 917"/>
                <a:gd name="T34" fmla="*/ 271 w 305"/>
                <a:gd name="T35" fmla="*/ 0 h 917"/>
                <a:gd name="T36" fmla="*/ 14 w 305"/>
                <a:gd name="T37" fmla="*/ 0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05" h="917">
                  <a:moveTo>
                    <a:pt x="14" y="0"/>
                  </a:moveTo>
                  <a:cubicBezTo>
                    <a:pt x="5" y="78"/>
                    <a:pt x="0" y="232"/>
                    <a:pt x="19" y="378"/>
                  </a:cubicBezTo>
                  <a:cubicBezTo>
                    <a:pt x="39" y="524"/>
                    <a:pt x="48" y="749"/>
                    <a:pt x="48" y="806"/>
                  </a:cubicBezTo>
                  <a:cubicBezTo>
                    <a:pt x="48" y="862"/>
                    <a:pt x="39" y="905"/>
                    <a:pt x="39" y="905"/>
                  </a:cubicBezTo>
                  <a:cubicBezTo>
                    <a:pt x="39" y="905"/>
                    <a:pt x="50" y="916"/>
                    <a:pt x="89" y="916"/>
                  </a:cubicBezTo>
                  <a:cubicBezTo>
                    <a:pt x="128" y="916"/>
                    <a:pt x="147" y="917"/>
                    <a:pt x="147" y="917"/>
                  </a:cubicBezTo>
                  <a:cubicBezTo>
                    <a:pt x="147" y="917"/>
                    <a:pt x="142" y="875"/>
                    <a:pt x="141" y="812"/>
                  </a:cubicBezTo>
                  <a:cubicBezTo>
                    <a:pt x="139" y="749"/>
                    <a:pt x="126" y="470"/>
                    <a:pt x="128" y="373"/>
                  </a:cubicBezTo>
                  <a:cubicBezTo>
                    <a:pt x="129" y="276"/>
                    <a:pt x="123" y="199"/>
                    <a:pt x="136" y="199"/>
                  </a:cubicBezTo>
                  <a:cubicBezTo>
                    <a:pt x="143" y="200"/>
                    <a:pt x="152" y="200"/>
                    <a:pt x="159" y="199"/>
                  </a:cubicBezTo>
                  <a:cubicBezTo>
                    <a:pt x="171" y="199"/>
                    <a:pt x="170" y="276"/>
                    <a:pt x="179" y="373"/>
                  </a:cubicBezTo>
                  <a:cubicBezTo>
                    <a:pt x="187" y="470"/>
                    <a:pt x="193" y="749"/>
                    <a:pt x="196" y="812"/>
                  </a:cubicBezTo>
                  <a:cubicBezTo>
                    <a:pt x="199" y="875"/>
                    <a:pt x="197" y="917"/>
                    <a:pt x="197" y="917"/>
                  </a:cubicBezTo>
                  <a:cubicBezTo>
                    <a:pt x="197" y="917"/>
                    <a:pt x="217" y="916"/>
                    <a:pt x="255" y="916"/>
                  </a:cubicBezTo>
                  <a:cubicBezTo>
                    <a:pt x="294" y="916"/>
                    <a:pt x="305" y="905"/>
                    <a:pt x="305" y="905"/>
                  </a:cubicBezTo>
                  <a:cubicBezTo>
                    <a:pt x="305" y="905"/>
                    <a:pt x="292" y="862"/>
                    <a:pt x="288" y="806"/>
                  </a:cubicBezTo>
                  <a:cubicBezTo>
                    <a:pt x="284" y="749"/>
                    <a:pt x="278" y="524"/>
                    <a:pt x="288" y="378"/>
                  </a:cubicBezTo>
                  <a:cubicBezTo>
                    <a:pt x="297" y="232"/>
                    <a:pt x="286" y="78"/>
                    <a:pt x="271" y="0"/>
                  </a:cubicBezTo>
                  <a:cubicBezTo>
                    <a:pt x="260" y="5"/>
                    <a:pt x="25" y="5"/>
                    <a:pt x="14" y="0"/>
                  </a:cubicBezTo>
                  <a:close/>
                </a:path>
              </a:pathLst>
            </a:custGeom>
            <a:solidFill>
              <a:srgbClr val="4250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67" name="Freeform 378"/>
            <p:cNvSpPr/>
            <p:nvPr/>
          </p:nvSpPr>
          <p:spPr bwMode="auto">
            <a:xfrm>
              <a:off x="4774" y="1034"/>
              <a:ext cx="902" cy="1270"/>
            </a:xfrm>
            <a:custGeom>
              <a:avLst/>
              <a:gdLst>
                <a:gd name="T0" fmla="*/ 27 w 381"/>
                <a:gd name="T1" fmla="*/ 45 h 537"/>
                <a:gd name="T2" fmla="*/ 41 w 381"/>
                <a:gd name="T3" fmla="*/ 499 h 537"/>
                <a:gd name="T4" fmla="*/ 191 w 381"/>
                <a:gd name="T5" fmla="*/ 535 h 537"/>
                <a:gd name="T6" fmla="*/ 340 w 381"/>
                <a:gd name="T7" fmla="*/ 499 h 537"/>
                <a:gd name="T8" fmla="*/ 354 w 381"/>
                <a:gd name="T9" fmla="*/ 45 h 537"/>
                <a:gd name="T10" fmla="*/ 253 w 381"/>
                <a:gd name="T11" fmla="*/ 0 h 537"/>
                <a:gd name="T12" fmla="*/ 191 w 381"/>
                <a:gd name="T13" fmla="*/ 24 h 537"/>
                <a:gd name="T14" fmla="*/ 128 w 381"/>
                <a:gd name="T15" fmla="*/ 0 h 537"/>
                <a:gd name="T16" fmla="*/ 27 w 381"/>
                <a:gd name="T17" fmla="*/ 45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1" h="537">
                  <a:moveTo>
                    <a:pt x="27" y="45"/>
                  </a:moveTo>
                  <a:cubicBezTo>
                    <a:pt x="0" y="62"/>
                    <a:pt x="59" y="307"/>
                    <a:pt x="41" y="499"/>
                  </a:cubicBezTo>
                  <a:cubicBezTo>
                    <a:pt x="39" y="518"/>
                    <a:pt x="87" y="537"/>
                    <a:pt x="191" y="535"/>
                  </a:cubicBezTo>
                  <a:cubicBezTo>
                    <a:pt x="294" y="537"/>
                    <a:pt x="342" y="518"/>
                    <a:pt x="340" y="499"/>
                  </a:cubicBezTo>
                  <a:cubicBezTo>
                    <a:pt x="309" y="167"/>
                    <a:pt x="381" y="62"/>
                    <a:pt x="354" y="45"/>
                  </a:cubicBezTo>
                  <a:cubicBezTo>
                    <a:pt x="328" y="28"/>
                    <a:pt x="290" y="11"/>
                    <a:pt x="253" y="0"/>
                  </a:cubicBezTo>
                  <a:cubicBezTo>
                    <a:pt x="241" y="14"/>
                    <a:pt x="217" y="24"/>
                    <a:pt x="191" y="24"/>
                  </a:cubicBezTo>
                  <a:cubicBezTo>
                    <a:pt x="164" y="24"/>
                    <a:pt x="141" y="14"/>
                    <a:pt x="128" y="0"/>
                  </a:cubicBezTo>
                  <a:cubicBezTo>
                    <a:pt x="92" y="11"/>
                    <a:pt x="53" y="28"/>
                    <a:pt x="27" y="45"/>
                  </a:cubicBezTo>
                  <a:close/>
                </a:path>
              </a:pathLst>
            </a:custGeom>
            <a:solidFill>
              <a:srgbClr val="5F7D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68" name="Freeform 379"/>
            <p:cNvSpPr/>
            <p:nvPr/>
          </p:nvSpPr>
          <p:spPr bwMode="auto">
            <a:xfrm>
              <a:off x="4271" y="1112"/>
              <a:ext cx="657" cy="535"/>
            </a:xfrm>
            <a:custGeom>
              <a:avLst/>
              <a:gdLst>
                <a:gd name="T0" fmla="*/ 239 w 277"/>
                <a:gd name="T1" fmla="*/ 12 h 226"/>
                <a:gd name="T2" fmla="*/ 21 w 277"/>
                <a:gd name="T3" fmla="*/ 162 h 226"/>
                <a:gd name="T4" fmla="*/ 36 w 277"/>
                <a:gd name="T5" fmla="*/ 213 h 226"/>
                <a:gd name="T6" fmla="*/ 237 w 277"/>
                <a:gd name="T7" fmla="*/ 118 h 226"/>
                <a:gd name="T8" fmla="*/ 239 w 277"/>
                <a:gd name="T9" fmla="*/ 12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7" h="226">
                  <a:moveTo>
                    <a:pt x="239" y="12"/>
                  </a:moveTo>
                  <a:cubicBezTo>
                    <a:pt x="215" y="25"/>
                    <a:pt x="41" y="147"/>
                    <a:pt x="21" y="162"/>
                  </a:cubicBezTo>
                  <a:cubicBezTo>
                    <a:pt x="0" y="177"/>
                    <a:pt x="3" y="226"/>
                    <a:pt x="36" y="213"/>
                  </a:cubicBezTo>
                  <a:cubicBezTo>
                    <a:pt x="69" y="200"/>
                    <a:pt x="198" y="143"/>
                    <a:pt x="237" y="118"/>
                  </a:cubicBezTo>
                  <a:cubicBezTo>
                    <a:pt x="277" y="94"/>
                    <a:pt x="261" y="0"/>
                    <a:pt x="239" y="12"/>
                  </a:cubicBezTo>
                  <a:close/>
                </a:path>
              </a:pathLst>
            </a:custGeom>
            <a:solidFill>
              <a:srgbClr val="5F7D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69" name="Freeform 380"/>
            <p:cNvSpPr/>
            <p:nvPr/>
          </p:nvSpPr>
          <p:spPr bwMode="auto">
            <a:xfrm>
              <a:off x="3971" y="826"/>
              <a:ext cx="317" cy="485"/>
            </a:xfrm>
            <a:custGeom>
              <a:avLst/>
              <a:gdLst>
                <a:gd name="T0" fmla="*/ 90 w 134"/>
                <a:gd name="T1" fmla="*/ 186 h 205"/>
                <a:gd name="T2" fmla="*/ 52 w 134"/>
                <a:gd name="T3" fmla="*/ 133 h 205"/>
                <a:gd name="T4" fmla="*/ 8 w 134"/>
                <a:gd name="T5" fmla="*/ 72 h 205"/>
                <a:gd name="T6" fmla="*/ 9 w 134"/>
                <a:gd name="T7" fmla="*/ 47 h 205"/>
                <a:gd name="T8" fmla="*/ 19 w 134"/>
                <a:gd name="T9" fmla="*/ 26 h 205"/>
                <a:gd name="T10" fmla="*/ 36 w 134"/>
                <a:gd name="T11" fmla="*/ 20 h 205"/>
                <a:gd name="T12" fmla="*/ 59 w 134"/>
                <a:gd name="T13" fmla="*/ 33 h 205"/>
                <a:gd name="T14" fmla="*/ 92 w 134"/>
                <a:gd name="T15" fmla="*/ 88 h 205"/>
                <a:gd name="T16" fmla="*/ 103 w 134"/>
                <a:gd name="T17" fmla="*/ 45 h 205"/>
                <a:gd name="T18" fmla="*/ 123 w 134"/>
                <a:gd name="T19" fmla="*/ 75 h 205"/>
                <a:gd name="T20" fmla="*/ 126 w 134"/>
                <a:gd name="T21" fmla="*/ 118 h 205"/>
                <a:gd name="T22" fmla="*/ 113 w 134"/>
                <a:gd name="T23" fmla="*/ 173 h 205"/>
                <a:gd name="T24" fmla="*/ 90 w 134"/>
                <a:gd name="T25" fmla="*/ 186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4" h="205">
                  <a:moveTo>
                    <a:pt x="90" y="186"/>
                  </a:moveTo>
                  <a:cubicBezTo>
                    <a:pt x="85" y="167"/>
                    <a:pt x="71" y="144"/>
                    <a:pt x="52" y="133"/>
                  </a:cubicBezTo>
                  <a:cubicBezTo>
                    <a:pt x="32" y="123"/>
                    <a:pt x="15" y="87"/>
                    <a:pt x="8" y="72"/>
                  </a:cubicBezTo>
                  <a:cubicBezTo>
                    <a:pt x="2" y="57"/>
                    <a:pt x="5" y="45"/>
                    <a:pt x="9" y="47"/>
                  </a:cubicBezTo>
                  <a:cubicBezTo>
                    <a:pt x="0" y="32"/>
                    <a:pt x="9" y="17"/>
                    <a:pt x="19" y="26"/>
                  </a:cubicBezTo>
                  <a:cubicBezTo>
                    <a:pt x="18" y="12"/>
                    <a:pt x="28" y="0"/>
                    <a:pt x="36" y="20"/>
                  </a:cubicBezTo>
                  <a:cubicBezTo>
                    <a:pt x="44" y="0"/>
                    <a:pt x="56" y="25"/>
                    <a:pt x="59" y="33"/>
                  </a:cubicBezTo>
                  <a:cubicBezTo>
                    <a:pt x="64" y="50"/>
                    <a:pt x="82" y="89"/>
                    <a:pt x="92" y="88"/>
                  </a:cubicBezTo>
                  <a:cubicBezTo>
                    <a:pt x="114" y="85"/>
                    <a:pt x="93" y="49"/>
                    <a:pt x="103" y="45"/>
                  </a:cubicBezTo>
                  <a:cubicBezTo>
                    <a:pt x="113" y="41"/>
                    <a:pt x="119" y="60"/>
                    <a:pt x="123" y="75"/>
                  </a:cubicBezTo>
                  <a:cubicBezTo>
                    <a:pt x="128" y="90"/>
                    <a:pt x="134" y="103"/>
                    <a:pt x="126" y="118"/>
                  </a:cubicBezTo>
                  <a:cubicBezTo>
                    <a:pt x="118" y="132"/>
                    <a:pt x="106" y="149"/>
                    <a:pt x="113" y="173"/>
                  </a:cubicBezTo>
                  <a:cubicBezTo>
                    <a:pt x="121" y="198"/>
                    <a:pt x="94" y="205"/>
                    <a:pt x="90" y="186"/>
                  </a:cubicBezTo>
                  <a:close/>
                </a:path>
              </a:pathLst>
            </a:custGeom>
            <a:solidFill>
              <a:srgbClr val="F2AC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70" name="Freeform 381"/>
            <p:cNvSpPr/>
            <p:nvPr/>
          </p:nvSpPr>
          <p:spPr bwMode="auto">
            <a:xfrm>
              <a:off x="4151" y="1200"/>
              <a:ext cx="286" cy="496"/>
            </a:xfrm>
            <a:custGeom>
              <a:avLst/>
              <a:gdLst>
                <a:gd name="T0" fmla="*/ 101 w 121"/>
                <a:gd name="T1" fmla="*/ 127 h 210"/>
                <a:gd name="T2" fmla="*/ 46 w 121"/>
                <a:gd name="T3" fmla="*/ 0 h 210"/>
                <a:gd name="T4" fmla="*/ 0 w 121"/>
                <a:gd name="T5" fmla="*/ 21 h 210"/>
                <a:gd name="T6" fmla="*/ 46 w 121"/>
                <a:gd name="T7" fmla="*/ 149 h 210"/>
                <a:gd name="T8" fmla="*/ 101 w 121"/>
                <a:gd name="T9" fmla="*/ 127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1" h="210">
                  <a:moveTo>
                    <a:pt x="101" y="127"/>
                  </a:moveTo>
                  <a:cubicBezTo>
                    <a:pt x="86" y="98"/>
                    <a:pt x="46" y="0"/>
                    <a:pt x="46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35" y="121"/>
                    <a:pt x="46" y="149"/>
                  </a:cubicBezTo>
                  <a:cubicBezTo>
                    <a:pt x="69" y="210"/>
                    <a:pt x="121" y="164"/>
                    <a:pt x="101" y="127"/>
                  </a:cubicBezTo>
                  <a:close/>
                </a:path>
              </a:pathLst>
            </a:custGeom>
            <a:solidFill>
              <a:srgbClr val="5F7D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71" name="Freeform 382"/>
            <p:cNvSpPr/>
            <p:nvPr/>
          </p:nvSpPr>
          <p:spPr bwMode="auto">
            <a:xfrm>
              <a:off x="3987" y="861"/>
              <a:ext cx="254" cy="225"/>
            </a:xfrm>
            <a:custGeom>
              <a:avLst/>
              <a:gdLst>
                <a:gd name="T0" fmla="*/ 0 w 107"/>
                <a:gd name="T1" fmla="*/ 32 h 95"/>
                <a:gd name="T2" fmla="*/ 2 w 107"/>
                <a:gd name="T3" fmla="*/ 32 h 95"/>
                <a:gd name="T4" fmla="*/ 1 w 107"/>
                <a:gd name="T5" fmla="*/ 29 h 95"/>
                <a:gd name="T6" fmla="*/ 29 w 107"/>
                <a:gd name="T7" fmla="*/ 80 h 95"/>
                <a:gd name="T8" fmla="*/ 35 w 107"/>
                <a:gd name="T9" fmla="*/ 73 h 95"/>
                <a:gd name="T10" fmla="*/ 13 w 107"/>
                <a:gd name="T11" fmla="*/ 22 h 95"/>
                <a:gd name="T12" fmla="*/ 8 w 107"/>
                <a:gd name="T13" fmla="*/ 9 h 95"/>
                <a:gd name="T14" fmla="*/ 12 w 107"/>
                <a:gd name="T15" fmla="*/ 11 h 95"/>
                <a:gd name="T16" fmla="*/ 12 w 107"/>
                <a:gd name="T17" fmla="*/ 10 h 95"/>
                <a:gd name="T18" fmla="*/ 12 w 107"/>
                <a:gd name="T19" fmla="*/ 10 h 95"/>
                <a:gd name="T20" fmla="*/ 39 w 107"/>
                <a:gd name="T21" fmla="*/ 73 h 95"/>
                <a:gd name="T22" fmla="*/ 51 w 107"/>
                <a:gd name="T23" fmla="*/ 72 h 95"/>
                <a:gd name="T24" fmla="*/ 45 w 107"/>
                <a:gd name="T25" fmla="*/ 49 h 95"/>
                <a:gd name="T26" fmla="*/ 29 w 107"/>
                <a:gd name="T27" fmla="*/ 5 h 95"/>
                <a:gd name="T28" fmla="*/ 27 w 107"/>
                <a:gd name="T29" fmla="*/ 0 h 95"/>
                <a:gd name="T30" fmla="*/ 29 w 107"/>
                <a:gd name="T31" fmla="*/ 5 h 95"/>
                <a:gd name="T32" fmla="*/ 30 w 107"/>
                <a:gd name="T33" fmla="*/ 3 h 95"/>
                <a:gd name="T34" fmla="*/ 30 w 107"/>
                <a:gd name="T35" fmla="*/ 3 h 95"/>
                <a:gd name="T36" fmla="*/ 56 w 107"/>
                <a:gd name="T37" fmla="*/ 67 h 95"/>
                <a:gd name="T38" fmla="*/ 77 w 107"/>
                <a:gd name="T39" fmla="*/ 68 h 95"/>
                <a:gd name="T40" fmla="*/ 77 w 107"/>
                <a:gd name="T41" fmla="*/ 67 h 95"/>
                <a:gd name="T42" fmla="*/ 85 w 107"/>
                <a:gd name="T43" fmla="*/ 73 h 95"/>
                <a:gd name="T44" fmla="*/ 96 w 107"/>
                <a:gd name="T45" fmla="*/ 61 h 95"/>
                <a:gd name="T46" fmla="*/ 105 w 107"/>
                <a:gd name="T47" fmla="*/ 92 h 95"/>
                <a:gd name="T48" fmla="*/ 53 w 107"/>
                <a:gd name="T49" fmla="*/ 78 h 95"/>
                <a:gd name="T50" fmla="*/ 22 w 107"/>
                <a:gd name="T51" fmla="*/ 89 h 95"/>
                <a:gd name="T52" fmla="*/ 26 w 107"/>
                <a:gd name="T53" fmla="*/ 81 h 95"/>
                <a:gd name="T54" fmla="*/ 17 w 107"/>
                <a:gd name="T55" fmla="*/ 60 h 95"/>
                <a:gd name="T56" fmla="*/ 0 w 107"/>
                <a:gd name="T57" fmla="*/ 3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07" h="95">
                  <a:moveTo>
                    <a:pt x="0" y="32"/>
                  </a:moveTo>
                  <a:cubicBezTo>
                    <a:pt x="1" y="32"/>
                    <a:pt x="2" y="32"/>
                    <a:pt x="2" y="32"/>
                  </a:cubicBezTo>
                  <a:cubicBezTo>
                    <a:pt x="2" y="31"/>
                    <a:pt x="1" y="30"/>
                    <a:pt x="1" y="29"/>
                  </a:cubicBezTo>
                  <a:cubicBezTo>
                    <a:pt x="16" y="50"/>
                    <a:pt x="27" y="77"/>
                    <a:pt x="29" y="80"/>
                  </a:cubicBezTo>
                  <a:cubicBezTo>
                    <a:pt x="31" y="84"/>
                    <a:pt x="38" y="78"/>
                    <a:pt x="35" y="73"/>
                  </a:cubicBezTo>
                  <a:cubicBezTo>
                    <a:pt x="33" y="69"/>
                    <a:pt x="19" y="36"/>
                    <a:pt x="13" y="22"/>
                  </a:cubicBezTo>
                  <a:cubicBezTo>
                    <a:pt x="11" y="16"/>
                    <a:pt x="9" y="12"/>
                    <a:pt x="8" y="9"/>
                  </a:cubicBezTo>
                  <a:cubicBezTo>
                    <a:pt x="9" y="9"/>
                    <a:pt x="11" y="10"/>
                    <a:pt x="12" y="11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30"/>
                    <a:pt x="35" y="65"/>
                    <a:pt x="39" y="73"/>
                  </a:cubicBezTo>
                  <a:cubicBezTo>
                    <a:pt x="43" y="80"/>
                    <a:pt x="49" y="76"/>
                    <a:pt x="51" y="72"/>
                  </a:cubicBezTo>
                  <a:cubicBezTo>
                    <a:pt x="54" y="68"/>
                    <a:pt x="50" y="62"/>
                    <a:pt x="45" y="49"/>
                  </a:cubicBezTo>
                  <a:cubicBezTo>
                    <a:pt x="40" y="37"/>
                    <a:pt x="32" y="13"/>
                    <a:pt x="29" y="5"/>
                  </a:cubicBezTo>
                  <a:cubicBezTo>
                    <a:pt x="28" y="3"/>
                    <a:pt x="28" y="1"/>
                    <a:pt x="27" y="0"/>
                  </a:cubicBezTo>
                  <a:cubicBezTo>
                    <a:pt x="28" y="1"/>
                    <a:pt x="29" y="3"/>
                    <a:pt x="29" y="5"/>
                  </a:cubicBezTo>
                  <a:cubicBezTo>
                    <a:pt x="30" y="4"/>
                    <a:pt x="30" y="3"/>
                    <a:pt x="3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4" y="14"/>
                    <a:pt x="53" y="61"/>
                    <a:pt x="56" y="67"/>
                  </a:cubicBezTo>
                  <a:cubicBezTo>
                    <a:pt x="60" y="72"/>
                    <a:pt x="72" y="71"/>
                    <a:pt x="77" y="68"/>
                  </a:cubicBezTo>
                  <a:cubicBezTo>
                    <a:pt x="77" y="67"/>
                    <a:pt x="77" y="67"/>
                    <a:pt x="77" y="67"/>
                  </a:cubicBezTo>
                  <a:cubicBezTo>
                    <a:pt x="80" y="71"/>
                    <a:pt x="83" y="73"/>
                    <a:pt x="85" y="73"/>
                  </a:cubicBezTo>
                  <a:cubicBezTo>
                    <a:pt x="93" y="72"/>
                    <a:pt x="95" y="67"/>
                    <a:pt x="96" y="61"/>
                  </a:cubicBezTo>
                  <a:cubicBezTo>
                    <a:pt x="96" y="81"/>
                    <a:pt x="107" y="95"/>
                    <a:pt x="105" y="92"/>
                  </a:cubicBezTo>
                  <a:cubicBezTo>
                    <a:pt x="86" y="70"/>
                    <a:pt x="61" y="76"/>
                    <a:pt x="53" y="78"/>
                  </a:cubicBezTo>
                  <a:cubicBezTo>
                    <a:pt x="41" y="81"/>
                    <a:pt x="32" y="85"/>
                    <a:pt x="22" y="89"/>
                  </a:cubicBezTo>
                  <a:cubicBezTo>
                    <a:pt x="13" y="92"/>
                    <a:pt x="27" y="85"/>
                    <a:pt x="26" y="81"/>
                  </a:cubicBezTo>
                  <a:cubicBezTo>
                    <a:pt x="26" y="77"/>
                    <a:pt x="22" y="72"/>
                    <a:pt x="17" y="60"/>
                  </a:cubicBezTo>
                  <a:cubicBezTo>
                    <a:pt x="13" y="50"/>
                    <a:pt x="8" y="42"/>
                    <a:pt x="0" y="32"/>
                  </a:cubicBezTo>
                  <a:close/>
                </a:path>
              </a:pathLst>
            </a:custGeom>
            <a:solidFill>
              <a:srgbClr val="CC8C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72" name="Freeform 383"/>
            <p:cNvSpPr/>
            <p:nvPr/>
          </p:nvSpPr>
          <p:spPr bwMode="auto">
            <a:xfrm>
              <a:off x="5465" y="1105"/>
              <a:ext cx="325" cy="901"/>
            </a:xfrm>
            <a:custGeom>
              <a:avLst/>
              <a:gdLst>
                <a:gd name="T0" fmla="*/ 65 w 137"/>
                <a:gd name="T1" fmla="*/ 19 h 381"/>
                <a:gd name="T2" fmla="*/ 129 w 137"/>
                <a:gd name="T3" fmla="*/ 320 h 381"/>
                <a:gd name="T4" fmla="*/ 86 w 137"/>
                <a:gd name="T5" fmla="*/ 352 h 381"/>
                <a:gd name="T6" fmla="*/ 18 w 137"/>
                <a:gd name="T7" fmla="*/ 133 h 381"/>
                <a:gd name="T8" fmla="*/ 65 w 137"/>
                <a:gd name="T9" fmla="*/ 19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7" h="381">
                  <a:moveTo>
                    <a:pt x="65" y="19"/>
                  </a:moveTo>
                  <a:cubicBezTo>
                    <a:pt x="82" y="39"/>
                    <a:pt x="121" y="296"/>
                    <a:pt x="129" y="320"/>
                  </a:cubicBezTo>
                  <a:cubicBezTo>
                    <a:pt x="137" y="344"/>
                    <a:pt x="105" y="381"/>
                    <a:pt x="86" y="352"/>
                  </a:cubicBezTo>
                  <a:cubicBezTo>
                    <a:pt x="67" y="322"/>
                    <a:pt x="35" y="177"/>
                    <a:pt x="18" y="133"/>
                  </a:cubicBezTo>
                  <a:cubicBezTo>
                    <a:pt x="0" y="90"/>
                    <a:pt x="50" y="0"/>
                    <a:pt x="65" y="19"/>
                  </a:cubicBezTo>
                  <a:close/>
                </a:path>
              </a:pathLst>
            </a:custGeom>
            <a:solidFill>
              <a:srgbClr val="5F7D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73" name="Freeform 384"/>
            <p:cNvSpPr/>
            <p:nvPr/>
          </p:nvSpPr>
          <p:spPr bwMode="auto">
            <a:xfrm>
              <a:off x="5603" y="2241"/>
              <a:ext cx="234" cy="513"/>
            </a:xfrm>
            <a:custGeom>
              <a:avLst/>
              <a:gdLst>
                <a:gd name="T0" fmla="*/ 58 w 99"/>
                <a:gd name="T1" fmla="*/ 22 h 217"/>
                <a:gd name="T2" fmla="*/ 76 w 99"/>
                <a:gd name="T3" fmla="*/ 84 h 217"/>
                <a:gd name="T4" fmla="*/ 97 w 99"/>
                <a:gd name="T5" fmla="*/ 156 h 217"/>
                <a:gd name="T6" fmla="*/ 88 w 99"/>
                <a:gd name="T7" fmla="*/ 179 h 217"/>
                <a:gd name="T8" fmla="*/ 72 w 99"/>
                <a:gd name="T9" fmla="*/ 196 h 217"/>
                <a:gd name="T10" fmla="*/ 53 w 99"/>
                <a:gd name="T11" fmla="*/ 196 h 217"/>
                <a:gd name="T12" fmla="*/ 37 w 99"/>
                <a:gd name="T13" fmla="*/ 176 h 217"/>
                <a:gd name="T14" fmla="*/ 22 w 99"/>
                <a:gd name="T15" fmla="*/ 109 h 217"/>
                <a:gd name="T16" fmla="*/ 14 w 99"/>
                <a:gd name="T17" fmla="*/ 153 h 217"/>
                <a:gd name="T18" fmla="*/ 1 w 99"/>
                <a:gd name="T19" fmla="*/ 115 h 217"/>
                <a:gd name="T20" fmla="*/ 13 w 99"/>
                <a:gd name="T21" fmla="*/ 74 h 217"/>
                <a:gd name="T22" fmla="*/ 32 w 99"/>
                <a:gd name="T23" fmla="*/ 25 h 217"/>
                <a:gd name="T24" fmla="*/ 58 w 99"/>
                <a:gd name="T25" fmla="*/ 22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9" h="217">
                  <a:moveTo>
                    <a:pt x="58" y="22"/>
                  </a:moveTo>
                  <a:cubicBezTo>
                    <a:pt x="56" y="41"/>
                    <a:pt x="62" y="67"/>
                    <a:pt x="76" y="84"/>
                  </a:cubicBezTo>
                  <a:cubicBezTo>
                    <a:pt x="91" y="100"/>
                    <a:pt x="96" y="139"/>
                    <a:pt x="97" y="156"/>
                  </a:cubicBezTo>
                  <a:cubicBezTo>
                    <a:pt x="99" y="172"/>
                    <a:pt x="91" y="182"/>
                    <a:pt x="88" y="179"/>
                  </a:cubicBezTo>
                  <a:cubicBezTo>
                    <a:pt x="92" y="196"/>
                    <a:pt x="78" y="207"/>
                    <a:pt x="72" y="196"/>
                  </a:cubicBezTo>
                  <a:cubicBezTo>
                    <a:pt x="69" y="209"/>
                    <a:pt x="55" y="217"/>
                    <a:pt x="53" y="196"/>
                  </a:cubicBezTo>
                  <a:cubicBezTo>
                    <a:pt x="40" y="212"/>
                    <a:pt x="36" y="184"/>
                    <a:pt x="37" y="176"/>
                  </a:cubicBezTo>
                  <a:cubicBezTo>
                    <a:pt x="37" y="158"/>
                    <a:pt x="32" y="113"/>
                    <a:pt x="22" y="109"/>
                  </a:cubicBezTo>
                  <a:cubicBezTo>
                    <a:pt x="12" y="105"/>
                    <a:pt x="25" y="153"/>
                    <a:pt x="14" y="153"/>
                  </a:cubicBezTo>
                  <a:cubicBezTo>
                    <a:pt x="4" y="153"/>
                    <a:pt x="0" y="131"/>
                    <a:pt x="1" y="115"/>
                  </a:cubicBezTo>
                  <a:cubicBezTo>
                    <a:pt x="2" y="99"/>
                    <a:pt x="0" y="84"/>
                    <a:pt x="13" y="74"/>
                  </a:cubicBezTo>
                  <a:cubicBezTo>
                    <a:pt x="25" y="63"/>
                    <a:pt x="31" y="51"/>
                    <a:pt x="32" y="25"/>
                  </a:cubicBezTo>
                  <a:cubicBezTo>
                    <a:pt x="33" y="0"/>
                    <a:pt x="60" y="2"/>
                    <a:pt x="58" y="22"/>
                  </a:cubicBezTo>
                  <a:close/>
                </a:path>
              </a:pathLst>
            </a:custGeom>
            <a:solidFill>
              <a:srgbClr val="F2AC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74" name="Freeform 385"/>
            <p:cNvSpPr/>
            <p:nvPr/>
          </p:nvSpPr>
          <p:spPr bwMode="auto">
            <a:xfrm>
              <a:off x="5304" y="2361"/>
              <a:ext cx="263" cy="327"/>
            </a:xfrm>
            <a:custGeom>
              <a:avLst/>
              <a:gdLst>
                <a:gd name="T0" fmla="*/ 88 w 263"/>
                <a:gd name="T1" fmla="*/ 0 h 327"/>
                <a:gd name="T2" fmla="*/ 263 w 263"/>
                <a:gd name="T3" fmla="*/ 159 h 327"/>
                <a:gd name="T4" fmla="*/ 123 w 263"/>
                <a:gd name="T5" fmla="*/ 327 h 327"/>
                <a:gd name="T6" fmla="*/ 0 w 263"/>
                <a:gd name="T7" fmla="*/ 194 h 327"/>
                <a:gd name="T8" fmla="*/ 88 w 263"/>
                <a:gd name="T9" fmla="*/ 0 h 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3" h="327">
                  <a:moveTo>
                    <a:pt x="88" y="0"/>
                  </a:moveTo>
                  <a:lnTo>
                    <a:pt x="263" y="159"/>
                  </a:lnTo>
                  <a:lnTo>
                    <a:pt x="123" y="327"/>
                  </a:lnTo>
                  <a:lnTo>
                    <a:pt x="0" y="194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4250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75" name="Freeform 386"/>
            <p:cNvSpPr/>
            <p:nvPr/>
          </p:nvSpPr>
          <p:spPr bwMode="auto">
            <a:xfrm>
              <a:off x="5612" y="1741"/>
              <a:ext cx="156" cy="604"/>
            </a:xfrm>
            <a:custGeom>
              <a:avLst/>
              <a:gdLst>
                <a:gd name="T0" fmla="*/ 66 w 66"/>
                <a:gd name="T1" fmla="*/ 65 h 255"/>
                <a:gd name="T2" fmla="*/ 62 w 66"/>
                <a:gd name="T3" fmla="*/ 255 h 255"/>
                <a:gd name="T4" fmla="*/ 10 w 66"/>
                <a:gd name="T5" fmla="*/ 253 h 255"/>
                <a:gd name="T6" fmla="*/ 13 w 66"/>
                <a:gd name="T7" fmla="*/ 64 h 255"/>
                <a:gd name="T8" fmla="*/ 66 w 66"/>
                <a:gd name="T9" fmla="*/ 65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" h="255">
                  <a:moveTo>
                    <a:pt x="66" y="65"/>
                  </a:moveTo>
                  <a:cubicBezTo>
                    <a:pt x="66" y="98"/>
                    <a:pt x="62" y="255"/>
                    <a:pt x="62" y="255"/>
                  </a:cubicBezTo>
                  <a:cubicBezTo>
                    <a:pt x="10" y="253"/>
                    <a:pt x="10" y="253"/>
                    <a:pt x="10" y="253"/>
                  </a:cubicBezTo>
                  <a:cubicBezTo>
                    <a:pt x="10" y="253"/>
                    <a:pt x="17" y="84"/>
                    <a:pt x="13" y="64"/>
                  </a:cubicBezTo>
                  <a:cubicBezTo>
                    <a:pt x="0" y="0"/>
                    <a:pt x="65" y="25"/>
                    <a:pt x="66" y="65"/>
                  </a:cubicBezTo>
                  <a:close/>
                </a:path>
              </a:pathLst>
            </a:custGeom>
            <a:solidFill>
              <a:srgbClr val="5F7D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76" name="Freeform 387"/>
            <p:cNvSpPr/>
            <p:nvPr/>
          </p:nvSpPr>
          <p:spPr bwMode="auto">
            <a:xfrm>
              <a:off x="4468" y="-485"/>
              <a:ext cx="1376" cy="1006"/>
            </a:xfrm>
            <a:custGeom>
              <a:avLst/>
              <a:gdLst>
                <a:gd name="T0" fmla="*/ 145 w 581"/>
                <a:gd name="T1" fmla="*/ 188 h 425"/>
                <a:gd name="T2" fmla="*/ 290 w 581"/>
                <a:gd name="T3" fmla="*/ 191 h 425"/>
                <a:gd name="T4" fmla="*/ 345 w 581"/>
                <a:gd name="T5" fmla="*/ 193 h 425"/>
                <a:gd name="T6" fmla="*/ 477 w 581"/>
                <a:gd name="T7" fmla="*/ 185 h 425"/>
                <a:gd name="T8" fmla="*/ 518 w 581"/>
                <a:gd name="T9" fmla="*/ 320 h 425"/>
                <a:gd name="T10" fmla="*/ 522 w 581"/>
                <a:gd name="T11" fmla="*/ 413 h 425"/>
                <a:gd name="T12" fmla="*/ 542 w 581"/>
                <a:gd name="T13" fmla="*/ 277 h 425"/>
                <a:gd name="T14" fmla="*/ 562 w 581"/>
                <a:gd name="T15" fmla="*/ 129 h 425"/>
                <a:gd name="T16" fmla="*/ 512 w 581"/>
                <a:gd name="T17" fmla="*/ 67 h 425"/>
                <a:gd name="T18" fmla="*/ 429 w 581"/>
                <a:gd name="T19" fmla="*/ 59 h 425"/>
                <a:gd name="T20" fmla="*/ 237 w 581"/>
                <a:gd name="T21" fmla="*/ 2 h 425"/>
                <a:gd name="T22" fmla="*/ 217 w 581"/>
                <a:gd name="T23" fmla="*/ 16 h 425"/>
                <a:gd name="T24" fmla="*/ 170 w 581"/>
                <a:gd name="T25" fmla="*/ 34 h 425"/>
                <a:gd name="T26" fmla="*/ 40 w 581"/>
                <a:gd name="T27" fmla="*/ 69 h 425"/>
                <a:gd name="T28" fmla="*/ 47 w 581"/>
                <a:gd name="T29" fmla="*/ 83 h 425"/>
                <a:gd name="T30" fmla="*/ 70 w 581"/>
                <a:gd name="T31" fmla="*/ 89 h 425"/>
                <a:gd name="T32" fmla="*/ 35 w 581"/>
                <a:gd name="T33" fmla="*/ 132 h 425"/>
                <a:gd name="T34" fmla="*/ 77 w 581"/>
                <a:gd name="T35" fmla="*/ 174 h 425"/>
                <a:gd name="T36" fmla="*/ 105 w 581"/>
                <a:gd name="T37" fmla="*/ 250 h 425"/>
                <a:gd name="T38" fmla="*/ 120 w 581"/>
                <a:gd name="T39" fmla="*/ 404 h 425"/>
                <a:gd name="T40" fmla="*/ 145 w 581"/>
                <a:gd name="T41" fmla="*/ 188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81" h="425">
                  <a:moveTo>
                    <a:pt x="145" y="188"/>
                  </a:moveTo>
                  <a:cubicBezTo>
                    <a:pt x="170" y="171"/>
                    <a:pt x="268" y="177"/>
                    <a:pt x="290" y="191"/>
                  </a:cubicBezTo>
                  <a:cubicBezTo>
                    <a:pt x="313" y="205"/>
                    <a:pt x="325" y="205"/>
                    <a:pt x="345" y="193"/>
                  </a:cubicBezTo>
                  <a:cubicBezTo>
                    <a:pt x="365" y="181"/>
                    <a:pt x="440" y="175"/>
                    <a:pt x="477" y="185"/>
                  </a:cubicBezTo>
                  <a:cubicBezTo>
                    <a:pt x="515" y="195"/>
                    <a:pt x="520" y="275"/>
                    <a:pt x="518" y="320"/>
                  </a:cubicBezTo>
                  <a:cubicBezTo>
                    <a:pt x="515" y="364"/>
                    <a:pt x="508" y="390"/>
                    <a:pt x="522" y="413"/>
                  </a:cubicBezTo>
                  <a:cubicBezTo>
                    <a:pt x="530" y="425"/>
                    <a:pt x="539" y="319"/>
                    <a:pt x="542" y="277"/>
                  </a:cubicBezTo>
                  <a:cubicBezTo>
                    <a:pt x="544" y="234"/>
                    <a:pt x="581" y="188"/>
                    <a:pt x="562" y="129"/>
                  </a:cubicBezTo>
                  <a:cubicBezTo>
                    <a:pt x="542" y="71"/>
                    <a:pt x="502" y="45"/>
                    <a:pt x="512" y="67"/>
                  </a:cubicBezTo>
                  <a:cubicBezTo>
                    <a:pt x="522" y="89"/>
                    <a:pt x="479" y="99"/>
                    <a:pt x="429" y="59"/>
                  </a:cubicBezTo>
                  <a:cubicBezTo>
                    <a:pt x="379" y="18"/>
                    <a:pt x="312" y="0"/>
                    <a:pt x="237" y="2"/>
                  </a:cubicBezTo>
                  <a:cubicBezTo>
                    <a:pt x="162" y="4"/>
                    <a:pt x="170" y="14"/>
                    <a:pt x="217" y="16"/>
                  </a:cubicBezTo>
                  <a:cubicBezTo>
                    <a:pt x="264" y="18"/>
                    <a:pt x="237" y="30"/>
                    <a:pt x="170" y="34"/>
                  </a:cubicBezTo>
                  <a:cubicBezTo>
                    <a:pt x="102" y="39"/>
                    <a:pt x="80" y="47"/>
                    <a:pt x="40" y="69"/>
                  </a:cubicBezTo>
                  <a:cubicBezTo>
                    <a:pt x="0" y="91"/>
                    <a:pt x="7" y="99"/>
                    <a:pt x="47" y="83"/>
                  </a:cubicBezTo>
                  <a:cubicBezTo>
                    <a:pt x="87" y="67"/>
                    <a:pt x="102" y="77"/>
                    <a:pt x="70" y="89"/>
                  </a:cubicBezTo>
                  <a:cubicBezTo>
                    <a:pt x="42" y="99"/>
                    <a:pt x="5" y="154"/>
                    <a:pt x="35" y="132"/>
                  </a:cubicBezTo>
                  <a:cubicBezTo>
                    <a:pt x="65" y="109"/>
                    <a:pt x="69" y="145"/>
                    <a:pt x="77" y="174"/>
                  </a:cubicBezTo>
                  <a:cubicBezTo>
                    <a:pt x="83" y="194"/>
                    <a:pt x="105" y="202"/>
                    <a:pt x="105" y="250"/>
                  </a:cubicBezTo>
                  <a:cubicBezTo>
                    <a:pt x="105" y="299"/>
                    <a:pt x="104" y="417"/>
                    <a:pt x="120" y="404"/>
                  </a:cubicBezTo>
                  <a:cubicBezTo>
                    <a:pt x="137" y="389"/>
                    <a:pt x="109" y="212"/>
                    <a:pt x="145" y="188"/>
                  </a:cubicBezTo>
                  <a:close/>
                </a:path>
              </a:pathLst>
            </a:custGeom>
            <a:solidFill>
              <a:srgbClr val="4E27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77" name="Oval 388"/>
            <p:cNvSpPr>
              <a:spLocks noChangeArrowheads="1"/>
            </p:cNvSpPr>
            <p:nvPr/>
          </p:nvSpPr>
          <p:spPr bwMode="auto">
            <a:xfrm>
              <a:off x="5371" y="270"/>
              <a:ext cx="94" cy="132"/>
            </a:xfrm>
            <a:prstGeom prst="ellipse">
              <a:avLst/>
            </a:prstGeom>
            <a:solidFill>
              <a:srgbClr val="222A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78" name="Oval 389"/>
            <p:cNvSpPr>
              <a:spLocks noChangeArrowheads="1"/>
            </p:cNvSpPr>
            <p:nvPr/>
          </p:nvSpPr>
          <p:spPr bwMode="auto">
            <a:xfrm>
              <a:off x="5413" y="284"/>
              <a:ext cx="38" cy="5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79" name="Freeform 390"/>
            <p:cNvSpPr/>
            <p:nvPr/>
          </p:nvSpPr>
          <p:spPr bwMode="auto">
            <a:xfrm>
              <a:off x="5314" y="196"/>
              <a:ext cx="227" cy="55"/>
            </a:xfrm>
            <a:custGeom>
              <a:avLst/>
              <a:gdLst>
                <a:gd name="T0" fmla="*/ 18 w 96"/>
                <a:gd name="T1" fmla="*/ 21 h 23"/>
                <a:gd name="T2" fmla="*/ 74 w 96"/>
                <a:gd name="T3" fmla="*/ 18 h 23"/>
                <a:gd name="T4" fmla="*/ 75 w 96"/>
                <a:gd name="T5" fmla="*/ 9 h 23"/>
                <a:gd name="T6" fmla="*/ 18 w 96"/>
                <a:gd name="T7" fmla="*/ 1 h 23"/>
                <a:gd name="T8" fmla="*/ 18 w 96"/>
                <a:gd name="T9" fmla="*/ 2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23">
                  <a:moveTo>
                    <a:pt x="18" y="21"/>
                  </a:moveTo>
                  <a:cubicBezTo>
                    <a:pt x="34" y="20"/>
                    <a:pt x="56" y="15"/>
                    <a:pt x="74" y="18"/>
                  </a:cubicBezTo>
                  <a:cubicBezTo>
                    <a:pt x="91" y="22"/>
                    <a:pt x="96" y="17"/>
                    <a:pt x="75" y="9"/>
                  </a:cubicBezTo>
                  <a:cubicBezTo>
                    <a:pt x="57" y="2"/>
                    <a:pt x="38" y="0"/>
                    <a:pt x="18" y="1"/>
                  </a:cubicBezTo>
                  <a:cubicBezTo>
                    <a:pt x="0" y="2"/>
                    <a:pt x="3" y="23"/>
                    <a:pt x="18" y="21"/>
                  </a:cubicBezTo>
                  <a:close/>
                </a:path>
              </a:pathLst>
            </a:custGeom>
            <a:solidFill>
              <a:srgbClr val="4E27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80" name="Oval 391"/>
            <p:cNvSpPr>
              <a:spLocks noChangeArrowheads="1"/>
            </p:cNvSpPr>
            <p:nvPr/>
          </p:nvSpPr>
          <p:spPr bwMode="auto">
            <a:xfrm>
              <a:off x="4982" y="270"/>
              <a:ext cx="92" cy="132"/>
            </a:xfrm>
            <a:prstGeom prst="ellipse">
              <a:avLst/>
            </a:prstGeom>
            <a:solidFill>
              <a:srgbClr val="222A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81" name="Oval 392"/>
            <p:cNvSpPr>
              <a:spLocks noChangeArrowheads="1"/>
            </p:cNvSpPr>
            <p:nvPr/>
          </p:nvSpPr>
          <p:spPr bwMode="auto">
            <a:xfrm>
              <a:off x="5022" y="284"/>
              <a:ext cx="41" cy="5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82" name="Freeform 393"/>
            <p:cNvSpPr/>
            <p:nvPr/>
          </p:nvSpPr>
          <p:spPr bwMode="auto">
            <a:xfrm>
              <a:off x="4904" y="196"/>
              <a:ext cx="227" cy="55"/>
            </a:xfrm>
            <a:custGeom>
              <a:avLst/>
              <a:gdLst>
                <a:gd name="T0" fmla="*/ 79 w 96"/>
                <a:gd name="T1" fmla="*/ 21 h 23"/>
                <a:gd name="T2" fmla="*/ 23 w 96"/>
                <a:gd name="T3" fmla="*/ 18 h 23"/>
                <a:gd name="T4" fmla="*/ 22 w 96"/>
                <a:gd name="T5" fmla="*/ 9 h 23"/>
                <a:gd name="T6" fmla="*/ 79 w 96"/>
                <a:gd name="T7" fmla="*/ 1 h 23"/>
                <a:gd name="T8" fmla="*/ 79 w 96"/>
                <a:gd name="T9" fmla="*/ 2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23">
                  <a:moveTo>
                    <a:pt x="79" y="21"/>
                  </a:moveTo>
                  <a:cubicBezTo>
                    <a:pt x="62" y="20"/>
                    <a:pt x="41" y="15"/>
                    <a:pt x="23" y="18"/>
                  </a:cubicBezTo>
                  <a:cubicBezTo>
                    <a:pt x="5" y="22"/>
                    <a:pt x="0" y="17"/>
                    <a:pt x="22" y="9"/>
                  </a:cubicBezTo>
                  <a:cubicBezTo>
                    <a:pt x="40" y="2"/>
                    <a:pt x="58" y="0"/>
                    <a:pt x="79" y="1"/>
                  </a:cubicBezTo>
                  <a:cubicBezTo>
                    <a:pt x="96" y="2"/>
                    <a:pt x="94" y="23"/>
                    <a:pt x="79" y="21"/>
                  </a:cubicBezTo>
                  <a:close/>
                </a:path>
              </a:pathLst>
            </a:custGeom>
            <a:solidFill>
              <a:srgbClr val="4E27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83" name="Freeform 394"/>
            <p:cNvSpPr>
              <a:spLocks noEditPoints="1"/>
            </p:cNvSpPr>
            <p:nvPr/>
          </p:nvSpPr>
          <p:spPr bwMode="auto">
            <a:xfrm>
              <a:off x="4795" y="253"/>
              <a:ext cx="384" cy="218"/>
            </a:xfrm>
            <a:custGeom>
              <a:avLst/>
              <a:gdLst>
                <a:gd name="T0" fmla="*/ 81 w 162"/>
                <a:gd name="T1" fmla="*/ 0 h 92"/>
                <a:gd name="T2" fmla="*/ 137 w 162"/>
                <a:gd name="T3" fmla="*/ 0 h 92"/>
                <a:gd name="T4" fmla="*/ 155 w 162"/>
                <a:gd name="T5" fmla="*/ 7 h 92"/>
                <a:gd name="T6" fmla="*/ 162 w 162"/>
                <a:gd name="T7" fmla="*/ 25 h 92"/>
                <a:gd name="T8" fmla="*/ 162 w 162"/>
                <a:gd name="T9" fmla="*/ 68 h 92"/>
                <a:gd name="T10" fmla="*/ 155 w 162"/>
                <a:gd name="T11" fmla="*/ 85 h 92"/>
                <a:gd name="T12" fmla="*/ 137 w 162"/>
                <a:gd name="T13" fmla="*/ 92 h 92"/>
                <a:gd name="T14" fmla="*/ 81 w 162"/>
                <a:gd name="T15" fmla="*/ 92 h 92"/>
                <a:gd name="T16" fmla="*/ 81 w 162"/>
                <a:gd name="T17" fmla="*/ 80 h 92"/>
                <a:gd name="T18" fmla="*/ 137 w 162"/>
                <a:gd name="T19" fmla="*/ 80 h 92"/>
                <a:gd name="T20" fmla="*/ 146 w 162"/>
                <a:gd name="T21" fmla="*/ 77 h 92"/>
                <a:gd name="T22" fmla="*/ 150 w 162"/>
                <a:gd name="T23" fmla="*/ 68 h 92"/>
                <a:gd name="T24" fmla="*/ 150 w 162"/>
                <a:gd name="T25" fmla="*/ 25 h 92"/>
                <a:gd name="T26" fmla="*/ 146 w 162"/>
                <a:gd name="T27" fmla="*/ 15 h 92"/>
                <a:gd name="T28" fmla="*/ 137 w 162"/>
                <a:gd name="T29" fmla="*/ 12 h 92"/>
                <a:gd name="T30" fmla="*/ 81 w 162"/>
                <a:gd name="T31" fmla="*/ 12 h 92"/>
                <a:gd name="T32" fmla="*/ 81 w 162"/>
                <a:gd name="T33" fmla="*/ 0 h 92"/>
                <a:gd name="T34" fmla="*/ 25 w 162"/>
                <a:gd name="T35" fmla="*/ 0 h 92"/>
                <a:gd name="T36" fmla="*/ 81 w 162"/>
                <a:gd name="T37" fmla="*/ 0 h 92"/>
                <a:gd name="T38" fmla="*/ 81 w 162"/>
                <a:gd name="T39" fmla="*/ 12 h 92"/>
                <a:gd name="T40" fmla="*/ 25 w 162"/>
                <a:gd name="T41" fmla="*/ 12 h 92"/>
                <a:gd name="T42" fmla="*/ 16 w 162"/>
                <a:gd name="T43" fmla="*/ 15 h 92"/>
                <a:gd name="T44" fmla="*/ 12 w 162"/>
                <a:gd name="T45" fmla="*/ 25 h 92"/>
                <a:gd name="T46" fmla="*/ 12 w 162"/>
                <a:gd name="T47" fmla="*/ 68 h 92"/>
                <a:gd name="T48" fmla="*/ 16 w 162"/>
                <a:gd name="T49" fmla="*/ 77 h 92"/>
                <a:gd name="T50" fmla="*/ 25 w 162"/>
                <a:gd name="T51" fmla="*/ 80 h 92"/>
                <a:gd name="T52" fmla="*/ 81 w 162"/>
                <a:gd name="T53" fmla="*/ 80 h 92"/>
                <a:gd name="T54" fmla="*/ 81 w 162"/>
                <a:gd name="T55" fmla="*/ 92 h 92"/>
                <a:gd name="T56" fmla="*/ 25 w 162"/>
                <a:gd name="T57" fmla="*/ 92 h 92"/>
                <a:gd name="T58" fmla="*/ 7 w 162"/>
                <a:gd name="T59" fmla="*/ 85 h 92"/>
                <a:gd name="T60" fmla="*/ 0 w 162"/>
                <a:gd name="T61" fmla="*/ 68 h 92"/>
                <a:gd name="T62" fmla="*/ 0 w 162"/>
                <a:gd name="T63" fmla="*/ 25 h 92"/>
                <a:gd name="T64" fmla="*/ 7 w 162"/>
                <a:gd name="T65" fmla="*/ 7 h 92"/>
                <a:gd name="T66" fmla="*/ 25 w 162"/>
                <a:gd name="T6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2" h="92">
                  <a:moveTo>
                    <a:pt x="81" y="0"/>
                  </a:moveTo>
                  <a:cubicBezTo>
                    <a:pt x="137" y="0"/>
                    <a:pt x="137" y="0"/>
                    <a:pt x="137" y="0"/>
                  </a:cubicBezTo>
                  <a:cubicBezTo>
                    <a:pt x="144" y="0"/>
                    <a:pt x="150" y="3"/>
                    <a:pt x="155" y="7"/>
                  </a:cubicBezTo>
                  <a:cubicBezTo>
                    <a:pt x="159" y="12"/>
                    <a:pt x="162" y="18"/>
                    <a:pt x="162" y="25"/>
                  </a:cubicBezTo>
                  <a:cubicBezTo>
                    <a:pt x="162" y="68"/>
                    <a:pt x="162" y="68"/>
                    <a:pt x="162" y="68"/>
                  </a:cubicBezTo>
                  <a:cubicBezTo>
                    <a:pt x="162" y="74"/>
                    <a:pt x="159" y="81"/>
                    <a:pt x="155" y="85"/>
                  </a:cubicBezTo>
                  <a:cubicBezTo>
                    <a:pt x="150" y="90"/>
                    <a:pt x="144" y="92"/>
                    <a:pt x="137" y="92"/>
                  </a:cubicBezTo>
                  <a:cubicBezTo>
                    <a:pt x="81" y="92"/>
                    <a:pt x="81" y="92"/>
                    <a:pt x="81" y="92"/>
                  </a:cubicBezTo>
                  <a:cubicBezTo>
                    <a:pt x="81" y="80"/>
                    <a:pt x="81" y="80"/>
                    <a:pt x="81" y="80"/>
                  </a:cubicBezTo>
                  <a:cubicBezTo>
                    <a:pt x="137" y="80"/>
                    <a:pt x="137" y="80"/>
                    <a:pt x="137" y="80"/>
                  </a:cubicBezTo>
                  <a:cubicBezTo>
                    <a:pt x="141" y="80"/>
                    <a:pt x="144" y="79"/>
                    <a:pt x="146" y="77"/>
                  </a:cubicBezTo>
                  <a:cubicBezTo>
                    <a:pt x="149" y="74"/>
                    <a:pt x="150" y="71"/>
                    <a:pt x="150" y="68"/>
                  </a:cubicBezTo>
                  <a:cubicBezTo>
                    <a:pt x="150" y="25"/>
                    <a:pt x="150" y="25"/>
                    <a:pt x="150" y="25"/>
                  </a:cubicBezTo>
                  <a:cubicBezTo>
                    <a:pt x="150" y="21"/>
                    <a:pt x="149" y="18"/>
                    <a:pt x="146" y="15"/>
                  </a:cubicBezTo>
                  <a:cubicBezTo>
                    <a:pt x="144" y="13"/>
                    <a:pt x="141" y="12"/>
                    <a:pt x="137" y="12"/>
                  </a:cubicBezTo>
                  <a:cubicBezTo>
                    <a:pt x="81" y="12"/>
                    <a:pt x="81" y="12"/>
                    <a:pt x="81" y="12"/>
                  </a:cubicBezTo>
                  <a:lnTo>
                    <a:pt x="81" y="0"/>
                  </a:lnTo>
                  <a:close/>
                  <a:moveTo>
                    <a:pt x="25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12"/>
                    <a:pt x="81" y="12"/>
                    <a:pt x="81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1" y="12"/>
                    <a:pt x="18" y="13"/>
                    <a:pt x="16" y="15"/>
                  </a:cubicBezTo>
                  <a:cubicBezTo>
                    <a:pt x="13" y="18"/>
                    <a:pt x="12" y="21"/>
                    <a:pt x="12" y="25"/>
                  </a:cubicBezTo>
                  <a:cubicBezTo>
                    <a:pt x="12" y="68"/>
                    <a:pt x="12" y="68"/>
                    <a:pt x="12" y="68"/>
                  </a:cubicBezTo>
                  <a:cubicBezTo>
                    <a:pt x="12" y="71"/>
                    <a:pt x="13" y="74"/>
                    <a:pt x="16" y="77"/>
                  </a:cubicBezTo>
                  <a:cubicBezTo>
                    <a:pt x="18" y="79"/>
                    <a:pt x="21" y="80"/>
                    <a:pt x="25" y="80"/>
                  </a:cubicBezTo>
                  <a:cubicBezTo>
                    <a:pt x="81" y="80"/>
                    <a:pt x="81" y="80"/>
                    <a:pt x="81" y="80"/>
                  </a:cubicBezTo>
                  <a:cubicBezTo>
                    <a:pt x="81" y="92"/>
                    <a:pt x="81" y="92"/>
                    <a:pt x="81" y="92"/>
                  </a:cubicBezTo>
                  <a:cubicBezTo>
                    <a:pt x="25" y="92"/>
                    <a:pt x="25" y="92"/>
                    <a:pt x="25" y="92"/>
                  </a:cubicBezTo>
                  <a:cubicBezTo>
                    <a:pt x="18" y="92"/>
                    <a:pt x="12" y="90"/>
                    <a:pt x="7" y="85"/>
                  </a:cubicBezTo>
                  <a:cubicBezTo>
                    <a:pt x="3" y="81"/>
                    <a:pt x="0" y="74"/>
                    <a:pt x="0" y="6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8"/>
                    <a:pt x="3" y="12"/>
                    <a:pt x="7" y="7"/>
                  </a:cubicBezTo>
                  <a:cubicBezTo>
                    <a:pt x="12" y="3"/>
                    <a:pt x="18" y="0"/>
                    <a:pt x="25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84" name="Rectangle 395"/>
            <p:cNvSpPr>
              <a:spLocks noChangeArrowheads="1"/>
            </p:cNvSpPr>
            <p:nvPr/>
          </p:nvSpPr>
          <p:spPr bwMode="auto">
            <a:xfrm>
              <a:off x="5164" y="298"/>
              <a:ext cx="121" cy="29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85" name="Freeform 396"/>
            <p:cNvSpPr/>
            <p:nvPr/>
          </p:nvSpPr>
          <p:spPr bwMode="auto">
            <a:xfrm>
              <a:off x="4769" y="253"/>
              <a:ext cx="109" cy="40"/>
            </a:xfrm>
            <a:custGeom>
              <a:avLst/>
              <a:gdLst>
                <a:gd name="T0" fmla="*/ 4 w 46"/>
                <a:gd name="T1" fmla="*/ 0 h 17"/>
                <a:gd name="T2" fmla="*/ 46 w 46"/>
                <a:gd name="T3" fmla="*/ 0 h 17"/>
                <a:gd name="T4" fmla="*/ 20 w 46"/>
                <a:gd name="T5" fmla="*/ 17 h 17"/>
                <a:gd name="T6" fmla="*/ 4 w 46"/>
                <a:gd name="T7" fmla="*/ 17 h 17"/>
                <a:gd name="T8" fmla="*/ 0 w 46"/>
                <a:gd name="T9" fmla="*/ 13 h 17"/>
                <a:gd name="T10" fmla="*/ 0 w 46"/>
                <a:gd name="T11" fmla="*/ 4 h 17"/>
                <a:gd name="T12" fmla="*/ 4 w 46"/>
                <a:gd name="T1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17">
                  <a:moveTo>
                    <a:pt x="4" y="0"/>
                  </a:moveTo>
                  <a:cubicBezTo>
                    <a:pt x="46" y="0"/>
                    <a:pt x="46" y="0"/>
                    <a:pt x="46" y="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1" y="17"/>
                    <a:pt x="0" y="15"/>
                    <a:pt x="0" y="1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1" y="0"/>
                    <a:pt x="4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86" name="Freeform 397"/>
            <p:cNvSpPr>
              <a:spLocks noEditPoints="1"/>
            </p:cNvSpPr>
            <p:nvPr/>
          </p:nvSpPr>
          <p:spPr bwMode="auto">
            <a:xfrm>
              <a:off x="5271" y="253"/>
              <a:ext cx="384" cy="218"/>
            </a:xfrm>
            <a:custGeom>
              <a:avLst/>
              <a:gdLst>
                <a:gd name="T0" fmla="*/ 138 w 162"/>
                <a:gd name="T1" fmla="*/ 12 h 92"/>
                <a:gd name="T2" fmla="*/ 81 w 162"/>
                <a:gd name="T3" fmla="*/ 12 h 92"/>
                <a:gd name="T4" fmla="*/ 81 w 162"/>
                <a:gd name="T5" fmla="*/ 0 h 92"/>
                <a:gd name="T6" fmla="*/ 138 w 162"/>
                <a:gd name="T7" fmla="*/ 0 h 92"/>
                <a:gd name="T8" fmla="*/ 155 w 162"/>
                <a:gd name="T9" fmla="*/ 7 h 92"/>
                <a:gd name="T10" fmla="*/ 162 w 162"/>
                <a:gd name="T11" fmla="*/ 25 h 92"/>
                <a:gd name="T12" fmla="*/ 162 w 162"/>
                <a:gd name="T13" fmla="*/ 68 h 92"/>
                <a:gd name="T14" fmla="*/ 155 w 162"/>
                <a:gd name="T15" fmla="*/ 85 h 92"/>
                <a:gd name="T16" fmla="*/ 138 w 162"/>
                <a:gd name="T17" fmla="*/ 92 h 92"/>
                <a:gd name="T18" fmla="*/ 81 w 162"/>
                <a:gd name="T19" fmla="*/ 92 h 92"/>
                <a:gd name="T20" fmla="*/ 81 w 162"/>
                <a:gd name="T21" fmla="*/ 80 h 92"/>
                <a:gd name="T22" fmla="*/ 138 w 162"/>
                <a:gd name="T23" fmla="*/ 80 h 92"/>
                <a:gd name="T24" fmla="*/ 147 w 162"/>
                <a:gd name="T25" fmla="*/ 77 h 92"/>
                <a:gd name="T26" fmla="*/ 150 w 162"/>
                <a:gd name="T27" fmla="*/ 68 h 92"/>
                <a:gd name="T28" fmla="*/ 150 w 162"/>
                <a:gd name="T29" fmla="*/ 25 h 92"/>
                <a:gd name="T30" fmla="*/ 147 w 162"/>
                <a:gd name="T31" fmla="*/ 15 h 92"/>
                <a:gd name="T32" fmla="*/ 138 w 162"/>
                <a:gd name="T33" fmla="*/ 12 h 92"/>
                <a:gd name="T34" fmla="*/ 81 w 162"/>
                <a:gd name="T35" fmla="*/ 12 h 92"/>
                <a:gd name="T36" fmla="*/ 25 w 162"/>
                <a:gd name="T37" fmla="*/ 12 h 92"/>
                <a:gd name="T38" fmla="*/ 16 w 162"/>
                <a:gd name="T39" fmla="*/ 15 h 92"/>
                <a:gd name="T40" fmla="*/ 12 w 162"/>
                <a:gd name="T41" fmla="*/ 25 h 92"/>
                <a:gd name="T42" fmla="*/ 12 w 162"/>
                <a:gd name="T43" fmla="*/ 68 h 92"/>
                <a:gd name="T44" fmla="*/ 16 w 162"/>
                <a:gd name="T45" fmla="*/ 77 h 92"/>
                <a:gd name="T46" fmla="*/ 25 w 162"/>
                <a:gd name="T47" fmla="*/ 80 h 92"/>
                <a:gd name="T48" fmla="*/ 81 w 162"/>
                <a:gd name="T49" fmla="*/ 80 h 92"/>
                <a:gd name="T50" fmla="*/ 81 w 162"/>
                <a:gd name="T51" fmla="*/ 92 h 92"/>
                <a:gd name="T52" fmla="*/ 25 w 162"/>
                <a:gd name="T53" fmla="*/ 92 h 92"/>
                <a:gd name="T54" fmla="*/ 8 w 162"/>
                <a:gd name="T55" fmla="*/ 85 h 92"/>
                <a:gd name="T56" fmla="*/ 0 w 162"/>
                <a:gd name="T57" fmla="*/ 68 h 92"/>
                <a:gd name="T58" fmla="*/ 0 w 162"/>
                <a:gd name="T59" fmla="*/ 25 h 92"/>
                <a:gd name="T60" fmla="*/ 8 w 162"/>
                <a:gd name="T61" fmla="*/ 7 h 92"/>
                <a:gd name="T62" fmla="*/ 25 w 162"/>
                <a:gd name="T63" fmla="*/ 0 h 92"/>
                <a:gd name="T64" fmla="*/ 81 w 162"/>
                <a:gd name="T65" fmla="*/ 0 h 92"/>
                <a:gd name="T66" fmla="*/ 81 w 162"/>
                <a:gd name="T67" fmla="*/ 1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2" h="92">
                  <a:moveTo>
                    <a:pt x="138" y="12"/>
                  </a:moveTo>
                  <a:cubicBezTo>
                    <a:pt x="81" y="12"/>
                    <a:pt x="81" y="12"/>
                    <a:pt x="81" y="12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44" y="0"/>
                    <a:pt x="151" y="3"/>
                    <a:pt x="155" y="7"/>
                  </a:cubicBezTo>
                  <a:cubicBezTo>
                    <a:pt x="160" y="12"/>
                    <a:pt x="162" y="18"/>
                    <a:pt x="162" y="25"/>
                  </a:cubicBezTo>
                  <a:cubicBezTo>
                    <a:pt x="162" y="68"/>
                    <a:pt x="162" y="68"/>
                    <a:pt x="162" y="68"/>
                  </a:cubicBezTo>
                  <a:cubicBezTo>
                    <a:pt x="162" y="74"/>
                    <a:pt x="160" y="81"/>
                    <a:pt x="155" y="85"/>
                  </a:cubicBezTo>
                  <a:cubicBezTo>
                    <a:pt x="151" y="90"/>
                    <a:pt x="144" y="92"/>
                    <a:pt x="138" y="92"/>
                  </a:cubicBezTo>
                  <a:cubicBezTo>
                    <a:pt x="81" y="92"/>
                    <a:pt x="81" y="92"/>
                    <a:pt x="81" y="92"/>
                  </a:cubicBezTo>
                  <a:cubicBezTo>
                    <a:pt x="81" y="80"/>
                    <a:pt x="81" y="80"/>
                    <a:pt x="81" y="80"/>
                  </a:cubicBezTo>
                  <a:cubicBezTo>
                    <a:pt x="138" y="80"/>
                    <a:pt x="138" y="80"/>
                    <a:pt x="138" y="80"/>
                  </a:cubicBezTo>
                  <a:cubicBezTo>
                    <a:pt x="141" y="80"/>
                    <a:pt x="144" y="79"/>
                    <a:pt x="147" y="77"/>
                  </a:cubicBezTo>
                  <a:cubicBezTo>
                    <a:pt x="149" y="74"/>
                    <a:pt x="150" y="71"/>
                    <a:pt x="150" y="68"/>
                  </a:cubicBezTo>
                  <a:cubicBezTo>
                    <a:pt x="150" y="25"/>
                    <a:pt x="150" y="25"/>
                    <a:pt x="150" y="25"/>
                  </a:cubicBezTo>
                  <a:cubicBezTo>
                    <a:pt x="150" y="21"/>
                    <a:pt x="149" y="18"/>
                    <a:pt x="147" y="15"/>
                  </a:cubicBezTo>
                  <a:cubicBezTo>
                    <a:pt x="144" y="13"/>
                    <a:pt x="141" y="12"/>
                    <a:pt x="138" y="12"/>
                  </a:cubicBezTo>
                  <a:close/>
                  <a:moveTo>
                    <a:pt x="81" y="12"/>
                  </a:moveTo>
                  <a:cubicBezTo>
                    <a:pt x="25" y="12"/>
                    <a:pt x="25" y="12"/>
                    <a:pt x="25" y="12"/>
                  </a:cubicBezTo>
                  <a:cubicBezTo>
                    <a:pt x="22" y="12"/>
                    <a:pt x="18" y="13"/>
                    <a:pt x="16" y="15"/>
                  </a:cubicBezTo>
                  <a:cubicBezTo>
                    <a:pt x="14" y="18"/>
                    <a:pt x="12" y="21"/>
                    <a:pt x="12" y="25"/>
                  </a:cubicBezTo>
                  <a:cubicBezTo>
                    <a:pt x="12" y="68"/>
                    <a:pt x="12" y="68"/>
                    <a:pt x="12" y="68"/>
                  </a:cubicBezTo>
                  <a:cubicBezTo>
                    <a:pt x="12" y="71"/>
                    <a:pt x="14" y="74"/>
                    <a:pt x="16" y="77"/>
                  </a:cubicBezTo>
                  <a:cubicBezTo>
                    <a:pt x="18" y="79"/>
                    <a:pt x="22" y="80"/>
                    <a:pt x="25" y="80"/>
                  </a:cubicBezTo>
                  <a:cubicBezTo>
                    <a:pt x="81" y="80"/>
                    <a:pt x="81" y="80"/>
                    <a:pt x="81" y="80"/>
                  </a:cubicBezTo>
                  <a:cubicBezTo>
                    <a:pt x="81" y="92"/>
                    <a:pt x="81" y="92"/>
                    <a:pt x="81" y="92"/>
                  </a:cubicBezTo>
                  <a:cubicBezTo>
                    <a:pt x="25" y="92"/>
                    <a:pt x="25" y="92"/>
                    <a:pt x="25" y="92"/>
                  </a:cubicBezTo>
                  <a:cubicBezTo>
                    <a:pt x="18" y="92"/>
                    <a:pt x="12" y="90"/>
                    <a:pt x="8" y="85"/>
                  </a:cubicBezTo>
                  <a:cubicBezTo>
                    <a:pt x="3" y="81"/>
                    <a:pt x="0" y="74"/>
                    <a:pt x="0" y="6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8"/>
                    <a:pt x="3" y="12"/>
                    <a:pt x="8" y="7"/>
                  </a:cubicBezTo>
                  <a:cubicBezTo>
                    <a:pt x="12" y="3"/>
                    <a:pt x="18" y="0"/>
                    <a:pt x="25" y="0"/>
                  </a:cubicBezTo>
                  <a:cubicBezTo>
                    <a:pt x="81" y="0"/>
                    <a:pt x="81" y="0"/>
                    <a:pt x="81" y="0"/>
                  </a:cubicBezTo>
                  <a:lnTo>
                    <a:pt x="81" y="12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87" name="Freeform 398"/>
            <p:cNvSpPr/>
            <p:nvPr/>
          </p:nvSpPr>
          <p:spPr bwMode="auto">
            <a:xfrm>
              <a:off x="5572" y="253"/>
              <a:ext cx="111" cy="40"/>
            </a:xfrm>
            <a:custGeom>
              <a:avLst/>
              <a:gdLst>
                <a:gd name="T0" fmla="*/ 43 w 47"/>
                <a:gd name="T1" fmla="*/ 0 h 17"/>
                <a:gd name="T2" fmla="*/ 0 w 47"/>
                <a:gd name="T3" fmla="*/ 0 h 17"/>
                <a:gd name="T4" fmla="*/ 26 w 47"/>
                <a:gd name="T5" fmla="*/ 17 h 17"/>
                <a:gd name="T6" fmla="*/ 43 w 47"/>
                <a:gd name="T7" fmla="*/ 17 h 17"/>
                <a:gd name="T8" fmla="*/ 47 w 47"/>
                <a:gd name="T9" fmla="*/ 13 h 17"/>
                <a:gd name="T10" fmla="*/ 47 w 47"/>
                <a:gd name="T11" fmla="*/ 4 h 17"/>
                <a:gd name="T12" fmla="*/ 43 w 47"/>
                <a:gd name="T1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17">
                  <a:moveTo>
                    <a:pt x="4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45" y="17"/>
                    <a:pt x="47" y="15"/>
                    <a:pt x="47" y="13"/>
                  </a:cubicBezTo>
                  <a:cubicBezTo>
                    <a:pt x="47" y="4"/>
                    <a:pt x="47" y="4"/>
                    <a:pt x="47" y="4"/>
                  </a:cubicBezTo>
                  <a:cubicBezTo>
                    <a:pt x="47" y="2"/>
                    <a:pt x="45" y="0"/>
                    <a:pt x="43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88" name="Freeform 399"/>
            <p:cNvSpPr/>
            <p:nvPr/>
          </p:nvSpPr>
          <p:spPr bwMode="auto">
            <a:xfrm>
              <a:off x="4835" y="1131"/>
              <a:ext cx="763" cy="1173"/>
            </a:xfrm>
            <a:custGeom>
              <a:avLst/>
              <a:gdLst>
                <a:gd name="T0" fmla="*/ 0 w 322"/>
                <a:gd name="T1" fmla="*/ 117 h 496"/>
                <a:gd name="T2" fmla="*/ 16 w 322"/>
                <a:gd name="T3" fmla="*/ 458 h 496"/>
                <a:gd name="T4" fmla="*/ 165 w 322"/>
                <a:gd name="T5" fmla="*/ 494 h 496"/>
                <a:gd name="T6" fmla="*/ 315 w 322"/>
                <a:gd name="T7" fmla="*/ 458 h 496"/>
                <a:gd name="T8" fmla="*/ 309 w 322"/>
                <a:gd name="T9" fmla="*/ 200 h 496"/>
                <a:gd name="T10" fmla="*/ 313 w 322"/>
                <a:gd name="T11" fmla="*/ 168 h 496"/>
                <a:gd name="T12" fmla="*/ 315 w 322"/>
                <a:gd name="T13" fmla="*/ 34 h 496"/>
                <a:gd name="T14" fmla="*/ 298 w 322"/>
                <a:gd name="T15" fmla="*/ 99 h 496"/>
                <a:gd name="T16" fmla="*/ 292 w 322"/>
                <a:gd name="T17" fmla="*/ 274 h 496"/>
                <a:gd name="T18" fmla="*/ 293 w 322"/>
                <a:gd name="T19" fmla="*/ 455 h 496"/>
                <a:gd name="T20" fmla="*/ 161 w 322"/>
                <a:gd name="T21" fmla="*/ 484 h 496"/>
                <a:gd name="T22" fmla="*/ 63 w 322"/>
                <a:gd name="T23" fmla="*/ 476 h 496"/>
                <a:gd name="T24" fmla="*/ 37 w 322"/>
                <a:gd name="T25" fmla="*/ 403 h 496"/>
                <a:gd name="T26" fmla="*/ 22 w 322"/>
                <a:gd name="T27" fmla="*/ 214 h 496"/>
                <a:gd name="T28" fmla="*/ 8 w 322"/>
                <a:gd name="T29" fmla="*/ 32 h 496"/>
                <a:gd name="T30" fmla="*/ 1 w 322"/>
                <a:gd name="T31" fmla="*/ 70 h 496"/>
                <a:gd name="T32" fmla="*/ 0 w 322"/>
                <a:gd name="T33" fmla="*/ 117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2" h="496">
                  <a:moveTo>
                    <a:pt x="0" y="117"/>
                  </a:moveTo>
                  <a:cubicBezTo>
                    <a:pt x="10" y="210"/>
                    <a:pt x="27" y="343"/>
                    <a:pt x="16" y="458"/>
                  </a:cubicBezTo>
                  <a:cubicBezTo>
                    <a:pt x="14" y="477"/>
                    <a:pt x="62" y="496"/>
                    <a:pt x="165" y="494"/>
                  </a:cubicBezTo>
                  <a:cubicBezTo>
                    <a:pt x="268" y="496"/>
                    <a:pt x="316" y="477"/>
                    <a:pt x="315" y="458"/>
                  </a:cubicBezTo>
                  <a:cubicBezTo>
                    <a:pt x="308" y="384"/>
                    <a:pt x="303" y="273"/>
                    <a:pt x="309" y="200"/>
                  </a:cubicBezTo>
                  <a:cubicBezTo>
                    <a:pt x="310" y="189"/>
                    <a:pt x="312" y="178"/>
                    <a:pt x="313" y="168"/>
                  </a:cubicBezTo>
                  <a:cubicBezTo>
                    <a:pt x="312" y="129"/>
                    <a:pt x="308" y="68"/>
                    <a:pt x="315" y="34"/>
                  </a:cubicBezTo>
                  <a:cubicBezTo>
                    <a:pt x="322" y="0"/>
                    <a:pt x="300" y="56"/>
                    <a:pt x="298" y="99"/>
                  </a:cubicBezTo>
                  <a:cubicBezTo>
                    <a:pt x="297" y="142"/>
                    <a:pt x="290" y="221"/>
                    <a:pt x="292" y="274"/>
                  </a:cubicBezTo>
                  <a:cubicBezTo>
                    <a:pt x="293" y="328"/>
                    <a:pt x="301" y="425"/>
                    <a:pt x="293" y="455"/>
                  </a:cubicBezTo>
                  <a:cubicBezTo>
                    <a:pt x="286" y="486"/>
                    <a:pt x="189" y="484"/>
                    <a:pt x="161" y="484"/>
                  </a:cubicBezTo>
                  <a:cubicBezTo>
                    <a:pt x="134" y="484"/>
                    <a:pt x="89" y="487"/>
                    <a:pt x="63" y="476"/>
                  </a:cubicBezTo>
                  <a:cubicBezTo>
                    <a:pt x="37" y="465"/>
                    <a:pt x="34" y="447"/>
                    <a:pt x="37" y="403"/>
                  </a:cubicBezTo>
                  <a:cubicBezTo>
                    <a:pt x="41" y="359"/>
                    <a:pt x="27" y="269"/>
                    <a:pt x="22" y="214"/>
                  </a:cubicBezTo>
                  <a:cubicBezTo>
                    <a:pt x="18" y="159"/>
                    <a:pt x="8" y="69"/>
                    <a:pt x="8" y="32"/>
                  </a:cubicBezTo>
                  <a:cubicBezTo>
                    <a:pt x="6" y="16"/>
                    <a:pt x="1" y="45"/>
                    <a:pt x="1" y="70"/>
                  </a:cubicBezTo>
                  <a:cubicBezTo>
                    <a:pt x="1" y="81"/>
                    <a:pt x="1" y="99"/>
                    <a:pt x="0" y="117"/>
                  </a:cubicBezTo>
                  <a:close/>
                </a:path>
              </a:pathLst>
            </a:custGeom>
            <a:solidFill>
              <a:srgbClr val="4863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89" name="Freeform 400"/>
            <p:cNvSpPr/>
            <p:nvPr/>
          </p:nvSpPr>
          <p:spPr bwMode="auto">
            <a:xfrm>
              <a:off x="4281" y="1204"/>
              <a:ext cx="571" cy="433"/>
            </a:xfrm>
            <a:custGeom>
              <a:avLst/>
              <a:gdLst>
                <a:gd name="T0" fmla="*/ 5 w 241"/>
                <a:gd name="T1" fmla="*/ 142 h 183"/>
                <a:gd name="T2" fmla="*/ 32 w 241"/>
                <a:gd name="T3" fmla="*/ 174 h 183"/>
                <a:gd name="T4" fmla="*/ 233 w 241"/>
                <a:gd name="T5" fmla="*/ 79 h 183"/>
                <a:gd name="T6" fmla="*/ 238 w 241"/>
                <a:gd name="T7" fmla="*/ 76 h 183"/>
                <a:gd name="T8" fmla="*/ 239 w 241"/>
                <a:gd name="T9" fmla="*/ 11 h 183"/>
                <a:gd name="T10" fmla="*/ 219 w 241"/>
                <a:gd name="T11" fmla="*/ 77 h 183"/>
                <a:gd name="T12" fmla="*/ 97 w 241"/>
                <a:gd name="T13" fmla="*/ 138 h 183"/>
                <a:gd name="T14" fmla="*/ 13 w 241"/>
                <a:gd name="T15" fmla="*/ 155 h 183"/>
                <a:gd name="T16" fmla="*/ 5 w 241"/>
                <a:gd name="T17" fmla="*/ 142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1" h="183">
                  <a:moveTo>
                    <a:pt x="5" y="142"/>
                  </a:moveTo>
                  <a:cubicBezTo>
                    <a:pt x="0" y="161"/>
                    <a:pt x="9" y="183"/>
                    <a:pt x="32" y="174"/>
                  </a:cubicBezTo>
                  <a:cubicBezTo>
                    <a:pt x="65" y="161"/>
                    <a:pt x="194" y="104"/>
                    <a:pt x="233" y="79"/>
                  </a:cubicBezTo>
                  <a:cubicBezTo>
                    <a:pt x="235" y="78"/>
                    <a:pt x="236" y="77"/>
                    <a:pt x="238" y="76"/>
                  </a:cubicBezTo>
                  <a:cubicBezTo>
                    <a:pt x="241" y="35"/>
                    <a:pt x="241" y="0"/>
                    <a:pt x="239" y="11"/>
                  </a:cubicBezTo>
                  <a:cubicBezTo>
                    <a:pt x="235" y="30"/>
                    <a:pt x="232" y="67"/>
                    <a:pt x="219" y="77"/>
                  </a:cubicBezTo>
                  <a:cubicBezTo>
                    <a:pt x="205" y="87"/>
                    <a:pt x="132" y="120"/>
                    <a:pt x="97" y="138"/>
                  </a:cubicBezTo>
                  <a:cubicBezTo>
                    <a:pt x="62" y="155"/>
                    <a:pt x="25" y="170"/>
                    <a:pt x="13" y="155"/>
                  </a:cubicBezTo>
                  <a:cubicBezTo>
                    <a:pt x="11" y="153"/>
                    <a:pt x="8" y="148"/>
                    <a:pt x="5" y="142"/>
                  </a:cubicBezTo>
                  <a:close/>
                </a:path>
              </a:pathLst>
            </a:custGeom>
            <a:solidFill>
              <a:srgbClr val="4863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90" name="Freeform 401"/>
            <p:cNvSpPr/>
            <p:nvPr/>
          </p:nvSpPr>
          <p:spPr bwMode="auto">
            <a:xfrm>
              <a:off x="4151" y="1252"/>
              <a:ext cx="241" cy="399"/>
            </a:xfrm>
            <a:custGeom>
              <a:avLst/>
              <a:gdLst>
                <a:gd name="T0" fmla="*/ 0 w 102"/>
                <a:gd name="T1" fmla="*/ 0 h 169"/>
                <a:gd name="T2" fmla="*/ 46 w 102"/>
                <a:gd name="T3" fmla="*/ 127 h 169"/>
                <a:gd name="T4" fmla="*/ 102 w 102"/>
                <a:gd name="T5" fmla="*/ 138 h 169"/>
                <a:gd name="T6" fmla="*/ 68 w 102"/>
                <a:gd name="T7" fmla="*/ 135 h 169"/>
                <a:gd name="T8" fmla="*/ 0 w 102"/>
                <a:gd name="T9" fmla="*/ 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2" h="169">
                  <a:moveTo>
                    <a:pt x="0" y="0"/>
                  </a:moveTo>
                  <a:cubicBezTo>
                    <a:pt x="4" y="10"/>
                    <a:pt x="36" y="100"/>
                    <a:pt x="46" y="127"/>
                  </a:cubicBezTo>
                  <a:cubicBezTo>
                    <a:pt x="62" y="169"/>
                    <a:pt x="92" y="160"/>
                    <a:pt x="102" y="138"/>
                  </a:cubicBezTo>
                  <a:cubicBezTo>
                    <a:pt x="87" y="143"/>
                    <a:pt x="74" y="143"/>
                    <a:pt x="68" y="135"/>
                  </a:cubicBezTo>
                  <a:cubicBezTo>
                    <a:pt x="55" y="120"/>
                    <a:pt x="18" y="35"/>
                    <a:pt x="0" y="0"/>
                  </a:cubicBezTo>
                  <a:close/>
                </a:path>
              </a:pathLst>
            </a:custGeom>
            <a:solidFill>
              <a:srgbClr val="4863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91" name="Freeform 402"/>
            <p:cNvSpPr/>
            <p:nvPr/>
          </p:nvSpPr>
          <p:spPr bwMode="auto">
            <a:xfrm>
              <a:off x="5636" y="1812"/>
              <a:ext cx="123" cy="533"/>
            </a:xfrm>
            <a:custGeom>
              <a:avLst/>
              <a:gdLst>
                <a:gd name="T0" fmla="*/ 52 w 52"/>
                <a:gd name="T1" fmla="*/ 224 h 225"/>
                <a:gd name="T2" fmla="*/ 52 w 52"/>
                <a:gd name="T3" fmla="*/ 225 h 225"/>
                <a:gd name="T4" fmla="*/ 0 w 52"/>
                <a:gd name="T5" fmla="*/ 223 h 225"/>
                <a:gd name="T6" fmla="*/ 3 w 52"/>
                <a:gd name="T7" fmla="*/ 34 h 225"/>
                <a:gd name="T8" fmla="*/ 7 w 52"/>
                <a:gd name="T9" fmla="*/ 0 h 225"/>
                <a:gd name="T10" fmla="*/ 15 w 52"/>
                <a:gd name="T11" fmla="*/ 21 h 225"/>
                <a:gd name="T12" fmla="*/ 13 w 52"/>
                <a:gd name="T13" fmla="*/ 106 h 225"/>
                <a:gd name="T14" fmla="*/ 21 w 52"/>
                <a:gd name="T15" fmla="*/ 211 h 225"/>
                <a:gd name="T16" fmla="*/ 52 w 52"/>
                <a:gd name="T17" fmla="*/ 224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225">
                  <a:moveTo>
                    <a:pt x="52" y="224"/>
                  </a:moveTo>
                  <a:cubicBezTo>
                    <a:pt x="52" y="225"/>
                    <a:pt x="52" y="225"/>
                    <a:pt x="52" y="225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0" y="223"/>
                    <a:pt x="7" y="54"/>
                    <a:pt x="3" y="34"/>
                  </a:cubicBezTo>
                  <a:cubicBezTo>
                    <a:pt x="0" y="16"/>
                    <a:pt x="2" y="5"/>
                    <a:pt x="7" y="0"/>
                  </a:cubicBezTo>
                  <a:cubicBezTo>
                    <a:pt x="11" y="9"/>
                    <a:pt x="13" y="16"/>
                    <a:pt x="15" y="21"/>
                  </a:cubicBezTo>
                  <a:cubicBezTo>
                    <a:pt x="23" y="39"/>
                    <a:pt x="13" y="75"/>
                    <a:pt x="13" y="106"/>
                  </a:cubicBezTo>
                  <a:cubicBezTo>
                    <a:pt x="13" y="137"/>
                    <a:pt x="7" y="211"/>
                    <a:pt x="21" y="211"/>
                  </a:cubicBezTo>
                  <a:cubicBezTo>
                    <a:pt x="33" y="211"/>
                    <a:pt x="41" y="221"/>
                    <a:pt x="52" y="224"/>
                  </a:cubicBezTo>
                  <a:close/>
                </a:path>
              </a:pathLst>
            </a:custGeom>
            <a:solidFill>
              <a:srgbClr val="4863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92" name="Freeform 403"/>
            <p:cNvSpPr/>
            <p:nvPr/>
          </p:nvSpPr>
          <p:spPr bwMode="auto">
            <a:xfrm>
              <a:off x="5539" y="1495"/>
              <a:ext cx="142" cy="452"/>
            </a:xfrm>
            <a:custGeom>
              <a:avLst/>
              <a:gdLst>
                <a:gd name="T0" fmla="*/ 58 w 60"/>
                <a:gd name="T1" fmla="*/ 191 h 191"/>
                <a:gd name="T2" fmla="*/ 55 w 60"/>
                <a:gd name="T3" fmla="*/ 187 h 191"/>
                <a:gd name="T4" fmla="*/ 0 w 60"/>
                <a:gd name="T5" fmla="*/ 11 h 191"/>
                <a:gd name="T6" fmla="*/ 11 w 60"/>
                <a:gd name="T7" fmla="*/ 0 h 191"/>
                <a:gd name="T8" fmla="*/ 56 w 60"/>
                <a:gd name="T9" fmla="*/ 155 h 191"/>
                <a:gd name="T10" fmla="*/ 58 w 60"/>
                <a:gd name="T11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191">
                  <a:moveTo>
                    <a:pt x="58" y="191"/>
                  </a:moveTo>
                  <a:cubicBezTo>
                    <a:pt x="57" y="190"/>
                    <a:pt x="56" y="189"/>
                    <a:pt x="55" y="187"/>
                  </a:cubicBezTo>
                  <a:cubicBezTo>
                    <a:pt x="40" y="164"/>
                    <a:pt x="18" y="72"/>
                    <a:pt x="0" y="11"/>
                  </a:cubicBezTo>
                  <a:cubicBezTo>
                    <a:pt x="4" y="7"/>
                    <a:pt x="7" y="3"/>
                    <a:pt x="11" y="0"/>
                  </a:cubicBezTo>
                  <a:cubicBezTo>
                    <a:pt x="22" y="54"/>
                    <a:pt x="48" y="136"/>
                    <a:pt x="56" y="155"/>
                  </a:cubicBezTo>
                  <a:cubicBezTo>
                    <a:pt x="60" y="164"/>
                    <a:pt x="60" y="177"/>
                    <a:pt x="58" y="191"/>
                  </a:cubicBezTo>
                  <a:close/>
                </a:path>
              </a:pathLst>
            </a:custGeom>
            <a:solidFill>
              <a:srgbClr val="4863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93" name="Freeform 404"/>
            <p:cNvSpPr/>
            <p:nvPr/>
          </p:nvSpPr>
          <p:spPr bwMode="auto">
            <a:xfrm>
              <a:off x="4890" y="2269"/>
              <a:ext cx="246" cy="1916"/>
            </a:xfrm>
            <a:custGeom>
              <a:avLst/>
              <a:gdLst>
                <a:gd name="T0" fmla="*/ 3 w 104"/>
                <a:gd name="T1" fmla="*/ 0 h 810"/>
                <a:gd name="T2" fmla="*/ 15 w 104"/>
                <a:gd name="T3" fmla="*/ 272 h 810"/>
                <a:gd name="T4" fmla="*/ 44 w 104"/>
                <a:gd name="T5" fmla="*/ 700 h 810"/>
                <a:gd name="T6" fmla="*/ 35 w 104"/>
                <a:gd name="T7" fmla="*/ 799 h 810"/>
                <a:gd name="T8" fmla="*/ 85 w 104"/>
                <a:gd name="T9" fmla="*/ 810 h 810"/>
                <a:gd name="T10" fmla="*/ 104 w 104"/>
                <a:gd name="T11" fmla="*/ 810 h 810"/>
                <a:gd name="T12" fmla="*/ 58 w 104"/>
                <a:gd name="T13" fmla="*/ 770 h 810"/>
                <a:gd name="T14" fmla="*/ 53 w 104"/>
                <a:gd name="T15" fmla="*/ 461 h 810"/>
                <a:gd name="T16" fmla="*/ 3 w 104"/>
                <a:gd name="T17" fmla="*/ 1 h 810"/>
                <a:gd name="T18" fmla="*/ 3 w 104"/>
                <a:gd name="T19" fmla="*/ 0 h 8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810">
                  <a:moveTo>
                    <a:pt x="3" y="0"/>
                  </a:moveTo>
                  <a:cubicBezTo>
                    <a:pt x="0" y="79"/>
                    <a:pt x="3" y="177"/>
                    <a:pt x="15" y="272"/>
                  </a:cubicBezTo>
                  <a:cubicBezTo>
                    <a:pt x="35" y="418"/>
                    <a:pt x="44" y="643"/>
                    <a:pt x="44" y="700"/>
                  </a:cubicBezTo>
                  <a:cubicBezTo>
                    <a:pt x="44" y="756"/>
                    <a:pt x="35" y="799"/>
                    <a:pt x="35" y="799"/>
                  </a:cubicBezTo>
                  <a:cubicBezTo>
                    <a:pt x="35" y="799"/>
                    <a:pt x="46" y="810"/>
                    <a:pt x="85" y="810"/>
                  </a:cubicBezTo>
                  <a:cubicBezTo>
                    <a:pt x="92" y="810"/>
                    <a:pt x="98" y="810"/>
                    <a:pt x="104" y="810"/>
                  </a:cubicBezTo>
                  <a:cubicBezTo>
                    <a:pt x="72" y="804"/>
                    <a:pt x="53" y="791"/>
                    <a:pt x="58" y="770"/>
                  </a:cubicBezTo>
                  <a:cubicBezTo>
                    <a:pt x="66" y="742"/>
                    <a:pt x="53" y="545"/>
                    <a:pt x="53" y="461"/>
                  </a:cubicBezTo>
                  <a:cubicBezTo>
                    <a:pt x="53" y="377"/>
                    <a:pt x="16" y="121"/>
                    <a:pt x="3" y="1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2532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94" name="Freeform 405"/>
            <p:cNvSpPr/>
            <p:nvPr/>
          </p:nvSpPr>
          <p:spPr bwMode="auto">
            <a:xfrm>
              <a:off x="5190" y="2427"/>
              <a:ext cx="387" cy="1770"/>
            </a:xfrm>
            <a:custGeom>
              <a:avLst/>
              <a:gdLst>
                <a:gd name="T0" fmla="*/ 1 w 163"/>
                <a:gd name="T1" fmla="*/ 29 h 748"/>
                <a:gd name="T2" fmla="*/ 5 w 163"/>
                <a:gd name="T3" fmla="*/ 26 h 748"/>
                <a:gd name="T4" fmla="*/ 28 w 163"/>
                <a:gd name="T5" fmla="*/ 26 h 748"/>
                <a:gd name="T6" fmla="*/ 48 w 163"/>
                <a:gd name="T7" fmla="*/ 200 h 748"/>
                <a:gd name="T8" fmla="*/ 65 w 163"/>
                <a:gd name="T9" fmla="*/ 639 h 748"/>
                <a:gd name="T10" fmla="*/ 66 w 163"/>
                <a:gd name="T11" fmla="*/ 744 h 748"/>
                <a:gd name="T12" fmla="*/ 124 w 163"/>
                <a:gd name="T13" fmla="*/ 743 h 748"/>
                <a:gd name="T14" fmla="*/ 163 w 163"/>
                <a:gd name="T15" fmla="*/ 737 h 748"/>
                <a:gd name="T16" fmla="*/ 86 w 163"/>
                <a:gd name="T17" fmla="*/ 713 h 748"/>
                <a:gd name="T18" fmla="*/ 75 w 163"/>
                <a:gd name="T19" fmla="*/ 384 h 748"/>
                <a:gd name="T20" fmla="*/ 54 w 163"/>
                <a:gd name="T21" fmla="*/ 73 h 748"/>
                <a:gd name="T22" fmla="*/ 0 w 163"/>
                <a:gd name="T23" fmla="*/ 21 h 748"/>
                <a:gd name="T24" fmla="*/ 1 w 163"/>
                <a:gd name="T25" fmla="*/ 29 h 7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3" h="748">
                  <a:moveTo>
                    <a:pt x="1" y="29"/>
                  </a:moveTo>
                  <a:cubicBezTo>
                    <a:pt x="2" y="27"/>
                    <a:pt x="3" y="26"/>
                    <a:pt x="5" y="26"/>
                  </a:cubicBezTo>
                  <a:cubicBezTo>
                    <a:pt x="12" y="27"/>
                    <a:pt x="21" y="27"/>
                    <a:pt x="28" y="26"/>
                  </a:cubicBezTo>
                  <a:cubicBezTo>
                    <a:pt x="40" y="26"/>
                    <a:pt x="39" y="103"/>
                    <a:pt x="48" y="200"/>
                  </a:cubicBezTo>
                  <a:cubicBezTo>
                    <a:pt x="56" y="297"/>
                    <a:pt x="62" y="576"/>
                    <a:pt x="65" y="639"/>
                  </a:cubicBezTo>
                  <a:cubicBezTo>
                    <a:pt x="68" y="702"/>
                    <a:pt x="66" y="744"/>
                    <a:pt x="66" y="744"/>
                  </a:cubicBezTo>
                  <a:cubicBezTo>
                    <a:pt x="66" y="744"/>
                    <a:pt x="86" y="743"/>
                    <a:pt x="124" y="743"/>
                  </a:cubicBezTo>
                  <a:cubicBezTo>
                    <a:pt x="143" y="743"/>
                    <a:pt x="155" y="740"/>
                    <a:pt x="163" y="737"/>
                  </a:cubicBezTo>
                  <a:cubicBezTo>
                    <a:pt x="114" y="748"/>
                    <a:pt x="84" y="737"/>
                    <a:pt x="86" y="713"/>
                  </a:cubicBezTo>
                  <a:cubicBezTo>
                    <a:pt x="88" y="688"/>
                    <a:pt x="75" y="455"/>
                    <a:pt x="75" y="384"/>
                  </a:cubicBezTo>
                  <a:cubicBezTo>
                    <a:pt x="75" y="314"/>
                    <a:pt x="61" y="146"/>
                    <a:pt x="54" y="73"/>
                  </a:cubicBezTo>
                  <a:cubicBezTo>
                    <a:pt x="46" y="0"/>
                    <a:pt x="29" y="16"/>
                    <a:pt x="0" y="21"/>
                  </a:cubicBezTo>
                  <a:cubicBezTo>
                    <a:pt x="0" y="24"/>
                    <a:pt x="1" y="26"/>
                    <a:pt x="1" y="29"/>
                  </a:cubicBezTo>
                  <a:close/>
                </a:path>
              </a:pathLst>
            </a:custGeom>
            <a:solidFill>
              <a:srgbClr val="2532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95" name="Freeform 406"/>
            <p:cNvSpPr/>
            <p:nvPr/>
          </p:nvSpPr>
          <p:spPr bwMode="auto">
            <a:xfrm>
              <a:off x="4776" y="4197"/>
              <a:ext cx="450" cy="121"/>
            </a:xfrm>
            <a:custGeom>
              <a:avLst/>
              <a:gdLst>
                <a:gd name="T0" fmla="*/ 4 w 190"/>
                <a:gd name="T1" fmla="*/ 31 h 51"/>
                <a:gd name="T2" fmla="*/ 42 w 190"/>
                <a:gd name="T3" fmla="*/ 51 h 51"/>
                <a:gd name="T4" fmla="*/ 154 w 190"/>
                <a:gd name="T5" fmla="*/ 30 h 51"/>
                <a:gd name="T6" fmla="*/ 189 w 190"/>
                <a:gd name="T7" fmla="*/ 2 h 51"/>
                <a:gd name="T8" fmla="*/ 190 w 190"/>
                <a:gd name="T9" fmla="*/ 0 h 51"/>
                <a:gd name="T10" fmla="*/ 4 w 190"/>
                <a:gd name="T11" fmla="*/ 3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0" h="51">
                  <a:moveTo>
                    <a:pt x="4" y="31"/>
                  </a:moveTo>
                  <a:cubicBezTo>
                    <a:pt x="0" y="37"/>
                    <a:pt x="9" y="50"/>
                    <a:pt x="42" y="51"/>
                  </a:cubicBezTo>
                  <a:cubicBezTo>
                    <a:pt x="68" y="51"/>
                    <a:pt x="119" y="44"/>
                    <a:pt x="154" y="30"/>
                  </a:cubicBezTo>
                  <a:cubicBezTo>
                    <a:pt x="173" y="22"/>
                    <a:pt x="188" y="13"/>
                    <a:pt x="189" y="2"/>
                  </a:cubicBezTo>
                  <a:cubicBezTo>
                    <a:pt x="190" y="1"/>
                    <a:pt x="190" y="0"/>
                    <a:pt x="190" y="0"/>
                  </a:cubicBezTo>
                  <a:cubicBezTo>
                    <a:pt x="130" y="32"/>
                    <a:pt x="46" y="39"/>
                    <a:pt x="4" y="31"/>
                  </a:cubicBezTo>
                  <a:close/>
                </a:path>
              </a:pathLst>
            </a:custGeom>
            <a:solidFill>
              <a:srgbClr val="301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96" name="Freeform 407"/>
            <p:cNvSpPr/>
            <p:nvPr/>
          </p:nvSpPr>
          <p:spPr bwMode="auto">
            <a:xfrm>
              <a:off x="5356" y="4197"/>
              <a:ext cx="450" cy="121"/>
            </a:xfrm>
            <a:custGeom>
              <a:avLst/>
              <a:gdLst>
                <a:gd name="T0" fmla="*/ 185 w 190"/>
                <a:gd name="T1" fmla="*/ 31 h 51"/>
                <a:gd name="T2" fmla="*/ 147 w 190"/>
                <a:gd name="T3" fmla="*/ 51 h 51"/>
                <a:gd name="T4" fmla="*/ 36 w 190"/>
                <a:gd name="T5" fmla="*/ 30 h 51"/>
                <a:gd name="T6" fmla="*/ 0 w 190"/>
                <a:gd name="T7" fmla="*/ 2 h 51"/>
                <a:gd name="T8" fmla="*/ 0 w 190"/>
                <a:gd name="T9" fmla="*/ 0 h 51"/>
                <a:gd name="T10" fmla="*/ 185 w 190"/>
                <a:gd name="T11" fmla="*/ 3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0" h="51">
                  <a:moveTo>
                    <a:pt x="185" y="31"/>
                  </a:moveTo>
                  <a:cubicBezTo>
                    <a:pt x="190" y="37"/>
                    <a:pt x="181" y="50"/>
                    <a:pt x="147" y="51"/>
                  </a:cubicBezTo>
                  <a:cubicBezTo>
                    <a:pt x="122" y="51"/>
                    <a:pt x="71" y="44"/>
                    <a:pt x="36" y="30"/>
                  </a:cubicBezTo>
                  <a:cubicBezTo>
                    <a:pt x="16" y="22"/>
                    <a:pt x="2" y="13"/>
                    <a:pt x="0" y="2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59" y="32"/>
                    <a:pt x="144" y="39"/>
                    <a:pt x="185" y="31"/>
                  </a:cubicBezTo>
                  <a:close/>
                </a:path>
              </a:pathLst>
            </a:custGeom>
            <a:solidFill>
              <a:srgbClr val="301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97" name="Group 96"/>
          <p:cNvGrpSpPr>
            <a:grpSpLocks noChangeAspect="1"/>
          </p:cNvGrpSpPr>
          <p:nvPr/>
        </p:nvGrpSpPr>
        <p:grpSpPr bwMode="auto">
          <a:xfrm>
            <a:off x="3563832" y="3380105"/>
            <a:ext cx="727075" cy="1779270"/>
            <a:chOff x="2866" y="-221"/>
            <a:chExt cx="1948" cy="4762"/>
          </a:xfrm>
        </p:grpSpPr>
        <p:sp>
          <p:nvSpPr>
            <p:cNvPr id="98" name="AutoShape 409"/>
            <p:cNvSpPr>
              <a:spLocks noChangeAspect="1" noChangeArrowheads="1" noTextEdit="1"/>
            </p:cNvSpPr>
            <p:nvPr/>
          </p:nvSpPr>
          <p:spPr bwMode="auto">
            <a:xfrm>
              <a:off x="2866" y="-221"/>
              <a:ext cx="1948" cy="4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99" name="Freeform 411"/>
            <p:cNvSpPr>
              <a:spLocks noEditPoints="1"/>
            </p:cNvSpPr>
            <p:nvPr/>
          </p:nvSpPr>
          <p:spPr bwMode="auto">
            <a:xfrm>
              <a:off x="2845" y="2923"/>
              <a:ext cx="1794" cy="1616"/>
            </a:xfrm>
            <a:custGeom>
              <a:avLst/>
              <a:gdLst>
                <a:gd name="T0" fmla="*/ 755 w 757"/>
                <a:gd name="T1" fmla="*/ 478 h 683"/>
                <a:gd name="T2" fmla="*/ 729 w 757"/>
                <a:gd name="T3" fmla="*/ 432 h 683"/>
                <a:gd name="T4" fmla="*/ 663 w 757"/>
                <a:gd name="T5" fmla="*/ 427 h 683"/>
                <a:gd name="T6" fmla="*/ 661 w 757"/>
                <a:gd name="T7" fmla="*/ 426 h 683"/>
                <a:gd name="T8" fmla="*/ 629 w 757"/>
                <a:gd name="T9" fmla="*/ 414 h 683"/>
                <a:gd name="T10" fmla="*/ 610 w 757"/>
                <a:gd name="T11" fmla="*/ 402 h 683"/>
                <a:gd name="T12" fmla="*/ 573 w 757"/>
                <a:gd name="T13" fmla="*/ 331 h 683"/>
                <a:gd name="T14" fmla="*/ 473 w 757"/>
                <a:gd name="T15" fmla="*/ 229 h 683"/>
                <a:gd name="T16" fmla="*/ 387 w 757"/>
                <a:gd name="T17" fmla="*/ 214 h 683"/>
                <a:gd name="T18" fmla="*/ 334 w 757"/>
                <a:gd name="T19" fmla="*/ 185 h 683"/>
                <a:gd name="T20" fmla="*/ 503 w 757"/>
                <a:gd name="T21" fmla="*/ 114 h 683"/>
                <a:gd name="T22" fmla="*/ 466 w 757"/>
                <a:gd name="T23" fmla="*/ 84 h 683"/>
                <a:gd name="T24" fmla="*/ 378 w 757"/>
                <a:gd name="T25" fmla="*/ 18 h 683"/>
                <a:gd name="T26" fmla="*/ 41 w 757"/>
                <a:gd name="T27" fmla="*/ 28 h 683"/>
                <a:gd name="T28" fmla="*/ 31 w 757"/>
                <a:gd name="T29" fmla="*/ 93 h 683"/>
                <a:gd name="T30" fmla="*/ 100 w 757"/>
                <a:gd name="T31" fmla="*/ 155 h 683"/>
                <a:gd name="T32" fmla="*/ 248 w 757"/>
                <a:gd name="T33" fmla="*/ 198 h 683"/>
                <a:gd name="T34" fmla="*/ 169 w 757"/>
                <a:gd name="T35" fmla="*/ 221 h 683"/>
                <a:gd name="T36" fmla="*/ 137 w 757"/>
                <a:gd name="T37" fmla="*/ 228 h 683"/>
                <a:gd name="T38" fmla="*/ 85 w 757"/>
                <a:gd name="T39" fmla="*/ 342 h 683"/>
                <a:gd name="T40" fmla="*/ 218 w 757"/>
                <a:gd name="T41" fmla="*/ 391 h 683"/>
                <a:gd name="T42" fmla="*/ 357 w 757"/>
                <a:gd name="T43" fmla="*/ 626 h 683"/>
                <a:gd name="T44" fmla="*/ 358 w 757"/>
                <a:gd name="T45" fmla="*/ 662 h 683"/>
                <a:gd name="T46" fmla="*/ 437 w 757"/>
                <a:gd name="T47" fmla="*/ 676 h 683"/>
                <a:gd name="T48" fmla="*/ 470 w 757"/>
                <a:gd name="T49" fmla="*/ 664 h 683"/>
                <a:gd name="T50" fmla="*/ 367 w 757"/>
                <a:gd name="T51" fmla="*/ 421 h 683"/>
                <a:gd name="T52" fmla="*/ 506 w 757"/>
                <a:gd name="T53" fmla="*/ 629 h 683"/>
                <a:gd name="T54" fmla="*/ 523 w 757"/>
                <a:gd name="T55" fmla="*/ 664 h 683"/>
                <a:gd name="T56" fmla="*/ 593 w 757"/>
                <a:gd name="T57" fmla="*/ 679 h 683"/>
                <a:gd name="T58" fmla="*/ 709 w 757"/>
                <a:gd name="T59" fmla="*/ 675 h 683"/>
                <a:gd name="T60" fmla="*/ 626 w 757"/>
                <a:gd name="T61" fmla="*/ 660 h 683"/>
                <a:gd name="T62" fmla="*/ 593 w 757"/>
                <a:gd name="T63" fmla="*/ 619 h 683"/>
                <a:gd name="T64" fmla="*/ 593 w 757"/>
                <a:gd name="T65" fmla="*/ 539 h 683"/>
                <a:gd name="T66" fmla="*/ 753 w 757"/>
                <a:gd name="T67" fmla="*/ 511 h 683"/>
                <a:gd name="T68" fmla="*/ 169 w 757"/>
                <a:gd name="T69" fmla="*/ 349 h 683"/>
                <a:gd name="T70" fmla="*/ 169 w 757"/>
                <a:gd name="T71" fmla="*/ 288 h 683"/>
                <a:gd name="T72" fmla="*/ 569 w 757"/>
                <a:gd name="T73" fmla="*/ 407 h 683"/>
                <a:gd name="T74" fmla="*/ 558 w 757"/>
                <a:gd name="T75" fmla="*/ 439 h 683"/>
                <a:gd name="T76" fmla="*/ 523 w 757"/>
                <a:gd name="T77" fmla="*/ 424 h 683"/>
                <a:gd name="T78" fmla="*/ 474 w 757"/>
                <a:gd name="T79" fmla="*/ 295 h 683"/>
                <a:gd name="T80" fmla="*/ 532 w 757"/>
                <a:gd name="T81" fmla="*/ 343 h 683"/>
                <a:gd name="T82" fmla="*/ 569 w 757"/>
                <a:gd name="T83" fmla="*/ 407 h 683"/>
                <a:gd name="T84" fmla="*/ 585 w 757"/>
                <a:gd name="T85" fmla="*/ 428 h 683"/>
                <a:gd name="T86" fmla="*/ 602 w 757"/>
                <a:gd name="T87" fmla="*/ 425 h 683"/>
                <a:gd name="T88" fmla="*/ 610 w 757"/>
                <a:gd name="T89" fmla="*/ 434 h 683"/>
                <a:gd name="T90" fmla="*/ 612 w 757"/>
                <a:gd name="T91" fmla="*/ 433 h 6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57" h="683">
                  <a:moveTo>
                    <a:pt x="757" y="507"/>
                  </a:moveTo>
                  <a:cubicBezTo>
                    <a:pt x="749" y="487"/>
                    <a:pt x="749" y="487"/>
                    <a:pt x="749" y="487"/>
                  </a:cubicBezTo>
                  <a:cubicBezTo>
                    <a:pt x="754" y="484"/>
                    <a:pt x="757" y="481"/>
                    <a:pt x="755" y="478"/>
                  </a:cubicBezTo>
                  <a:cubicBezTo>
                    <a:pt x="731" y="440"/>
                    <a:pt x="731" y="440"/>
                    <a:pt x="731" y="440"/>
                  </a:cubicBezTo>
                  <a:cubicBezTo>
                    <a:pt x="731" y="440"/>
                    <a:pt x="731" y="440"/>
                    <a:pt x="731" y="440"/>
                  </a:cubicBezTo>
                  <a:cubicBezTo>
                    <a:pt x="729" y="432"/>
                    <a:pt x="729" y="432"/>
                    <a:pt x="729" y="432"/>
                  </a:cubicBezTo>
                  <a:cubicBezTo>
                    <a:pt x="727" y="429"/>
                    <a:pt x="719" y="427"/>
                    <a:pt x="709" y="427"/>
                  </a:cubicBezTo>
                  <a:cubicBezTo>
                    <a:pt x="666" y="427"/>
                    <a:pt x="666" y="427"/>
                    <a:pt x="666" y="427"/>
                  </a:cubicBezTo>
                  <a:cubicBezTo>
                    <a:pt x="665" y="427"/>
                    <a:pt x="664" y="427"/>
                    <a:pt x="663" y="427"/>
                  </a:cubicBezTo>
                  <a:cubicBezTo>
                    <a:pt x="663" y="427"/>
                    <a:pt x="663" y="427"/>
                    <a:pt x="663" y="427"/>
                  </a:cubicBezTo>
                  <a:cubicBezTo>
                    <a:pt x="663" y="427"/>
                    <a:pt x="662" y="427"/>
                    <a:pt x="661" y="427"/>
                  </a:cubicBezTo>
                  <a:cubicBezTo>
                    <a:pt x="661" y="426"/>
                    <a:pt x="661" y="426"/>
                    <a:pt x="661" y="426"/>
                  </a:cubicBezTo>
                  <a:cubicBezTo>
                    <a:pt x="659" y="420"/>
                    <a:pt x="651" y="419"/>
                    <a:pt x="641" y="419"/>
                  </a:cubicBezTo>
                  <a:cubicBezTo>
                    <a:pt x="640" y="419"/>
                    <a:pt x="639" y="419"/>
                    <a:pt x="638" y="419"/>
                  </a:cubicBezTo>
                  <a:cubicBezTo>
                    <a:pt x="635" y="417"/>
                    <a:pt x="633" y="415"/>
                    <a:pt x="629" y="414"/>
                  </a:cubicBezTo>
                  <a:cubicBezTo>
                    <a:pt x="619" y="410"/>
                    <a:pt x="614" y="408"/>
                    <a:pt x="611" y="406"/>
                  </a:cubicBezTo>
                  <a:cubicBezTo>
                    <a:pt x="612" y="406"/>
                    <a:pt x="612" y="406"/>
                    <a:pt x="612" y="406"/>
                  </a:cubicBezTo>
                  <a:cubicBezTo>
                    <a:pt x="610" y="402"/>
                    <a:pt x="610" y="402"/>
                    <a:pt x="610" y="402"/>
                  </a:cubicBezTo>
                  <a:cubicBezTo>
                    <a:pt x="607" y="396"/>
                    <a:pt x="600" y="380"/>
                    <a:pt x="593" y="365"/>
                  </a:cubicBezTo>
                  <a:cubicBezTo>
                    <a:pt x="587" y="352"/>
                    <a:pt x="581" y="340"/>
                    <a:pt x="578" y="336"/>
                  </a:cubicBezTo>
                  <a:cubicBezTo>
                    <a:pt x="577" y="334"/>
                    <a:pt x="576" y="332"/>
                    <a:pt x="573" y="331"/>
                  </a:cubicBezTo>
                  <a:cubicBezTo>
                    <a:pt x="573" y="331"/>
                    <a:pt x="573" y="330"/>
                    <a:pt x="573" y="330"/>
                  </a:cubicBezTo>
                  <a:cubicBezTo>
                    <a:pt x="567" y="326"/>
                    <a:pt x="545" y="301"/>
                    <a:pt x="523" y="276"/>
                  </a:cubicBezTo>
                  <a:cubicBezTo>
                    <a:pt x="503" y="254"/>
                    <a:pt x="482" y="233"/>
                    <a:pt x="473" y="229"/>
                  </a:cubicBezTo>
                  <a:cubicBezTo>
                    <a:pt x="471" y="228"/>
                    <a:pt x="470" y="227"/>
                    <a:pt x="468" y="227"/>
                  </a:cubicBezTo>
                  <a:cubicBezTo>
                    <a:pt x="446" y="222"/>
                    <a:pt x="417" y="218"/>
                    <a:pt x="387" y="214"/>
                  </a:cubicBezTo>
                  <a:cubicBezTo>
                    <a:pt x="387" y="214"/>
                    <a:pt x="387" y="214"/>
                    <a:pt x="387" y="214"/>
                  </a:cubicBezTo>
                  <a:cubicBezTo>
                    <a:pt x="346" y="206"/>
                    <a:pt x="346" y="206"/>
                    <a:pt x="346" y="206"/>
                  </a:cubicBezTo>
                  <a:cubicBezTo>
                    <a:pt x="343" y="204"/>
                    <a:pt x="340" y="201"/>
                    <a:pt x="339" y="198"/>
                  </a:cubicBezTo>
                  <a:cubicBezTo>
                    <a:pt x="334" y="185"/>
                    <a:pt x="334" y="185"/>
                    <a:pt x="334" y="185"/>
                  </a:cubicBezTo>
                  <a:cubicBezTo>
                    <a:pt x="379" y="179"/>
                    <a:pt x="436" y="166"/>
                    <a:pt x="455" y="155"/>
                  </a:cubicBezTo>
                  <a:cubicBezTo>
                    <a:pt x="465" y="150"/>
                    <a:pt x="470" y="140"/>
                    <a:pt x="471" y="128"/>
                  </a:cubicBezTo>
                  <a:cubicBezTo>
                    <a:pt x="486" y="126"/>
                    <a:pt x="499" y="121"/>
                    <a:pt x="503" y="114"/>
                  </a:cubicBezTo>
                  <a:cubicBezTo>
                    <a:pt x="508" y="104"/>
                    <a:pt x="496" y="95"/>
                    <a:pt x="477" y="93"/>
                  </a:cubicBezTo>
                  <a:cubicBezTo>
                    <a:pt x="474" y="93"/>
                    <a:pt x="471" y="92"/>
                    <a:pt x="468" y="93"/>
                  </a:cubicBezTo>
                  <a:cubicBezTo>
                    <a:pt x="468" y="90"/>
                    <a:pt x="467" y="87"/>
                    <a:pt x="466" y="84"/>
                  </a:cubicBezTo>
                  <a:cubicBezTo>
                    <a:pt x="468" y="58"/>
                    <a:pt x="475" y="35"/>
                    <a:pt x="452" y="35"/>
                  </a:cubicBezTo>
                  <a:cubicBezTo>
                    <a:pt x="425" y="35"/>
                    <a:pt x="456" y="16"/>
                    <a:pt x="442" y="18"/>
                  </a:cubicBezTo>
                  <a:cubicBezTo>
                    <a:pt x="428" y="21"/>
                    <a:pt x="431" y="22"/>
                    <a:pt x="378" y="18"/>
                  </a:cubicBezTo>
                  <a:cubicBezTo>
                    <a:pt x="333" y="14"/>
                    <a:pt x="242" y="3"/>
                    <a:pt x="169" y="0"/>
                  </a:cubicBezTo>
                  <a:cubicBezTo>
                    <a:pt x="156" y="0"/>
                    <a:pt x="144" y="0"/>
                    <a:pt x="133" y="0"/>
                  </a:cubicBezTo>
                  <a:cubicBezTo>
                    <a:pt x="57" y="0"/>
                    <a:pt x="23" y="21"/>
                    <a:pt x="41" y="28"/>
                  </a:cubicBezTo>
                  <a:cubicBezTo>
                    <a:pt x="58" y="34"/>
                    <a:pt x="36" y="36"/>
                    <a:pt x="15" y="40"/>
                  </a:cubicBezTo>
                  <a:cubicBezTo>
                    <a:pt x="0" y="43"/>
                    <a:pt x="18" y="71"/>
                    <a:pt x="36" y="93"/>
                  </a:cubicBezTo>
                  <a:cubicBezTo>
                    <a:pt x="34" y="93"/>
                    <a:pt x="33" y="93"/>
                    <a:pt x="31" y="93"/>
                  </a:cubicBezTo>
                  <a:cubicBezTo>
                    <a:pt x="13" y="95"/>
                    <a:pt x="8" y="104"/>
                    <a:pt x="20" y="114"/>
                  </a:cubicBezTo>
                  <a:cubicBezTo>
                    <a:pt x="30" y="121"/>
                    <a:pt x="47" y="126"/>
                    <a:pt x="63" y="128"/>
                  </a:cubicBezTo>
                  <a:cubicBezTo>
                    <a:pt x="74" y="140"/>
                    <a:pt x="86" y="150"/>
                    <a:pt x="100" y="155"/>
                  </a:cubicBezTo>
                  <a:cubicBezTo>
                    <a:pt x="114" y="161"/>
                    <a:pt x="140" y="167"/>
                    <a:pt x="169" y="173"/>
                  </a:cubicBezTo>
                  <a:cubicBezTo>
                    <a:pt x="194" y="177"/>
                    <a:pt x="220" y="182"/>
                    <a:pt x="243" y="185"/>
                  </a:cubicBezTo>
                  <a:cubicBezTo>
                    <a:pt x="248" y="198"/>
                    <a:pt x="248" y="198"/>
                    <a:pt x="248" y="198"/>
                  </a:cubicBezTo>
                  <a:cubicBezTo>
                    <a:pt x="249" y="201"/>
                    <a:pt x="249" y="204"/>
                    <a:pt x="247" y="206"/>
                  </a:cubicBezTo>
                  <a:cubicBezTo>
                    <a:pt x="212" y="214"/>
                    <a:pt x="212" y="214"/>
                    <a:pt x="212" y="214"/>
                  </a:cubicBezTo>
                  <a:cubicBezTo>
                    <a:pt x="197" y="216"/>
                    <a:pt x="182" y="218"/>
                    <a:pt x="169" y="221"/>
                  </a:cubicBezTo>
                  <a:cubicBezTo>
                    <a:pt x="159" y="223"/>
                    <a:pt x="149" y="225"/>
                    <a:pt x="141" y="227"/>
                  </a:cubicBezTo>
                  <a:cubicBezTo>
                    <a:pt x="140" y="227"/>
                    <a:pt x="139" y="227"/>
                    <a:pt x="138" y="228"/>
                  </a:cubicBezTo>
                  <a:cubicBezTo>
                    <a:pt x="138" y="228"/>
                    <a:pt x="137" y="228"/>
                    <a:pt x="137" y="228"/>
                  </a:cubicBezTo>
                  <a:cubicBezTo>
                    <a:pt x="120" y="234"/>
                    <a:pt x="80" y="319"/>
                    <a:pt x="72" y="327"/>
                  </a:cubicBezTo>
                  <a:cubicBezTo>
                    <a:pt x="71" y="328"/>
                    <a:pt x="70" y="329"/>
                    <a:pt x="70" y="330"/>
                  </a:cubicBezTo>
                  <a:cubicBezTo>
                    <a:pt x="69" y="334"/>
                    <a:pt x="74" y="339"/>
                    <a:pt x="85" y="342"/>
                  </a:cubicBezTo>
                  <a:cubicBezTo>
                    <a:pt x="101" y="347"/>
                    <a:pt x="141" y="365"/>
                    <a:pt x="169" y="379"/>
                  </a:cubicBezTo>
                  <a:cubicBezTo>
                    <a:pt x="188" y="387"/>
                    <a:pt x="202" y="395"/>
                    <a:pt x="202" y="395"/>
                  </a:cubicBezTo>
                  <a:cubicBezTo>
                    <a:pt x="218" y="391"/>
                    <a:pt x="218" y="391"/>
                    <a:pt x="218" y="391"/>
                  </a:cubicBezTo>
                  <a:cubicBezTo>
                    <a:pt x="222" y="393"/>
                    <a:pt x="226" y="395"/>
                    <a:pt x="229" y="398"/>
                  </a:cubicBezTo>
                  <a:cubicBezTo>
                    <a:pt x="237" y="423"/>
                    <a:pt x="251" y="452"/>
                    <a:pt x="273" y="481"/>
                  </a:cubicBezTo>
                  <a:cubicBezTo>
                    <a:pt x="311" y="531"/>
                    <a:pt x="350" y="607"/>
                    <a:pt x="357" y="626"/>
                  </a:cubicBezTo>
                  <a:cubicBezTo>
                    <a:pt x="364" y="646"/>
                    <a:pt x="360" y="660"/>
                    <a:pt x="360" y="660"/>
                  </a:cubicBezTo>
                  <a:cubicBezTo>
                    <a:pt x="360" y="660"/>
                    <a:pt x="361" y="660"/>
                    <a:pt x="364" y="661"/>
                  </a:cubicBezTo>
                  <a:cubicBezTo>
                    <a:pt x="362" y="661"/>
                    <a:pt x="360" y="662"/>
                    <a:pt x="358" y="662"/>
                  </a:cubicBezTo>
                  <a:cubicBezTo>
                    <a:pt x="344" y="666"/>
                    <a:pt x="300" y="674"/>
                    <a:pt x="290" y="675"/>
                  </a:cubicBezTo>
                  <a:cubicBezTo>
                    <a:pt x="281" y="677"/>
                    <a:pt x="289" y="682"/>
                    <a:pt x="328" y="683"/>
                  </a:cubicBezTo>
                  <a:cubicBezTo>
                    <a:pt x="353" y="683"/>
                    <a:pt x="403" y="680"/>
                    <a:pt x="437" y="676"/>
                  </a:cubicBezTo>
                  <a:cubicBezTo>
                    <a:pt x="455" y="673"/>
                    <a:pt x="468" y="670"/>
                    <a:pt x="469" y="666"/>
                  </a:cubicBezTo>
                  <a:cubicBezTo>
                    <a:pt x="469" y="665"/>
                    <a:pt x="469" y="665"/>
                    <a:pt x="468" y="664"/>
                  </a:cubicBezTo>
                  <a:cubicBezTo>
                    <a:pt x="469" y="664"/>
                    <a:pt x="470" y="664"/>
                    <a:pt x="470" y="664"/>
                  </a:cubicBezTo>
                  <a:cubicBezTo>
                    <a:pt x="470" y="664"/>
                    <a:pt x="460" y="650"/>
                    <a:pt x="450" y="629"/>
                  </a:cubicBezTo>
                  <a:cubicBezTo>
                    <a:pt x="440" y="607"/>
                    <a:pt x="392" y="512"/>
                    <a:pt x="381" y="479"/>
                  </a:cubicBezTo>
                  <a:cubicBezTo>
                    <a:pt x="370" y="446"/>
                    <a:pt x="354" y="420"/>
                    <a:pt x="367" y="421"/>
                  </a:cubicBezTo>
                  <a:cubicBezTo>
                    <a:pt x="374" y="421"/>
                    <a:pt x="383" y="421"/>
                    <a:pt x="390" y="421"/>
                  </a:cubicBezTo>
                  <a:cubicBezTo>
                    <a:pt x="402" y="420"/>
                    <a:pt x="411" y="446"/>
                    <a:pt x="432" y="479"/>
                  </a:cubicBezTo>
                  <a:cubicBezTo>
                    <a:pt x="453" y="512"/>
                    <a:pt x="495" y="607"/>
                    <a:pt x="506" y="629"/>
                  </a:cubicBezTo>
                  <a:cubicBezTo>
                    <a:pt x="516" y="650"/>
                    <a:pt x="520" y="664"/>
                    <a:pt x="520" y="664"/>
                  </a:cubicBezTo>
                  <a:cubicBezTo>
                    <a:pt x="520" y="664"/>
                    <a:pt x="521" y="664"/>
                    <a:pt x="523" y="664"/>
                  </a:cubicBezTo>
                  <a:cubicBezTo>
                    <a:pt x="523" y="664"/>
                    <a:pt x="523" y="664"/>
                    <a:pt x="523" y="664"/>
                  </a:cubicBezTo>
                  <a:cubicBezTo>
                    <a:pt x="523" y="665"/>
                    <a:pt x="523" y="665"/>
                    <a:pt x="523" y="666"/>
                  </a:cubicBezTo>
                  <a:cubicBezTo>
                    <a:pt x="527" y="670"/>
                    <a:pt x="542" y="673"/>
                    <a:pt x="563" y="676"/>
                  </a:cubicBezTo>
                  <a:cubicBezTo>
                    <a:pt x="572" y="677"/>
                    <a:pt x="582" y="678"/>
                    <a:pt x="593" y="679"/>
                  </a:cubicBezTo>
                  <a:cubicBezTo>
                    <a:pt x="599" y="679"/>
                    <a:pt x="604" y="680"/>
                    <a:pt x="610" y="680"/>
                  </a:cubicBezTo>
                  <a:cubicBezTo>
                    <a:pt x="636" y="682"/>
                    <a:pt x="661" y="683"/>
                    <a:pt x="677" y="683"/>
                  </a:cubicBezTo>
                  <a:cubicBezTo>
                    <a:pt x="716" y="682"/>
                    <a:pt x="719" y="677"/>
                    <a:pt x="709" y="675"/>
                  </a:cubicBezTo>
                  <a:cubicBezTo>
                    <a:pt x="698" y="674"/>
                    <a:pt x="648" y="666"/>
                    <a:pt x="631" y="662"/>
                  </a:cubicBezTo>
                  <a:cubicBezTo>
                    <a:pt x="629" y="662"/>
                    <a:pt x="626" y="661"/>
                    <a:pt x="624" y="661"/>
                  </a:cubicBezTo>
                  <a:cubicBezTo>
                    <a:pt x="625" y="660"/>
                    <a:pt x="626" y="660"/>
                    <a:pt x="626" y="660"/>
                  </a:cubicBezTo>
                  <a:cubicBezTo>
                    <a:pt x="626" y="660"/>
                    <a:pt x="618" y="654"/>
                    <a:pt x="610" y="645"/>
                  </a:cubicBezTo>
                  <a:cubicBezTo>
                    <a:pt x="606" y="640"/>
                    <a:pt x="601" y="633"/>
                    <a:pt x="597" y="626"/>
                  </a:cubicBezTo>
                  <a:cubicBezTo>
                    <a:pt x="596" y="625"/>
                    <a:pt x="594" y="622"/>
                    <a:pt x="593" y="619"/>
                  </a:cubicBezTo>
                  <a:cubicBezTo>
                    <a:pt x="583" y="600"/>
                    <a:pt x="565" y="561"/>
                    <a:pt x="553" y="524"/>
                  </a:cubicBezTo>
                  <a:cubicBezTo>
                    <a:pt x="567" y="535"/>
                    <a:pt x="577" y="542"/>
                    <a:pt x="577" y="542"/>
                  </a:cubicBezTo>
                  <a:cubicBezTo>
                    <a:pt x="593" y="539"/>
                    <a:pt x="593" y="539"/>
                    <a:pt x="593" y="539"/>
                  </a:cubicBezTo>
                  <a:cubicBezTo>
                    <a:pt x="610" y="536"/>
                    <a:pt x="610" y="536"/>
                    <a:pt x="610" y="536"/>
                  </a:cubicBezTo>
                  <a:cubicBezTo>
                    <a:pt x="745" y="513"/>
                    <a:pt x="745" y="513"/>
                    <a:pt x="745" y="513"/>
                  </a:cubicBezTo>
                  <a:cubicBezTo>
                    <a:pt x="748" y="512"/>
                    <a:pt x="750" y="512"/>
                    <a:pt x="753" y="511"/>
                  </a:cubicBezTo>
                  <a:cubicBezTo>
                    <a:pt x="753" y="511"/>
                    <a:pt x="753" y="511"/>
                    <a:pt x="753" y="511"/>
                  </a:cubicBezTo>
                  <a:cubicBezTo>
                    <a:pt x="756" y="510"/>
                    <a:pt x="757" y="509"/>
                    <a:pt x="757" y="507"/>
                  </a:cubicBezTo>
                  <a:close/>
                  <a:moveTo>
                    <a:pt x="169" y="349"/>
                  </a:moveTo>
                  <a:cubicBezTo>
                    <a:pt x="152" y="340"/>
                    <a:pt x="136" y="333"/>
                    <a:pt x="128" y="330"/>
                  </a:cubicBezTo>
                  <a:cubicBezTo>
                    <a:pt x="140" y="318"/>
                    <a:pt x="155" y="300"/>
                    <a:pt x="168" y="286"/>
                  </a:cubicBezTo>
                  <a:cubicBezTo>
                    <a:pt x="169" y="288"/>
                    <a:pt x="169" y="288"/>
                    <a:pt x="169" y="288"/>
                  </a:cubicBezTo>
                  <a:cubicBezTo>
                    <a:pt x="186" y="313"/>
                    <a:pt x="204" y="342"/>
                    <a:pt x="211" y="369"/>
                  </a:cubicBezTo>
                  <a:cubicBezTo>
                    <a:pt x="198" y="363"/>
                    <a:pt x="183" y="355"/>
                    <a:pt x="169" y="349"/>
                  </a:cubicBezTo>
                  <a:close/>
                  <a:moveTo>
                    <a:pt x="569" y="407"/>
                  </a:moveTo>
                  <a:cubicBezTo>
                    <a:pt x="558" y="408"/>
                    <a:pt x="552" y="416"/>
                    <a:pt x="560" y="421"/>
                  </a:cubicBezTo>
                  <a:cubicBezTo>
                    <a:pt x="566" y="424"/>
                    <a:pt x="562" y="429"/>
                    <a:pt x="562" y="432"/>
                  </a:cubicBezTo>
                  <a:cubicBezTo>
                    <a:pt x="559" y="433"/>
                    <a:pt x="557" y="435"/>
                    <a:pt x="558" y="439"/>
                  </a:cubicBezTo>
                  <a:cubicBezTo>
                    <a:pt x="559" y="443"/>
                    <a:pt x="559" y="443"/>
                    <a:pt x="559" y="443"/>
                  </a:cubicBezTo>
                  <a:cubicBezTo>
                    <a:pt x="532" y="447"/>
                    <a:pt x="532" y="447"/>
                    <a:pt x="532" y="447"/>
                  </a:cubicBezTo>
                  <a:cubicBezTo>
                    <a:pt x="529" y="440"/>
                    <a:pt x="526" y="432"/>
                    <a:pt x="523" y="424"/>
                  </a:cubicBezTo>
                  <a:cubicBezTo>
                    <a:pt x="517" y="411"/>
                    <a:pt x="509" y="398"/>
                    <a:pt x="502" y="386"/>
                  </a:cubicBezTo>
                  <a:cubicBezTo>
                    <a:pt x="510" y="385"/>
                    <a:pt x="513" y="383"/>
                    <a:pt x="512" y="381"/>
                  </a:cubicBezTo>
                  <a:cubicBezTo>
                    <a:pt x="496" y="357"/>
                    <a:pt x="477" y="320"/>
                    <a:pt x="474" y="295"/>
                  </a:cubicBezTo>
                  <a:cubicBezTo>
                    <a:pt x="491" y="310"/>
                    <a:pt x="509" y="325"/>
                    <a:pt x="523" y="335"/>
                  </a:cubicBezTo>
                  <a:cubicBezTo>
                    <a:pt x="526" y="337"/>
                    <a:pt x="528" y="338"/>
                    <a:pt x="531" y="340"/>
                  </a:cubicBezTo>
                  <a:cubicBezTo>
                    <a:pt x="531" y="341"/>
                    <a:pt x="532" y="342"/>
                    <a:pt x="532" y="343"/>
                  </a:cubicBezTo>
                  <a:cubicBezTo>
                    <a:pt x="538" y="356"/>
                    <a:pt x="560" y="406"/>
                    <a:pt x="560" y="406"/>
                  </a:cubicBezTo>
                  <a:cubicBezTo>
                    <a:pt x="572" y="406"/>
                    <a:pt x="572" y="406"/>
                    <a:pt x="572" y="406"/>
                  </a:cubicBezTo>
                  <a:cubicBezTo>
                    <a:pt x="571" y="406"/>
                    <a:pt x="570" y="406"/>
                    <a:pt x="569" y="407"/>
                  </a:cubicBezTo>
                  <a:close/>
                  <a:moveTo>
                    <a:pt x="593" y="426"/>
                  </a:moveTo>
                  <a:cubicBezTo>
                    <a:pt x="593" y="426"/>
                    <a:pt x="593" y="426"/>
                    <a:pt x="593" y="426"/>
                  </a:cubicBezTo>
                  <a:cubicBezTo>
                    <a:pt x="585" y="428"/>
                    <a:pt x="585" y="428"/>
                    <a:pt x="585" y="428"/>
                  </a:cubicBezTo>
                  <a:cubicBezTo>
                    <a:pt x="586" y="425"/>
                    <a:pt x="586" y="423"/>
                    <a:pt x="584" y="420"/>
                  </a:cubicBezTo>
                  <a:cubicBezTo>
                    <a:pt x="583" y="418"/>
                    <a:pt x="587" y="419"/>
                    <a:pt x="593" y="421"/>
                  </a:cubicBezTo>
                  <a:cubicBezTo>
                    <a:pt x="596" y="422"/>
                    <a:pt x="599" y="423"/>
                    <a:pt x="602" y="425"/>
                  </a:cubicBezTo>
                  <a:lnTo>
                    <a:pt x="593" y="426"/>
                  </a:lnTo>
                  <a:close/>
                  <a:moveTo>
                    <a:pt x="612" y="433"/>
                  </a:moveTo>
                  <a:cubicBezTo>
                    <a:pt x="612" y="434"/>
                    <a:pt x="611" y="434"/>
                    <a:pt x="610" y="434"/>
                  </a:cubicBezTo>
                  <a:cubicBezTo>
                    <a:pt x="610" y="434"/>
                    <a:pt x="609" y="434"/>
                    <a:pt x="608" y="434"/>
                  </a:cubicBezTo>
                  <a:cubicBezTo>
                    <a:pt x="610" y="433"/>
                    <a:pt x="610" y="433"/>
                    <a:pt x="610" y="433"/>
                  </a:cubicBezTo>
                  <a:cubicBezTo>
                    <a:pt x="612" y="433"/>
                    <a:pt x="612" y="433"/>
                    <a:pt x="612" y="433"/>
                  </a:cubicBezTo>
                  <a:cubicBezTo>
                    <a:pt x="612" y="433"/>
                    <a:pt x="612" y="433"/>
                    <a:pt x="612" y="433"/>
                  </a:cubicBezTo>
                  <a:close/>
                </a:path>
              </a:pathLst>
            </a:custGeom>
            <a:solidFill>
              <a:schemeClr val="bg1">
                <a:lumMod val="75000"/>
                <a:lumOff val="2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00" name="Freeform 412"/>
            <p:cNvSpPr/>
            <p:nvPr/>
          </p:nvSpPr>
          <p:spPr bwMode="auto">
            <a:xfrm>
              <a:off x="3693" y="1094"/>
              <a:ext cx="313" cy="466"/>
            </a:xfrm>
            <a:custGeom>
              <a:avLst/>
              <a:gdLst>
                <a:gd name="T0" fmla="*/ 72 w 132"/>
                <a:gd name="T1" fmla="*/ 29 h 197"/>
                <a:gd name="T2" fmla="*/ 19 w 132"/>
                <a:gd name="T3" fmla="*/ 87 h 197"/>
                <a:gd name="T4" fmla="*/ 132 w 132"/>
                <a:gd name="T5" fmla="*/ 191 h 197"/>
                <a:gd name="T6" fmla="*/ 122 w 132"/>
                <a:gd name="T7" fmla="*/ 0 h 197"/>
                <a:gd name="T8" fmla="*/ 72 w 132"/>
                <a:gd name="T9" fmla="*/ 29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97">
                  <a:moveTo>
                    <a:pt x="72" y="29"/>
                  </a:moveTo>
                  <a:cubicBezTo>
                    <a:pt x="72" y="68"/>
                    <a:pt x="39" y="82"/>
                    <a:pt x="19" y="87"/>
                  </a:cubicBezTo>
                  <a:cubicBezTo>
                    <a:pt x="0" y="92"/>
                    <a:pt x="132" y="197"/>
                    <a:pt x="132" y="191"/>
                  </a:cubicBezTo>
                  <a:cubicBezTo>
                    <a:pt x="132" y="185"/>
                    <a:pt x="122" y="0"/>
                    <a:pt x="122" y="0"/>
                  </a:cubicBezTo>
                  <a:cubicBezTo>
                    <a:pt x="122" y="0"/>
                    <a:pt x="93" y="2"/>
                    <a:pt x="72" y="29"/>
                  </a:cubicBezTo>
                  <a:close/>
                </a:path>
              </a:pathLst>
            </a:custGeom>
            <a:solidFill>
              <a:srgbClr val="F2AC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01" name="Freeform 413"/>
            <p:cNvSpPr/>
            <p:nvPr/>
          </p:nvSpPr>
          <p:spPr bwMode="auto">
            <a:xfrm>
              <a:off x="3937" y="1094"/>
              <a:ext cx="313" cy="466"/>
            </a:xfrm>
            <a:custGeom>
              <a:avLst/>
              <a:gdLst>
                <a:gd name="T0" fmla="*/ 59 w 132"/>
                <a:gd name="T1" fmla="*/ 29 h 197"/>
                <a:gd name="T2" fmla="*/ 112 w 132"/>
                <a:gd name="T3" fmla="*/ 87 h 197"/>
                <a:gd name="T4" fmla="*/ 0 w 132"/>
                <a:gd name="T5" fmla="*/ 191 h 197"/>
                <a:gd name="T6" fmla="*/ 9 w 132"/>
                <a:gd name="T7" fmla="*/ 0 h 197"/>
                <a:gd name="T8" fmla="*/ 59 w 132"/>
                <a:gd name="T9" fmla="*/ 29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97">
                  <a:moveTo>
                    <a:pt x="59" y="29"/>
                  </a:moveTo>
                  <a:cubicBezTo>
                    <a:pt x="59" y="68"/>
                    <a:pt x="92" y="82"/>
                    <a:pt x="112" y="87"/>
                  </a:cubicBezTo>
                  <a:cubicBezTo>
                    <a:pt x="132" y="92"/>
                    <a:pt x="0" y="197"/>
                    <a:pt x="0" y="191"/>
                  </a:cubicBezTo>
                  <a:cubicBezTo>
                    <a:pt x="0" y="185"/>
                    <a:pt x="9" y="0"/>
                    <a:pt x="9" y="0"/>
                  </a:cubicBezTo>
                  <a:cubicBezTo>
                    <a:pt x="9" y="0"/>
                    <a:pt x="38" y="2"/>
                    <a:pt x="59" y="29"/>
                  </a:cubicBezTo>
                  <a:close/>
                </a:path>
              </a:pathLst>
            </a:custGeom>
            <a:solidFill>
              <a:srgbClr val="F2AC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02" name="Rectangle 414"/>
            <p:cNvSpPr>
              <a:spLocks noChangeArrowheads="1"/>
            </p:cNvSpPr>
            <p:nvPr/>
          </p:nvSpPr>
          <p:spPr bwMode="auto">
            <a:xfrm>
              <a:off x="3864" y="725"/>
              <a:ext cx="213" cy="656"/>
            </a:xfrm>
            <a:prstGeom prst="rect">
              <a:avLst/>
            </a:prstGeom>
            <a:solidFill>
              <a:srgbClr val="F2AC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03" name="Freeform 415"/>
            <p:cNvSpPr/>
            <p:nvPr/>
          </p:nvSpPr>
          <p:spPr bwMode="auto">
            <a:xfrm>
              <a:off x="3864" y="959"/>
              <a:ext cx="213" cy="235"/>
            </a:xfrm>
            <a:custGeom>
              <a:avLst/>
              <a:gdLst>
                <a:gd name="T0" fmla="*/ 0 w 213"/>
                <a:gd name="T1" fmla="*/ 0 h 235"/>
                <a:gd name="T2" fmla="*/ 213 w 213"/>
                <a:gd name="T3" fmla="*/ 0 h 235"/>
                <a:gd name="T4" fmla="*/ 213 w 213"/>
                <a:gd name="T5" fmla="*/ 128 h 235"/>
                <a:gd name="T6" fmla="*/ 0 w 213"/>
                <a:gd name="T7" fmla="*/ 235 h 235"/>
                <a:gd name="T8" fmla="*/ 0 w 213"/>
                <a:gd name="T9" fmla="*/ 0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3" h="235">
                  <a:moveTo>
                    <a:pt x="0" y="0"/>
                  </a:moveTo>
                  <a:lnTo>
                    <a:pt x="213" y="0"/>
                  </a:lnTo>
                  <a:lnTo>
                    <a:pt x="213" y="128"/>
                  </a:lnTo>
                  <a:lnTo>
                    <a:pt x="0" y="2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8C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04" name="Freeform 416"/>
            <p:cNvSpPr/>
            <p:nvPr/>
          </p:nvSpPr>
          <p:spPr bwMode="auto">
            <a:xfrm>
              <a:off x="3378" y="415"/>
              <a:ext cx="206" cy="270"/>
            </a:xfrm>
            <a:custGeom>
              <a:avLst/>
              <a:gdLst>
                <a:gd name="T0" fmla="*/ 28 w 87"/>
                <a:gd name="T1" fmla="*/ 6 h 114"/>
                <a:gd name="T2" fmla="*/ 79 w 87"/>
                <a:gd name="T3" fmla="*/ 48 h 114"/>
                <a:gd name="T4" fmla="*/ 60 w 87"/>
                <a:gd name="T5" fmla="*/ 109 h 114"/>
                <a:gd name="T6" fmla="*/ 9 w 87"/>
                <a:gd name="T7" fmla="*/ 67 h 114"/>
                <a:gd name="T8" fmla="*/ 28 w 87"/>
                <a:gd name="T9" fmla="*/ 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114">
                  <a:moveTo>
                    <a:pt x="28" y="6"/>
                  </a:moveTo>
                  <a:cubicBezTo>
                    <a:pt x="47" y="0"/>
                    <a:pt x="70" y="19"/>
                    <a:pt x="79" y="48"/>
                  </a:cubicBezTo>
                  <a:cubicBezTo>
                    <a:pt x="87" y="76"/>
                    <a:pt x="79" y="104"/>
                    <a:pt x="60" y="109"/>
                  </a:cubicBezTo>
                  <a:cubicBezTo>
                    <a:pt x="41" y="114"/>
                    <a:pt x="18" y="95"/>
                    <a:pt x="9" y="67"/>
                  </a:cubicBezTo>
                  <a:cubicBezTo>
                    <a:pt x="0" y="38"/>
                    <a:pt x="8" y="11"/>
                    <a:pt x="28" y="6"/>
                  </a:cubicBezTo>
                  <a:close/>
                </a:path>
              </a:pathLst>
            </a:custGeom>
            <a:solidFill>
              <a:srgbClr val="F2AC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05" name="Freeform 417"/>
            <p:cNvSpPr/>
            <p:nvPr/>
          </p:nvSpPr>
          <p:spPr bwMode="auto">
            <a:xfrm>
              <a:off x="4357" y="415"/>
              <a:ext cx="208" cy="270"/>
            </a:xfrm>
            <a:custGeom>
              <a:avLst/>
              <a:gdLst>
                <a:gd name="T0" fmla="*/ 60 w 88"/>
                <a:gd name="T1" fmla="*/ 6 h 114"/>
                <a:gd name="T2" fmla="*/ 9 w 88"/>
                <a:gd name="T3" fmla="*/ 48 h 114"/>
                <a:gd name="T4" fmla="*/ 28 w 88"/>
                <a:gd name="T5" fmla="*/ 109 h 114"/>
                <a:gd name="T6" fmla="*/ 79 w 88"/>
                <a:gd name="T7" fmla="*/ 67 h 114"/>
                <a:gd name="T8" fmla="*/ 60 w 88"/>
                <a:gd name="T9" fmla="*/ 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114">
                  <a:moveTo>
                    <a:pt x="60" y="6"/>
                  </a:moveTo>
                  <a:cubicBezTo>
                    <a:pt x="41" y="0"/>
                    <a:pt x="18" y="19"/>
                    <a:pt x="9" y="48"/>
                  </a:cubicBezTo>
                  <a:cubicBezTo>
                    <a:pt x="0" y="76"/>
                    <a:pt x="9" y="104"/>
                    <a:pt x="28" y="109"/>
                  </a:cubicBezTo>
                  <a:cubicBezTo>
                    <a:pt x="47" y="114"/>
                    <a:pt x="70" y="95"/>
                    <a:pt x="79" y="67"/>
                  </a:cubicBezTo>
                  <a:cubicBezTo>
                    <a:pt x="88" y="38"/>
                    <a:pt x="79" y="11"/>
                    <a:pt x="60" y="6"/>
                  </a:cubicBezTo>
                  <a:close/>
                </a:path>
              </a:pathLst>
            </a:custGeom>
            <a:solidFill>
              <a:srgbClr val="F2AC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06" name="Freeform 418"/>
            <p:cNvSpPr/>
            <p:nvPr/>
          </p:nvSpPr>
          <p:spPr bwMode="auto">
            <a:xfrm>
              <a:off x="3449" y="-164"/>
              <a:ext cx="1043" cy="1261"/>
            </a:xfrm>
            <a:custGeom>
              <a:avLst/>
              <a:gdLst>
                <a:gd name="T0" fmla="*/ 223 w 440"/>
                <a:gd name="T1" fmla="*/ 533 h 533"/>
                <a:gd name="T2" fmla="*/ 43 w 440"/>
                <a:gd name="T3" fmla="*/ 435 h 533"/>
                <a:gd name="T4" fmla="*/ 7 w 440"/>
                <a:gd name="T5" fmla="*/ 184 h 533"/>
                <a:gd name="T6" fmla="*/ 220 w 440"/>
                <a:gd name="T7" fmla="*/ 0 h 533"/>
                <a:gd name="T8" fmla="*/ 433 w 440"/>
                <a:gd name="T9" fmla="*/ 184 h 533"/>
                <a:gd name="T10" fmla="*/ 398 w 440"/>
                <a:gd name="T11" fmla="*/ 435 h 533"/>
                <a:gd name="T12" fmla="*/ 223 w 440"/>
                <a:gd name="T13" fmla="*/ 533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0" h="533">
                  <a:moveTo>
                    <a:pt x="223" y="533"/>
                  </a:moveTo>
                  <a:cubicBezTo>
                    <a:pt x="184" y="533"/>
                    <a:pt x="73" y="476"/>
                    <a:pt x="43" y="435"/>
                  </a:cubicBezTo>
                  <a:cubicBezTo>
                    <a:pt x="12" y="394"/>
                    <a:pt x="0" y="248"/>
                    <a:pt x="7" y="184"/>
                  </a:cubicBezTo>
                  <a:cubicBezTo>
                    <a:pt x="15" y="119"/>
                    <a:pt x="88" y="0"/>
                    <a:pt x="220" y="0"/>
                  </a:cubicBezTo>
                  <a:cubicBezTo>
                    <a:pt x="353" y="0"/>
                    <a:pt x="426" y="119"/>
                    <a:pt x="433" y="184"/>
                  </a:cubicBezTo>
                  <a:cubicBezTo>
                    <a:pt x="440" y="248"/>
                    <a:pt x="429" y="394"/>
                    <a:pt x="398" y="435"/>
                  </a:cubicBezTo>
                  <a:cubicBezTo>
                    <a:pt x="367" y="476"/>
                    <a:pt x="263" y="533"/>
                    <a:pt x="223" y="533"/>
                  </a:cubicBezTo>
                  <a:close/>
                </a:path>
              </a:pathLst>
            </a:custGeom>
            <a:solidFill>
              <a:srgbClr val="F2AC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07" name="Freeform 419"/>
            <p:cNvSpPr/>
            <p:nvPr/>
          </p:nvSpPr>
          <p:spPr bwMode="auto">
            <a:xfrm>
              <a:off x="3880" y="501"/>
              <a:ext cx="164" cy="307"/>
            </a:xfrm>
            <a:custGeom>
              <a:avLst/>
              <a:gdLst>
                <a:gd name="T0" fmla="*/ 20 w 69"/>
                <a:gd name="T1" fmla="*/ 15 h 130"/>
                <a:gd name="T2" fmla="*/ 14 w 69"/>
                <a:gd name="T3" fmla="*/ 69 h 130"/>
                <a:gd name="T4" fmla="*/ 19 w 69"/>
                <a:gd name="T5" fmla="*/ 113 h 130"/>
                <a:gd name="T6" fmla="*/ 57 w 69"/>
                <a:gd name="T7" fmla="*/ 110 h 130"/>
                <a:gd name="T8" fmla="*/ 59 w 69"/>
                <a:gd name="T9" fmla="*/ 117 h 130"/>
                <a:gd name="T10" fmla="*/ 16 w 69"/>
                <a:gd name="T11" fmla="*/ 120 h 130"/>
                <a:gd name="T12" fmla="*/ 8 w 69"/>
                <a:gd name="T13" fmla="*/ 74 h 130"/>
                <a:gd name="T14" fmla="*/ 20 w 69"/>
                <a:gd name="T15" fmla="*/ 15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130">
                  <a:moveTo>
                    <a:pt x="20" y="15"/>
                  </a:moveTo>
                  <a:cubicBezTo>
                    <a:pt x="20" y="36"/>
                    <a:pt x="18" y="51"/>
                    <a:pt x="14" y="69"/>
                  </a:cubicBezTo>
                  <a:cubicBezTo>
                    <a:pt x="11" y="88"/>
                    <a:pt x="1" y="105"/>
                    <a:pt x="19" y="113"/>
                  </a:cubicBezTo>
                  <a:cubicBezTo>
                    <a:pt x="36" y="120"/>
                    <a:pt x="45" y="120"/>
                    <a:pt x="57" y="110"/>
                  </a:cubicBezTo>
                  <a:cubicBezTo>
                    <a:pt x="69" y="100"/>
                    <a:pt x="67" y="110"/>
                    <a:pt x="59" y="117"/>
                  </a:cubicBezTo>
                  <a:cubicBezTo>
                    <a:pt x="51" y="123"/>
                    <a:pt x="30" y="130"/>
                    <a:pt x="16" y="120"/>
                  </a:cubicBezTo>
                  <a:cubicBezTo>
                    <a:pt x="1" y="111"/>
                    <a:pt x="0" y="119"/>
                    <a:pt x="8" y="74"/>
                  </a:cubicBezTo>
                  <a:cubicBezTo>
                    <a:pt x="16" y="30"/>
                    <a:pt x="18" y="0"/>
                    <a:pt x="20" y="15"/>
                  </a:cubicBezTo>
                  <a:close/>
                </a:path>
              </a:pathLst>
            </a:custGeom>
            <a:solidFill>
              <a:srgbClr val="CC8C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08" name="Freeform 420"/>
            <p:cNvSpPr/>
            <p:nvPr/>
          </p:nvSpPr>
          <p:spPr bwMode="auto">
            <a:xfrm>
              <a:off x="3748" y="822"/>
              <a:ext cx="447" cy="62"/>
            </a:xfrm>
            <a:custGeom>
              <a:avLst/>
              <a:gdLst>
                <a:gd name="T0" fmla="*/ 14 w 189"/>
                <a:gd name="T1" fmla="*/ 4 h 26"/>
                <a:gd name="T2" fmla="*/ 62 w 189"/>
                <a:gd name="T3" fmla="*/ 17 h 26"/>
                <a:gd name="T4" fmla="*/ 143 w 189"/>
                <a:gd name="T5" fmla="*/ 14 h 26"/>
                <a:gd name="T6" fmla="*/ 172 w 189"/>
                <a:gd name="T7" fmla="*/ 5 h 26"/>
                <a:gd name="T8" fmla="*/ 170 w 189"/>
                <a:gd name="T9" fmla="*/ 13 h 26"/>
                <a:gd name="T10" fmla="*/ 142 w 189"/>
                <a:gd name="T11" fmla="*/ 20 h 26"/>
                <a:gd name="T12" fmla="*/ 61 w 189"/>
                <a:gd name="T13" fmla="*/ 24 h 26"/>
                <a:gd name="T14" fmla="*/ 15 w 189"/>
                <a:gd name="T15" fmla="*/ 14 h 26"/>
                <a:gd name="T16" fmla="*/ 14 w 189"/>
                <a:gd name="T17" fmla="*/ 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9" h="26">
                  <a:moveTo>
                    <a:pt x="14" y="4"/>
                  </a:moveTo>
                  <a:cubicBezTo>
                    <a:pt x="24" y="4"/>
                    <a:pt x="27" y="17"/>
                    <a:pt x="62" y="17"/>
                  </a:cubicBezTo>
                  <a:cubicBezTo>
                    <a:pt x="97" y="18"/>
                    <a:pt x="129" y="22"/>
                    <a:pt x="143" y="14"/>
                  </a:cubicBezTo>
                  <a:cubicBezTo>
                    <a:pt x="157" y="5"/>
                    <a:pt x="158" y="9"/>
                    <a:pt x="172" y="5"/>
                  </a:cubicBezTo>
                  <a:cubicBezTo>
                    <a:pt x="186" y="0"/>
                    <a:pt x="189" y="10"/>
                    <a:pt x="170" y="13"/>
                  </a:cubicBezTo>
                  <a:cubicBezTo>
                    <a:pt x="151" y="17"/>
                    <a:pt x="155" y="14"/>
                    <a:pt x="142" y="20"/>
                  </a:cubicBezTo>
                  <a:cubicBezTo>
                    <a:pt x="128" y="26"/>
                    <a:pt x="80" y="26"/>
                    <a:pt x="61" y="24"/>
                  </a:cubicBezTo>
                  <a:cubicBezTo>
                    <a:pt x="43" y="21"/>
                    <a:pt x="27" y="16"/>
                    <a:pt x="15" y="14"/>
                  </a:cubicBezTo>
                  <a:cubicBezTo>
                    <a:pt x="3" y="12"/>
                    <a:pt x="0" y="2"/>
                    <a:pt x="14" y="4"/>
                  </a:cubicBezTo>
                  <a:close/>
                </a:path>
              </a:pathLst>
            </a:custGeom>
            <a:solidFill>
              <a:srgbClr val="CC8C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09" name="Freeform 421"/>
            <p:cNvSpPr/>
            <p:nvPr/>
          </p:nvSpPr>
          <p:spPr bwMode="auto">
            <a:xfrm>
              <a:off x="3857" y="917"/>
              <a:ext cx="208" cy="54"/>
            </a:xfrm>
            <a:custGeom>
              <a:avLst/>
              <a:gdLst>
                <a:gd name="T0" fmla="*/ 14 w 88"/>
                <a:gd name="T1" fmla="*/ 5 h 23"/>
                <a:gd name="T2" fmla="*/ 72 w 88"/>
                <a:gd name="T3" fmla="*/ 6 h 23"/>
                <a:gd name="T4" fmla="*/ 69 w 88"/>
                <a:gd name="T5" fmla="*/ 14 h 23"/>
                <a:gd name="T6" fmla="*/ 18 w 88"/>
                <a:gd name="T7" fmla="*/ 13 h 23"/>
                <a:gd name="T8" fmla="*/ 14 w 88"/>
                <a:gd name="T9" fmla="*/ 5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23">
                  <a:moveTo>
                    <a:pt x="14" y="5"/>
                  </a:moveTo>
                  <a:cubicBezTo>
                    <a:pt x="37" y="14"/>
                    <a:pt x="55" y="13"/>
                    <a:pt x="72" y="6"/>
                  </a:cubicBezTo>
                  <a:cubicBezTo>
                    <a:pt x="88" y="0"/>
                    <a:pt x="88" y="5"/>
                    <a:pt x="69" y="14"/>
                  </a:cubicBezTo>
                  <a:cubicBezTo>
                    <a:pt x="53" y="23"/>
                    <a:pt x="36" y="23"/>
                    <a:pt x="18" y="13"/>
                  </a:cubicBezTo>
                  <a:cubicBezTo>
                    <a:pt x="0" y="4"/>
                    <a:pt x="5" y="0"/>
                    <a:pt x="14" y="5"/>
                  </a:cubicBezTo>
                  <a:close/>
                </a:path>
              </a:pathLst>
            </a:custGeom>
            <a:solidFill>
              <a:srgbClr val="CC8C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10" name="Freeform 422"/>
            <p:cNvSpPr/>
            <p:nvPr/>
          </p:nvSpPr>
          <p:spPr bwMode="auto">
            <a:xfrm>
              <a:off x="3515" y="4335"/>
              <a:ext cx="467" cy="204"/>
            </a:xfrm>
            <a:custGeom>
              <a:avLst/>
              <a:gdLst>
                <a:gd name="T0" fmla="*/ 83 w 197"/>
                <a:gd name="T1" fmla="*/ 25 h 86"/>
                <a:gd name="T2" fmla="*/ 10 w 197"/>
                <a:gd name="T3" fmla="*/ 64 h 86"/>
                <a:gd name="T4" fmla="*/ 45 w 197"/>
                <a:gd name="T5" fmla="*/ 86 h 86"/>
                <a:gd name="T6" fmla="*/ 156 w 197"/>
                <a:gd name="T7" fmla="*/ 65 h 86"/>
                <a:gd name="T8" fmla="*/ 192 w 197"/>
                <a:gd name="T9" fmla="*/ 37 h 86"/>
                <a:gd name="T10" fmla="*/ 83 w 197"/>
                <a:gd name="T11" fmla="*/ 25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7" h="86">
                  <a:moveTo>
                    <a:pt x="83" y="25"/>
                  </a:moveTo>
                  <a:cubicBezTo>
                    <a:pt x="68" y="36"/>
                    <a:pt x="20" y="60"/>
                    <a:pt x="10" y="64"/>
                  </a:cubicBezTo>
                  <a:cubicBezTo>
                    <a:pt x="0" y="68"/>
                    <a:pt x="6" y="85"/>
                    <a:pt x="45" y="86"/>
                  </a:cubicBezTo>
                  <a:cubicBezTo>
                    <a:pt x="70" y="86"/>
                    <a:pt x="121" y="79"/>
                    <a:pt x="156" y="65"/>
                  </a:cubicBezTo>
                  <a:cubicBezTo>
                    <a:pt x="176" y="57"/>
                    <a:pt x="190" y="48"/>
                    <a:pt x="192" y="37"/>
                  </a:cubicBezTo>
                  <a:cubicBezTo>
                    <a:pt x="197" y="6"/>
                    <a:pt x="116" y="0"/>
                    <a:pt x="83" y="25"/>
                  </a:cubicBezTo>
                  <a:close/>
                </a:path>
              </a:pathLst>
            </a:custGeom>
            <a:solidFill>
              <a:srgbClr val="37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11" name="Freeform 423"/>
            <p:cNvSpPr/>
            <p:nvPr/>
          </p:nvSpPr>
          <p:spPr bwMode="auto">
            <a:xfrm>
              <a:off x="4089" y="4335"/>
              <a:ext cx="467" cy="204"/>
            </a:xfrm>
            <a:custGeom>
              <a:avLst/>
              <a:gdLst>
                <a:gd name="T0" fmla="*/ 114 w 197"/>
                <a:gd name="T1" fmla="*/ 25 h 86"/>
                <a:gd name="T2" fmla="*/ 187 w 197"/>
                <a:gd name="T3" fmla="*/ 64 h 86"/>
                <a:gd name="T4" fmla="*/ 152 w 197"/>
                <a:gd name="T5" fmla="*/ 86 h 86"/>
                <a:gd name="T6" fmla="*/ 41 w 197"/>
                <a:gd name="T7" fmla="*/ 65 h 86"/>
                <a:gd name="T8" fmla="*/ 5 w 197"/>
                <a:gd name="T9" fmla="*/ 37 h 86"/>
                <a:gd name="T10" fmla="*/ 114 w 197"/>
                <a:gd name="T11" fmla="*/ 25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7" h="86">
                  <a:moveTo>
                    <a:pt x="114" y="25"/>
                  </a:moveTo>
                  <a:cubicBezTo>
                    <a:pt x="129" y="36"/>
                    <a:pt x="177" y="60"/>
                    <a:pt x="187" y="64"/>
                  </a:cubicBezTo>
                  <a:cubicBezTo>
                    <a:pt x="197" y="68"/>
                    <a:pt x="191" y="85"/>
                    <a:pt x="152" y="86"/>
                  </a:cubicBezTo>
                  <a:cubicBezTo>
                    <a:pt x="127" y="86"/>
                    <a:pt x="75" y="79"/>
                    <a:pt x="41" y="65"/>
                  </a:cubicBezTo>
                  <a:cubicBezTo>
                    <a:pt x="21" y="57"/>
                    <a:pt x="7" y="48"/>
                    <a:pt x="5" y="37"/>
                  </a:cubicBezTo>
                  <a:cubicBezTo>
                    <a:pt x="0" y="6"/>
                    <a:pt x="81" y="0"/>
                    <a:pt x="114" y="25"/>
                  </a:cubicBezTo>
                  <a:close/>
                </a:path>
              </a:pathLst>
            </a:custGeom>
            <a:solidFill>
              <a:srgbClr val="37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12" name="Freeform 424"/>
            <p:cNvSpPr/>
            <p:nvPr/>
          </p:nvSpPr>
          <p:spPr bwMode="auto">
            <a:xfrm>
              <a:off x="3624" y="2239"/>
              <a:ext cx="723" cy="2170"/>
            </a:xfrm>
            <a:custGeom>
              <a:avLst/>
              <a:gdLst>
                <a:gd name="T0" fmla="*/ 15 w 305"/>
                <a:gd name="T1" fmla="*/ 0 h 917"/>
                <a:gd name="T2" fmla="*/ 20 w 305"/>
                <a:gd name="T3" fmla="*/ 378 h 917"/>
                <a:gd name="T4" fmla="*/ 49 w 305"/>
                <a:gd name="T5" fmla="*/ 806 h 917"/>
                <a:gd name="T6" fmla="*/ 39 w 305"/>
                <a:gd name="T7" fmla="*/ 905 h 917"/>
                <a:gd name="T8" fmla="*/ 90 w 305"/>
                <a:gd name="T9" fmla="*/ 916 h 917"/>
                <a:gd name="T10" fmla="*/ 148 w 305"/>
                <a:gd name="T11" fmla="*/ 917 h 917"/>
                <a:gd name="T12" fmla="*/ 141 w 305"/>
                <a:gd name="T13" fmla="*/ 812 h 917"/>
                <a:gd name="T14" fmla="*/ 128 w 305"/>
                <a:gd name="T15" fmla="*/ 373 h 917"/>
                <a:gd name="T16" fmla="*/ 136 w 305"/>
                <a:gd name="T17" fmla="*/ 199 h 917"/>
                <a:gd name="T18" fmla="*/ 159 w 305"/>
                <a:gd name="T19" fmla="*/ 199 h 917"/>
                <a:gd name="T20" fmla="*/ 179 w 305"/>
                <a:gd name="T21" fmla="*/ 373 h 917"/>
                <a:gd name="T22" fmla="*/ 197 w 305"/>
                <a:gd name="T23" fmla="*/ 812 h 917"/>
                <a:gd name="T24" fmla="*/ 198 w 305"/>
                <a:gd name="T25" fmla="*/ 917 h 917"/>
                <a:gd name="T26" fmla="*/ 256 w 305"/>
                <a:gd name="T27" fmla="*/ 916 h 917"/>
                <a:gd name="T28" fmla="*/ 305 w 305"/>
                <a:gd name="T29" fmla="*/ 905 h 917"/>
                <a:gd name="T30" fmla="*/ 289 w 305"/>
                <a:gd name="T31" fmla="*/ 806 h 917"/>
                <a:gd name="T32" fmla="*/ 288 w 305"/>
                <a:gd name="T33" fmla="*/ 378 h 917"/>
                <a:gd name="T34" fmla="*/ 271 w 305"/>
                <a:gd name="T35" fmla="*/ 0 h 917"/>
                <a:gd name="T36" fmla="*/ 15 w 305"/>
                <a:gd name="T37" fmla="*/ 0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05" h="917">
                  <a:moveTo>
                    <a:pt x="15" y="0"/>
                  </a:moveTo>
                  <a:cubicBezTo>
                    <a:pt x="5" y="78"/>
                    <a:pt x="0" y="232"/>
                    <a:pt x="20" y="378"/>
                  </a:cubicBezTo>
                  <a:cubicBezTo>
                    <a:pt x="39" y="524"/>
                    <a:pt x="49" y="749"/>
                    <a:pt x="49" y="806"/>
                  </a:cubicBezTo>
                  <a:cubicBezTo>
                    <a:pt x="49" y="862"/>
                    <a:pt x="39" y="905"/>
                    <a:pt x="39" y="905"/>
                  </a:cubicBezTo>
                  <a:cubicBezTo>
                    <a:pt x="39" y="905"/>
                    <a:pt x="51" y="916"/>
                    <a:pt x="90" y="916"/>
                  </a:cubicBezTo>
                  <a:cubicBezTo>
                    <a:pt x="128" y="916"/>
                    <a:pt x="148" y="917"/>
                    <a:pt x="148" y="917"/>
                  </a:cubicBezTo>
                  <a:cubicBezTo>
                    <a:pt x="148" y="917"/>
                    <a:pt x="143" y="875"/>
                    <a:pt x="141" y="812"/>
                  </a:cubicBezTo>
                  <a:cubicBezTo>
                    <a:pt x="140" y="749"/>
                    <a:pt x="127" y="470"/>
                    <a:pt x="128" y="373"/>
                  </a:cubicBezTo>
                  <a:cubicBezTo>
                    <a:pt x="130" y="276"/>
                    <a:pt x="124" y="199"/>
                    <a:pt x="136" y="199"/>
                  </a:cubicBezTo>
                  <a:cubicBezTo>
                    <a:pt x="143" y="200"/>
                    <a:pt x="152" y="200"/>
                    <a:pt x="159" y="199"/>
                  </a:cubicBezTo>
                  <a:cubicBezTo>
                    <a:pt x="172" y="199"/>
                    <a:pt x="171" y="276"/>
                    <a:pt x="179" y="373"/>
                  </a:cubicBezTo>
                  <a:cubicBezTo>
                    <a:pt x="188" y="470"/>
                    <a:pt x="194" y="749"/>
                    <a:pt x="197" y="812"/>
                  </a:cubicBezTo>
                  <a:cubicBezTo>
                    <a:pt x="200" y="875"/>
                    <a:pt x="198" y="917"/>
                    <a:pt x="198" y="917"/>
                  </a:cubicBezTo>
                  <a:cubicBezTo>
                    <a:pt x="198" y="917"/>
                    <a:pt x="217" y="916"/>
                    <a:pt x="256" y="916"/>
                  </a:cubicBezTo>
                  <a:cubicBezTo>
                    <a:pt x="295" y="916"/>
                    <a:pt x="305" y="905"/>
                    <a:pt x="305" y="905"/>
                  </a:cubicBezTo>
                  <a:cubicBezTo>
                    <a:pt x="305" y="905"/>
                    <a:pt x="293" y="862"/>
                    <a:pt x="289" y="806"/>
                  </a:cubicBezTo>
                  <a:cubicBezTo>
                    <a:pt x="285" y="749"/>
                    <a:pt x="279" y="524"/>
                    <a:pt x="288" y="378"/>
                  </a:cubicBezTo>
                  <a:cubicBezTo>
                    <a:pt x="297" y="232"/>
                    <a:pt x="286" y="78"/>
                    <a:pt x="271" y="0"/>
                  </a:cubicBezTo>
                  <a:cubicBezTo>
                    <a:pt x="260" y="5"/>
                    <a:pt x="26" y="5"/>
                    <a:pt x="15" y="0"/>
                  </a:cubicBezTo>
                  <a:close/>
                </a:path>
              </a:pathLst>
            </a:custGeom>
            <a:solidFill>
              <a:srgbClr val="5360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13" name="Freeform 425"/>
            <p:cNvSpPr/>
            <p:nvPr/>
          </p:nvSpPr>
          <p:spPr bwMode="auto">
            <a:xfrm>
              <a:off x="3304" y="1331"/>
              <a:ext cx="401" cy="878"/>
            </a:xfrm>
            <a:custGeom>
              <a:avLst/>
              <a:gdLst>
                <a:gd name="T0" fmla="*/ 113 w 169"/>
                <a:gd name="T1" fmla="*/ 17 h 371"/>
                <a:gd name="T2" fmla="*/ 11 w 169"/>
                <a:gd name="T3" fmla="*/ 307 h 371"/>
                <a:gd name="T4" fmla="*/ 49 w 169"/>
                <a:gd name="T5" fmla="*/ 344 h 371"/>
                <a:gd name="T6" fmla="*/ 146 w 169"/>
                <a:gd name="T7" fmla="*/ 137 h 371"/>
                <a:gd name="T8" fmla="*/ 113 w 169"/>
                <a:gd name="T9" fmla="*/ 17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371">
                  <a:moveTo>
                    <a:pt x="113" y="17"/>
                  </a:moveTo>
                  <a:cubicBezTo>
                    <a:pt x="94" y="35"/>
                    <a:pt x="22" y="284"/>
                    <a:pt x="11" y="307"/>
                  </a:cubicBezTo>
                  <a:cubicBezTo>
                    <a:pt x="0" y="330"/>
                    <a:pt x="27" y="371"/>
                    <a:pt x="49" y="344"/>
                  </a:cubicBezTo>
                  <a:cubicBezTo>
                    <a:pt x="72" y="318"/>
                    <a:pt x="123" y="177"/>
                    <a:pt x="146" y="137"/>
                  </a:cubicBezTo>
                  <a:cubicBezTo>
                    <a:pt x="169" y="96"/>
                    <a:pt x="131" y="0"/>
                    <a:pt x="113" y="17"/>
                  </a:cubicBezTo>
                  <a:close/>
                </a:path>
              </a:pathLst>
            </a:custGeom>
            <a:solidFill>
              <a:srgbClr val="B6C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14" name="Freeform 426"/>
            <p:cNvSpPr/>
            <p:nvPr/>
          </p:nvSpPr>
          <p:spPr bwMode="auto">
            <a:xfrm>
              <a:off x="3404" y="1530"/>
              <a:ext cx="265" cy="584"/>
            </a:xfrm>
            <a:custGeom>
              <a:avLst/>
              <a:gdLst>
                <a:gd name="T0" fmla="*/ 16 w 112"/>
                <a:gd name="T1" fmla="*/ 247 h 247"/>
                <a:gd name="T2" fmla="*/ 104 w 112"/>
                <a:gd name="T3" fmla="*/ 53 h 247"/>
                <a:gd name="T4" fmla="*/ 110 w 112"/>
                <a:gd name="T5" fmla="*/ 6 h 247"/>
                <a:gd name="T6" fmla="*/ 74 w 112"/>
                <a:gd name="T7" fmla="*/ 12 h 247"/>
                <a:gd name="T8" fmla="*/ 45 w 112"/>
                <a:gd name="T9" fmla="*/ 168 h 247"/>
                <a:gd name="T10" fmla="*/ 11 w 112"/>
                <a:gd name="T11" fmla="*/ 239 h 247"/>
                <a:gd name="T12" fmla="*/ 16 w 112"/>
                <a:gd name="T13" fmla="*/ 24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" h="247">
                  <a:moveTo>
                    <a:pt x="16" y="247"/>
                  </a:moveTo>
                  <a:cubicBezTo>
                    <a:pt x="42" y="202"/>
                    <a:pt x="84" y="89"/>
                    <a:pt x="104" y="53"/>
                  </a:cubicBezTo>
                  <a:cubicBezTo>
                    <a:pt x="111" y="40"/>
                    <a:pt x="112" y="23"/>
                    <a:pt x="110" y="6"/>
                  </a:cubicBezTo>
                  <a:cubicBezTo>
                    <a:pt x="97" y="0"/>
                    <a:pt x="85" y="1"/>
                    <a:pt x="74" y="12"/>
                  </a:cubicBezTo>
                  <a:cubicBezTo>
                    <a:pt x="74" y="63"/>
                    <a:pt x="62" y="134"/>
                    <a:pt x="45" y="168"/>
                  </a:cubicBezTo>
                  <a:cubicBezTo>
                    <a:pt x="28" y="202"/>
                    <a:pt x="0" y="227"/>
                    <a:pt x="11" y="239"/>
                  </a:cubicBezTo>
                  <a:cubicBezTo>
                    <a:pt x="12" y="240"/>
                    <a:pt x="14" y="243"/>
                    <a:pt x="16" y="247"/>
                  </a:cubicBezTo>
                  <a:close/>
                </a:path>
              </a:pathLst>
            </a:custGeom>
            <a:solidFill>
              <a:srgbClr val="8DA4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15" name="Freeform 427"/>
            <p:cNvSpPr/>
            <p:nvPr/>
          </p:nvSpPr>
          <p:spPr bwMode="auto">
            <a:xfrm>
              <a:off x="3520" y="1255"/>
              <a:ext cx="879" cy="1271"/>
            </a:xfrm>
            <a:custGeom>
              <a:avLst/>
              <a:gdLst>
                <a:gd name="T0" fmla="*/ 27 w 371"/>
                <a:gd name="T1" fmla="*/ 45 h 537"/>
                <a:gd name="T2" fmla="*/ 41 w 371"/>
                <a:gd name="T3" fmla="*/ 499 h 537"/>
                <a:gd name="T4" fmla="*/ 190 w 371"/>
                <a:gd name="T5" fmla="*/ 535 h 537"/>
                <a:gd name="T6" fmla="*/ 340 w 371"/>
                <a:gd name="T7" fmla="*/ 499 h 537"/>
                <a:gd name="T8" fmla="*/ 334 w 371"/>
                <a:gd name="T9" fmla="*/ 241 h 537"/>
                <a:gd name="T10" fmla="*/ 354 w 371"/>
                <a:gd name="T11" fmla="*/ 45 h 537"/>
                <a:gd name="T12" fmla="*/ 253 w 371"/>
                <a:gd name="T13" fmla="*/ 0 h 537"/>
                <a:gd name="T14" fmla="*/ 190 w 371"/>
                <a:gd name="T15" fmla="*/ 24 h 537"/>
                <a:gd name="T16" fmla="*/ 128 w 371"/>
                <a:gd name="T17" fmla="*/ 0 h 537"/>
                <a:gd name="T18" fmla="*/ 27 w 371"/>
                <a:gd name="T19" fmla="*/ 45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1" h="537">
                  <a:moveTo>
                    <a:pt x="27" y="45"/>
                  </a:moveTo>
                  <a:cubicBezTo>
                    <a:pt x="0" y="62"/>
                    <a:pt x="59" y="307"/>
                    <a:pt x="41" y="499"/>
                  </a:cubicBezTo>
                  <a:cubicBezTo>
                    <a:pt x="39" y="518"/>
                    <a:pt x="87" y="537"/>
                    <a:pt x="190" y="535"/>
                  </a:cubicBezTo>
                  <a:cubicBezTo>
                    <a:pt x="293" y="537"/>
                    <a:pt x="342" y="518"/>
                    <a:pt x="340" y="499"/>
                  </a:cubicBezTo>
                  <a:cubicBezTo>
                    <a:pt x="333" y="425"/>
                    <a:pt x="328" y="314"/>
                    <a:pt x="334" y="241"/>
                  </a:cubicBezTo>
                  <a:cubicBezTo>
                    <a:pt x="345" y="123"/>
                    <a:pt x="371" y="56"/>
                    <a:pt x="354" y="45"/>
                  </a:cubicBezTo>
                  <a:cubicBezTo>
                    <a:pt x="328" y="28"/>
                    <a:pt x="289" y="11"/>
                    <a:pt x="253" y="0"/>
                  </a:cubicBezTo>
                  <a:cubicBezTo>
                    <a:pt x="240" y="14"/>
                    <a:pt x="217" y="24"/>
                    <a:pt x="190" y="24"/>
                  </a:cubicBezTo>
                  <a:cubicBezTo>
                    <a:pt x="164" y="24"/>
                    <a:pt x="140" y="14"/>
                    <a:pt x="128" y="0"/>
                  </a:cubicBezTo>
                  <a:cubicBezTo>
                    <a:pt x="91" y="11"/>
                    <a:pt x="53" y="28"/>
                    <a:pt x="27" y="45"/>
                  </a:cubicBezTo>
                  <a:close/>
                </a:path>
              </a:pathLst>
            </a:custGeom>
            <a:solidFill>
              <a:srgbClr val="B6C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16" name="Freeform 428"/>
            <p:cNvSpPr/>
            <p:nvPr/>
          </p:nvSpPr>
          <p:spPr bwMode="auto">
            <a:xfrm>
              <a:off x="3963" y="1312"/>
              <a:ext cx="17" cy="1209"/>
            </a:xfrm>
            <a:custGeom>
              <a:avLst/>
              <a:gdLst>
                <a:gd name="T0" fmla="*/ 7 w 7"/>
                <a:gd name="T1" fmla="*/ 0 h 511"/>
                <a:gd name="T2" fmla="*/ 7 w 7"/>
                <a:gd name="T3" fmla="*/ 511 h 511"/>
                <a:gd name="T4" fmla="*/ 3 w 7"/>
                <a:gd name="T5" fmla="*/ 511 h 511"/>
                <a:gd name="T6" fmla="*/ 0 w 7"/>
                <a:gd name="T7" fmla="*/ 511 h 511"/>
                <a:gd name="T8" fmla="*/ 0 w 7"/>
                <a:gd name="T9" fmla="*/ 0 h 511"/>
                <a:gd name="T10" fmla="*/ 3 w 7"/>
                <a:gd name="T11" fmla="*/ 0 h 511"/>
                <a:gd name="T12" fmla="*/ 7 w 7"/>
                <a:gd name="T13" fmla="*/ 0 h 5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11">
                  <a:moveTo>
                    <a:pt x="7" y="0"/>
                  </a:moveTo>
                  <a:cubicBezTo>
                    <a:pt x="7" y="511"/>
                    <a:pt x="7" y="511"/>
                    <a:pt x="7" y="511"/>
                  </a:cubicBezTo>
                  <a:cubicBezTo>
                    <a:pt x="6" y="511"/>
                    <a:pt x="4" y="511"/>
                    <a:pt x="3" y="511"/>
                  </a:cubicBezTo>
                  <a:cubicBezTo>
                    <a:pt x="2" y="511"/>
                    <a:pt x="1" y="511"/>
                    <a:pt x="0" y="5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2" y="0"/>
                    <a:pt x="3" y="0"/>
                  </a:cubicBezTo>
                  <a:cubicBezTo>
                    <a:pt x="4" y="0"/>
                    <a:pt x="6" y="0"/>
                    <a:pt x="7" y="0"/>
                  </a:cubicBezTo>
                  <a:close/>
                </a:path>
              </a:pathLst>
            </a:custGeom>
            <a:solidFill>
              <a:srgbClr val="8DA4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17" name="Freeform 429"/>
            <p:cNvSpPr/>
            <p:nvPr/>
          </p:nvSpPr>
          <p:spPr bwMode="auto">
            <a:xfrm>
              <a:off x="4212" y="1326"/>
              <a:ext cx="322" cy="904"/>
            </a:xfrm>
            <a:custGeom>
              <a:avLst/>
              <a:gdLst>
                <a:gd name="T0" fmla="*/ 65 w 136"/>
                <a:gd name="T1" fmla="*/ 19 h 382"/>
                <a:gd name="T2" fmla="*/ 128 w 136"/>
                <a:gd name="T3" fmla="*/ 320 h 382"/>
                <a:gd name="T4" fmla="*/ 85 w 136"/>
                <a:gd name="T5" fmla="*/ 352 h 382"/>
                <a:gd name="T6" fmla="*/ 17 w 136"/>
                <a:gd name="T7" fmla="*/ 133 h 382"/>
                <a:gd name="T8" fmla="*/ 65 w 136"/>
                <a:gd name="T9" fmla="*/ 19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382">
                  <a:moveTo>
                    <a:pt x="65" y="19"/>
                  </a:moveTo>
                  <a:cubicBezTo>
                    <a:pt x="81" y="39"/>
                    <a:pt x="120" y="296"/>
                    <a:pt x="128" y="320"/>
                  </a:cubicBezTo>
                  <a:cubicBezTo>
                    <a:pt x="136" y="344"/>
                    <a:pt x="104" y="382"/>
                    <a:pt x="85" y="352"/>
                  </a:cubicBezTo>
                  <a:cubicBezTo>
                    <a:pt x="66" y="322"/>
                    <a:pt x="34" y="177"/>
                    <a:pt x="17" y="133"/>
                  </a:cubicBezTo>
                  <a:cubicBezTo>
                    <a:pt x="0" y="90"/>
                    <a:pt x="49" y="0"/>
                    <a:pt x="65" y="19"/>
                  </a:cubicBezTo>
                  <a:close/>
                </a:path>
              </a:pathLst>
            </a:custGeom>
            <a:solidFill>
              <a:srgbClr val="B6C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18" name="Freeform 430"/>
            <p:cNvSpPr/>
            <p:nvPr/>
          </p:nvSpPr>
          <p:spPr bwMode="auto">
            <a:xfrm>
              <a:off x="4610" y="2753"/>
              <a:ext cx="185" cy="601"/>
            </a:xfrm>
            <a:custGeom>
              <a:avLst/>
              <a:gdLst>
                <a:gd name="T0" fmla="*/ 17 w 78"/>
                <a:gd name="T1" fmla="*/ 0 h 254"/>
                <a:gd name="T2" fmla="*/ 61 w 78"/>
                <a:gd name="T3" fmla="*/ 0 h 254"/>
                <a:gd name="T4" fmla="*/ 78 w 78"/>
                <a:gd name="T5" fmla="*/ 17 h 254"/>
                <a:gd name="T6" fmla="*/ 78 w 78"/>
                <a:gd name="T7" fmla="*/ 237 h 254"/>
                <a:gd name="T8" fmla="*/ 61 w 78"/>
                <a:gd name="T9" fmla="*/ 254 h 254"/>
                <a:gd name="T10" fmla="*/ 17 w 78"/>
                <a:gd name="T11" fmla="*/ 254 h 254"/>
                <a:gd name="T12" fmla="*/ 0 w 78"/>
                <a:gd name="T13" fmla="*/ 237 h 254"/>
                <a:gd name="T14" fmla="*/ 0 w 78"/>
                <a:gd name="T15" fmla="*/ 17 h 254"/>
                <a:gd name="T16" fmla="*/ 17 w 78"/>
                <a:gd name="T17" fmla="*/ 0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8" h="254">
                  <a:moveTo>
                    <a:pt x="17" y="0"/>
                  </a:moveTo>
                  <a:cubicBezTo>
                    <a:pt x="61" y="0"/>
                    <a:pt x="61" y="0"/>
                    <a:pt x="61" y="0"/>
                  </a:cubicBezTo>
                  <a:cubicBezTo>
                    <a:pt x="70" y="0"/>
                    <a:pt x="78" y="8"/>
                    <a:pt x="78" y="17"/>
                  </a:cubicBezTo>
                  <a:cubicBezTo>
                    <a:pt x="78" y="237"/>
                    <a:pt x="78" y="237"/>
                    <a:pt x="78" y="237"/>
                  </a:cubicBezTo>
                  <a:cubicBezTo>
                    <a:pt x="78" y="246"/>
                    <a:pt x="70" y="254"/>
                    <a:pt x="61" y="254"/>
                  </a:cubicBezTo>
                  <a:cubicBezTo>
                    <a:pt x="17" y="254"/>
                    <a:pt x="17" y="254"/>
                    <a:pt x="17" y="254"/>
                  </a:cubicBezTo>
                  <a:cubicBezTo>
                    <a:pt x="8" y="254"/>
                    <a:pt x="0" y="246"/>
                    <a:pt x="0" y="23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lose/>
                </a:path>
              </a:pathLst>
            </a:custGeom>
            <a:solidFill>
              <a:srgbClr val="37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19" name="Freeform 431"/>
            <p:cNvSpPr/>
            <p:nvPr/>
          </p:nvSpPr>
          <p:spPr bwMode="auto">
            <a:xfrm>
              <a:off x="4195" y="2755"/>
              <a:ext cx="586" cy="802"/>
            </a:xfrm>
            <a:custGeom>
              <a:avLst/>
              <a:gdLst>
                <a:gd name="T0" fmla="*/ 0 w 247"/>
                <a:gd name="T1" fmla="*/ 83 h 339"/>
                <a:gd name="T2" fmla="*/ 189 w 247"/>
                <a:gd name="T3" fmla="*/ 0 h 339"/>
                <a:gd name="T4" fmla="*/ 243 w 247"/>
                <a:gd name="T5" fmla="*/ 59 h 339"/>
                <a:gd name="T6" fmla="*/ 247 w 247"/>
                <a:gd name="T7" fmla="*/ 249 h 339"/>
                <a:gd name="T8" fmla="*/ 60 w 247"/>
                <a:gd name="T9" fmla="*/ 339 h 339"/>
                <a:gd name="T10" fmla="*/ 0 w 247"/>
                <a:gd name="T11" fmla="*/ 83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7" h="339">
                  <a:moveTo>
                    <a:pt x="0" y="83"/>
                  </a:moveTo>
                  <a:cubicBezTo>
                    <a:pt x="189" y="0"/>
                    <a:pt x="189" y="0"/>
                    <a:pt x="189" y="0"/>
                  </a:cubicBezTo>
                  <a:cubicBezTo>
                    <a:pt x="243" y="59"/>
                    <a:pt x="243" y="59"/>
                    <a:pt x="243" y="59"/>
                  </a:cubicBezTo>
                  <a:cubicBezTo>
                    <a:pt x="247" y="249"/>
                    <a:pt x="247" y="249"/>
                    <a:pt x="247" y="249"/>
                  </a:cubicBezTo>
                  <a:cubicBezTo>
                    <a:pt x="60" y="339"/>
                    <a:pt x="60" y="339"/>
                    <a:pt x="60" y="339"/>
                  </a:cubicBezTo>
                  <a:cubicBezTo>
                    <a:pt x="60" y="339"/>
                    <a:pt x="18" y="222"/>
                    <a:pt x="0" y="83"/>
                  </a:cubicBezTo>
                  <a:close/>
                </a:path>
              </a:pathLst>
            </a:custGeom>
            <a:solidFill>
              <a:srgbClr val="37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20" name="Freeform 432"/>
            <p:cNvSpPr/>
            <p:nvPr/>
          </p:nvSpPr>
          <p:spPr bwMode="auto">
            <a:xfrm>
              <a:off x="4177" y="2944"/>
              <a:ext cx="182" cy="618"/>
            </a:xfrm>
            <a:custGeom>
              <a:avLst/>
              <a:gdLst>
                <a:gd name="T0" fmla="*/ 17 w 77"/>
                <a:gd name="T1" fmla="*/ 0 h 261"/>
                <a:gd name="T2" fmla="*/ 60 w 77"/>
                <a:gd name="T3" fmla="*/ 0 h 261"/>
                <a:gd name="T4" fmla="*/ 77 w 77"/>
                <a:gd name="T5" fmla="*/ 18 h 261"/>
                <a:gd name="T6" fmla="*/ 77 w 77"/>
                <a:gd name="T7" fmla="*/ 244 h 261"/>
                <a:gd name="T8" fmla="*/ 60 w 77"/>
                <a:gd name="T9" fmla="*/ 261 h 261"/>
                <a:gd name="T10" fmla="*/ 17 w 77"/>
                <a:gd name="T11" fmla="*/ 261 h 261"/>
                <a:gd name="T12" fmla="*/ 0 w 77"/>
                <a:gd name="T13" fmla="*/ 244 h 261"/>
                <a:gd name="T14" fmla="*/ 0 w 77"/>
                <a:gd name="T15" fmla="*/ 18 h 261"/>
                <a:gd name="T16" fmla="*/ 17 w 77"/>
                <a:gd name="T17" fmla="*/ 0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7" h="261">
                  <a:moveTo>
                    <a:pt x="17" y="0"/>
                  </a:moveTo>
                  <a:cubicBezTo>
                    <a:pt x="60" y="0"/>
                    <a:pt x="60" y="0"/>
                    <a:pt x="60" y="0"/>
                  </a:cubicBezTo>
                  <a:cubicBezTo>
                    <a:pt x="70" y="0"/>
                    <a:pt x="77" y="8"/>
                    <a:pt x="77" y="18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53"/>
                    <a:pt x="70" y="261"/>
                    <a:pt x="60" y="261"/>
                  </a:cubicBezTo>
                  <a:cubicBezTo>
                    <a:pt x="17" y="261"/>
                    <a:pt x="17" y="261"/>
                    <a:pt x="17" y="261"/>
                  </a:cubicBezTo>
                  <a:cubicBezTo>
                    <a:pt x="7" y="261"/>
                    <a:pt x="0" y="253"/>
                    <a:pt x="0" y="244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7" y="0"/>
                    <a:pt x="17" y="0"/>
                  </a:cubicBezTo>
                  <a:close/>
                </a:path>
              </a:pathLst>
            </a:custGeom>
            <a:solidFill>
              <a:srgbClr val="37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21" name="Freeform 433"/>
            <p:cNvSpPr/>
            <p:nvPr/>
          </p:nvSpPr>
          <p:spPr bwMode="auto">
            <a:xfrm>
              <a:off x="4200" y="2968"/>
              <a:ext cx="135" cy="570"/>
            </a:xfrm>
            <a:custGeom>
              <a:avLst/>
              <a:gdLst>
                <a:gd name="T0" fmla="*/ 8 w 57"/>
                <a:gd name="T1" fmla="*/ 0 h 241"/>
                <a:gd name="T2" fmla="*/ 49 w 57"/>
                <a:gd name="T3" fmla="*/ 0 h 241"/>
                <a:gd name="T4" fmla="*/ 57 w 57"/>
                <a:gd name="T5" fmla="*/ 8 h 241"/>
                <a:gd name="T6" fmla="*/ 57 w 57"/>
                <a:gd name="T7" fmla="*/ 233 h 241"/>
                <a:gd name="T8" fmla="*/ 49 w 57"/>
                <a:gd name="T9" fmla="*/ 241 h 241"/>
                <a:gd name="T10" fmla="*/ 8 w 57"/>
                <a:gd name="T11" fmla="*/ 241 h 241"/>
                <a:gd name="T12" fmla="*/ 0 w 57"/>
                <a:gd name="T13" fmla="*/ 233 h 241"/>
                <a:gd name="T14" fmla="*/ 0 w 57"/>
                <a:gd name="T15" fmla="*/ 8 h 241"/>
                <a:gd name="T16" fmla="*/ 8 w 57"/>
                <a:gd name="T17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" h="241">
                  <a:moveTo>
                    <a:pt x="8" y="0"/>
                  </a:moveTo>
                  <a:cubicBezTo>
                    <a:pt x="49" y="0"/>
                    <a:pt x="49" y="0"/>
                    <a:pt x="49" y="0"/>
                  </a:cubicBezTo>
                  <a:cubicBezTo>
                    <a:pt x="54" y="0"/>
                    <a:pt x="57" y="4"/>
                    <a:pt x="57" y="8"/>
                  </a:cubicBezTo>
                  <a:cubicBezTo>
                    <a:pt x="57" y="233"/>
                    <a:pt x="57" y="233"/>
                    <a:pt x="57" y="233"/>
                  </a:cubicBezTo>
                  <a:cubicBezTo>
                    <a:pt x="57" y="238"/>
                    <a:pt x="54" y="241"/>
                    <a:pt x="49" y="241"/>
                  </a:cubicBezTo>
                  <a:cubicBezTo>
                    <a:pt x="8" y="241"/>
                    <a:pt x="8" y="241"/>
                    <a:pt x="8" y="241"/>
                  </a:cubicBezTo>
                  <a:cubicBezTo>
                    <a:pt x="3" y="241"/>
                    <a:pt x="0" y="238"/>
                    <a:pt x="0" y="233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lose/>
                </a:path>
              </a:pathLst>
            </a:custGeom>
            <a:solidFill>
              <a:srgbClr val="222A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22" name="Freeform 434"/>
            <p:cNvSpPr/>
            <p:nvPr/>
          </p:nvSpPr>
          <p:spPr bwMode="auto">
            <a:xfrm>
              <a:off x="4442" y="2698"/>
              <a:ext cx="197" cy="119"/>
            </a:xfrm>
            <a:custGeom>
              <a:avLst/>
              <a:gdLst>
                <a:gd name="T0" fmla="*/ 83 w 83"/>
                <a:gd name="T1" fmla="*/ 37 h 50"/>
                <a:gd name="T2" fmla="*/ 71 w 83"/>
                <a:gd name="T3" fmla="*/ 49 h 50"/>
                <a:gd name="T4" fmla="*/ 58 w 83"/>
                <a:gd name="T5" fmla="*/ 37 h 50"/>
                <a:gd name="T6" fmla="*/ 58 w 83"/>
                <a:gd name="T7" fmla="*/ 30 h 50"/>
                <a:gd name="T8" fmla="*/ 20 w 83"/>
                <a:gd name="T9" fmla="*/ 47 h 50"/>
                <a:gd name="T10" fmla="*/ 3 w 83"/>
                <a:gd name="T11" fmla="*/ 41 h 50"/>
                <a:gd name="T12" fmla="*/ 9 w 83"/>
                <a:gd name="T13" fmla="*/ 25 h 50"/>
                <a:gd name="T14" fmla="*/ 52 w 83"/>
                <a:gd name="T15" fmla="*/ 5 h 50"/>
                <a:gd name="T16" fmla="*/ 53 w 83"/>
                <a:gd name="T17" fmla="*/ 5 h 50"/>
                <a:gd name="T18" fmla="*/ 54 w 83"/>
                <a:gd name="T19" fmla="*/ 4 h 50"/>
                <a:gd name="T20" fmla="*/ 66 w 83"/>
                <a:gd name="T21" fmla="*/ 0 h 50"/>
                <a:gd name="T22" fmla="*/ 83 w 83"/>
                <a:gd name="T23" fmla="*/ 20 h 50"/>
                <a:gd name="T24" fmla="*/ 83 w 83"/>
                <a:gd name="T25" fmla="*/ 3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3" h="50">
                  <a:moveTo>
                    <a:pt x="83" y="37"/>
                  </a:moveTo>
                  <a:cubicBezTo>
                    <a:pt x="83" y="44"/>
                    <a:pt x="77" y="49"/>
                    <a:pt x="71" y="49"/>
                  </a:cubicBezTo>
                  <a:cubicBezTo>
                    <a:pt x="64" y="49"/>
                    <a:pt x="58" y="44"/>
                    <a:pt x="58" y="37"/>
                  </a:cubicBezTo>
                  <a:cubicBezTo>
                    <a:pt x="58" y="30"/>
                    <a:pt x="58" y="30"/>
                    <a:pt x="58" y="30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14" y="50"/>
                    <a:pt x="6" y="48"/>
                    <a:pt x="3" y="41"/>
                  </a:cubicBezTo>
                  <a:cubicBezTo>
                    <a:pt x="0" y="35"/>
                    <a:pt x="3" y="28"/>
                    <a:pt x="9" y="2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2" y="5"/>
                    <a:pt x="53" y="5"/>
                    <a:pt x="53" y="5"/>
                  </a:cubicBezTo>
                  <a:cubicBezTo>
                    <a:pt x="54" y="4"/>
                    <a:pt x="54" y="4"/>
                    <a:pt x="54" y="4"/>
                  </a:cubicBezTo>
                  <a:cubicBezTo>
                    <a:pt x="58" y="2"/>
                    <a:pt x="62" y="0"/>
                    <a:pt x="66" y="0"/>
                  </a:cubicBezTo>
                  <a:cubicBezTo>
                    <a:pt x="76" y="0"/>
                    <a:pt x="83" y="5"/>
                    <a:pt x="83" y="20"/>
                  </a:cubicBezTo>
                  <a:lnTo>
                    <a:pt x="83" y="37"/>
                  </a:lnTo>
                  <a:close/>
                </a:path>
              </a:pathLst>
            </a:custGeom>
            <a:solidFill>
              <a:srgbClr val="222A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23" name="Freeform 435"/>
            <p:cNvSpPr/>
            <p:nvPr/>
          </p:nvSpPr>
          <p:spPr bwMode="auto">
            <a:xfrm>
              <a:off x="4380" y="2587"/>
              <a:ext cx="225" cy="282"/>
            </a:xfrm>
            <a:custGeom>
              <a:avLst/>
              <a:gdLst>
                <a:gd name="T0" fmla="*/ 65 w 95"/>
                <a:gd name="T1" fmla="*/ 1 h 119"/>
                <a:gd name="T2" fmla="*/ 82 w 95"/>
                <a:gd name="T3" fmla="*/ 34 h 119"/>
                <a:gd name="T4" fmla="*/ 72 w 95"/>
                <a:gd name="T5" fmla="*/ 99 h 119"/>
                <a:gd name="T6" fmla="*/ 18 w 95"/>
                <a:gd name="T7" fmla="*/ 106 h 119"/>
                <a:gd name="T8" fmla="*/ 57 w 95"/>
                <a:gd name="T9" fmla="*/ 91 h 119"/>
                <a:gd name="T10" fmla="*/ 35 w 95"/>
                <a:gd name="T11" fmla="*/ 52 h 119"/>
                <a:gd name="T12" fmla="*/ 15 w 95"/>
                <a:gd name="T13" fmla="*/ 94 h 119"/>
                <a:gd name="T14" fmla="*/ 11 w 95"/>
                <a:gd name="T15" fmla="*/ 53 h 119"/>
                <a:gd name="T16" fmla="*/ 25 w 95"/>
                <a:gd name="T17" fmla="*/ 11 h 119"/>
                <a:gd name="T18" fmla="*/ 29 w 95"/>
                <a:gd name="T19" fmla="*/ 5 h 119"/>
                <a:gd name="T20" fmla="*/ 65 w 95"/>
                <a:gd name="T21" fmla="*/ 1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5" h="119">
                  <a:moveTo>
                    <a:pt x="65" y="1"/>
                  </a:moveTo>
                  <a:cubicBezTo>
                    <a:pt x="67" y="15"/>
                    <a:pt x="71" y="18"/>
                    <a:pt x="82" y="34"/>
                  </a:cubicBezTo>
                  <a:cubicBezTo>
                    <a:pt x="93" y="49"/>
                    <a:pt x="95" y="80"/>
                    <a:pt x="72" y="99"/>
                  </a:cubicBezTo>
                  <a:cubicBezTo>
                    <a:pt x="49" y="119"/>
                    <a:pt x="21" y="110"/>
                    <a:pt x="18" y="106"/>
                  </a:cubicBezTo>
                  <a:cubicBezTo>
                    <a:pt x="0" y="86"/>
                    <a:pt x="56" y="92"/>
                    <a:pt x="57" y="91"/>
                  </a:cubicBezTo>
                  <a:cubicBezTo>
                    <a:pt x="64" y="82"/>
                    <a:pt x="34" y="34"/>
                    <a:pt x="35" y="52"/>
                  </a:cubicBezTo>
                  <a:cubicBezTo>
                    <a:pt x="36" y="70"/>
                    <a:pt x="30" y="91"/>
                    <a:pt x="15" y="94"/>
                  </a:cubicBezTo>
                  <a:cubicBezTo>
                    <a:pt x="0" y="97"/>
                    <a:pt x="17" y="67"/>
                    <a:pt x="11" y="53"/>
                  </a:cubicBezTo>
                  <a:cubicBezTo>
                    <a:pt x="5" y="38"/>
                    <a:pt x="13" y="16"/>
                    <a:pt x="25" y="11"/>
                  </a:cubicBezTo>
                  <a:cubicBezTo>
                    <a:pt x="27" y="11"/>
                    <a:pt x="29" y="8"/>
                    <a:pt x="29" y="5"/>
                  </a:cubicBezTo>
                  <a:cubicBezTo>
                    <a:pt x="44" y="1"/>
                    <a:pt x="55" y="0"/>
                    <a:pt x="65" y="1"/>
                  </a:cubicBezTo>
                  <a:close/>
                </a:path>
              </a:pathLst>
            </a:custGeom>
            <a:solidFill>
              <a:srgbClr val="F2AC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24" name="Freeform 436"/>
            <p:cNvSpPr/>
            <p:nvPr/>
          </p:nvSpPr>
          <p:spPr bwMode="auto">
            <a:xfrm>
              <a:off x="4387" y="2660"/>
              <a:ext cx="157" cy="194"/>
            </a:xfrm>
            <a:custGeom>
              <a:avLst/>
              <a:gdLst>
                <a:gd name="T0" fmla="*/ 16 w 66"/>
                <a:gd name="T1" fmla="*/ 72 h 82"/>
                <a:gd name="T2" fmla="*/ 52 w 66"/>
                <a:gd name="T3" fmla="*/ 60 h 82"/>
                <a:gd name="T4" fmla="*/ 32 w 66"/>
                <a:gd name="T5" fmla="*/ 21 h 82"/>
                <a:gd name="T6" fmla="*/ 15 w 66"/>
                <a:gd name="T7" fmla="*/ 62 h 82"/>
                <a:gd name="T8" fmla="*/ 16 w 66"/>
                <a:gd name="T9" fmla="*/ 61 h 82"/>
                <a:gd name="T10" fmla="*/ 27 w 66"/>
                <a:gd name="T11" fmla="*/ 27 h 82"/>
                <a:gd name="T12" fmla="*/ 29 w 66"/>
                <a:gd name="T13" fmla="*/ 0 h 82"/>
                <a:gd name="T14" fmla="*/ 61 w 66"/>
                <a:gd name="T15" fmla="*/ 58 h 82"/>
                <a:gd name="T16" fmla="*/ 47 w 66"/>
                <a:gd name="T17" fmla="*/ 74 h 82"/>
                <a:gd name="T18" fmla="*/ 16 w 66"/>
                <a:gd name="T19" fmla="*/ 7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6" h="82">
                  <a:moveTo>
                    <a:pt x="16" y="72"/>
                  </a:moveTo>
                  <a:cubicBezTo>
                    <a:pt x="0" y="58"/>
                    <a:pt x="51" y="61"/>
                    <a:pt x="52" y="60"/>
                  </a:cubicBezTo>
                  <a:cubicBezTo>
                    <a:pt x="63" y="50"/>
                    <a:pt x="31" y="4"/>
                    <a:pt x="32" y="21"/>
                  </a:cubicBezTo>
                  <a:cubicBezTo>
                    <a:pt x="33" y="38"/>
                    <a:pt x="28" y="57"/>
                    <a:pt x="15" y="62"/>
                  </a:cubicBezTo>
                  <a:cubicBezTo>
                    <a:pt x="16" y="62"/>
                    <a:pt x="16" y="61"/>
                    <a:pt x="16" y="61"/>
                  </a:cubicBezTo>
                  <a:cubicBezTo>
                    <a:pt x="24" y="53"/>
                    <a:pt x="28" y="38"/>
                    <a:pt x="27" y="27"/>
                  </a:cubicBezTo>
                  <a:cubicBezTo>
                    <a:pt x="26" y="16"/>
                    <a:pt x="23" y="1"/>
                    <a:pt x="29" y="0"/>
                  </a:cubicBezTo>
                  <a:cubicBezTo>
                    <a:pt x="40" y="0"/>
                    <a:pt x="53" y="46"/>
                    <a:pt x="61" y="58"/>
                  </a:cubicBezTo>
                  <a:cubicBezTo>
                    <a:pt x="66" y="64"/>
                    <a:pt x="54" y="69"/>
                    <a:pt x="47" y="74"/>
                  </a:cubicBezTo>
                  <a:cubicBezTo>
                    <a:pt x="39" y="80"/>
                    <a:pt x="15" y="82"/>
                    <a:pt x="16" y="72"/>
                  </a:cubicBezTo>
                  <a:close/>
                </a:path>
              </a:pathLst>
            </a:custGeom>
            <a:solidFill>
              <a:srgbClr val="CC8C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25" name="Freeform 437"/>
            <p:cNvSpPr/>
            <p:nvPr/>
          </p:nvSpPr>
          <p:spPr bwMode="auto">
            <a:xfrm>
              <a:off x="4383" y="2736"/>
              <a:ext cx="158" cy="170"/>
            </a:xfrm>
            <a:custGeom>
              <a:avLst/>
              <a:gdLst>
                <a:gd name="T0" fmla="*/ 25 w 67"/>
                <a:gd name="T1" fmla="*/ 60 h 72"/>
                <a:gd name="T2" fmla="*/ 13 w 67"/>
                <a:gd name="T3" fmla="*/ 72 h 72"/>
                <a:gd name="T4" fmla="*/ 0 w 67"/>
                <a:gd name="T5" fmla="*/ 60 h 72"/>
                <a:gd name="T6" fmla="*/ 0 w 67"/>
                <a:gd name="T7" fmla="*/ 44 h 72"/>
                <a:gd name="T8" fmla="*/ 20 w 67"/>
                <a:gd name="T9" fmla="*/ 16 h 72"/>
                <a:gd name="T10" fmla="*/ 20 w 67"/>
                <a:gd name="T11" fmla="*/ 16 h 72"/>
                <a:gd name="T12" fmla="*/ 48 w 67"/>
                <a:gd name="T13" fmla="*/ 3 h 72"/>
                <a:gd name="T14" fmla="*/ 65 w 67"/>
                <a:gd name="T15" fmla="*/ 9 h 72"/>
                <a:gd name="T16" fmla="*/ 59 w 67"/>
                <a:gd name="T17" fmla="*/ 25 h 72"/>
                <a:gd name="T18" fmla="*/ 31 w 67"/>
                <a:gd name="T19" fmla="*/ 38 h 72"/>
                <a:gd name="T20" fmla="*/ 30 w 67"/>
                <a:gd name="T21" fmla="*/ 38 h 72"/>
                <a:gd name="T22" fmla="*/ 25 w 67"/>
                <a:gd name="T23" fmla="*/ 44 h 72"/>
                <a:gd name="T24" fmla="*/ 25 w 67"/>
                <a:gd name="T25" fmla="*/ 6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7" h="72">
                  <a:moveTo>
                    <a:pt x="25" y="60"/>
                  </a:moveTo>
                  <a:cubicBezTo>
                    <a:pt x="25" y="67"/>
                    <a:pt x="20" y="72"/>
                    <a:pt x="13" y="72"/>
                  </a:cubicBezTo>
                  <a:cubicBezTo>
                    <a:pt x="6" y="72"/>
                    <a:pt x="0" y="67"/>
                    <a:pt x="0" y="60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25"/>
                    <a:pt x="10" y="20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54" y="0"/>
                    <a:pt x="62" y="2"/>
                    <a:pt x="65" y="9"/>
                  </a:cubicBezTo>
                  <a:cubicBezTo>
                    <a:pt x="67" y="15"/>
                    <a:pt x="65" y="22"/>
                    <a:pt x="59" y="25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28" y="39"/>
                    <a:pt x="25" y="41"/>
                    <a:pt x="25" y="44"/>
                  </a:cubicBezTo>
                  <a:lnTo>
                    <a:pt x="25" y="60"/>
                  </a:lnTo>
                  <a:close/>
                </a:path>
              </a:pathLst>
            </a:custGeom>
            <a:solidFill>
              <a:srgbClr val="222A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26" name="Freeform 438"/>
            <p:cNvSpPr/>
            <p:nvPr/>
          </p:nvSpPr>
          <p:spPr bwMode="auto">
            <a:xfrm>
              <a:off x="4335" y="2795"/>
              <a:ext cx="460" cy="627"/>
            </a:xfrm>
            <a:custGeom>
              <a:avLst/>
              <a:gdLst>
                <a:gd name="T0" fmla="*/ 21 w 194"/>
                <a:gd name="T1" fmla="*/ 78 h 265"/>
                <a:gd name="T2" fmla="*/ 173 w 194"/>
                <a:gd name="T3" fmla="*/ 5 h 265"/>
                <a:gd name="T4" fmla="*/ 194 w 194"/>
                <a:gd name="T5" fmla="*/ 21 h 265"/>
                <a:gd name="T6" fmla="*/ 194 w 194"/>
                <a:gd name="T7" fmla="*/ 152 h 265"/>
                <a:gd name="T8" fmla="*/ 173 w 194"/>
                <a:gd name="T9" fmla="*/ 187 h 265"/>
                <a:gd name="T10" fmla="*/ 21 w 194"/>
                <a:gd name="T11" fmla="*/ 260 h 265"/>
                <a:gd name="T12" fmla="*/ 0 w 194"/>
                <a:gd name="T13" fmla="*/ 244 h 265"/>
                <a:gd name="T14" fmla="*/ 0 w 194"/>
                <a:gd name="T15" fmla="*/ 113 h 265"/>
                <a:gd name="T16" fmla="*/ 21 w 194"/>
                <a:gd name="T17" fmla="*/ 78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4" h="265">
                  <a:moveTo>
                    <a:pt x="21" y="78"/>
                  </a:moveTo>
                  <a:cubicBezTo>
                    <a:pt x="173" y="5"/>
                    <a:pt x="173" y="5"/>
                    <a:pt x="173" y="5"/>
                  </a:cubicBezTo>
                  <a:cubicBezTo>
                    <a:pt x="184" y="0"/>
                    <a:pt x="194" y="7"/>
                    <a:pt x="194" y="21"/>
                  </a:cubicBezTo>
                  <a:cubicBezTo>
                    <a:pt x="194" y="152"/>
                    <a:pt x="194" y="152"/>
                    <a:pt x="194" y="152"/>
                  </a:cubicBezTo>
                  <a:cubicBezTo>
                    <a:pt x="194" y="166"/>
                    <a:pt x="184" y="182"/>
                    <a:pt x="173" y="187"/>
                  </a:cubicBezTo>
                  <a:cubicBezTo>
                    <a:pt x="21" y="260"/>
                    <a:pt x="21" y="260"/>
                    <a:pt x="21" y="260"/>
                  </a:cubicBezTo>
                  <a:cubicBezTo>
                    <a:pt x="10" y="265"/>
                    <a:pt x="0" y="258"/>
                    <a:pt x="0" y="244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0" y="99"/>
                    <a:pt x="10" y="83"/>
                    <a:pt x="21" y="78"/>
                  </a:cubicBezTo>
                  <a:close/>
                </a:path>
              </a:pathLst>
            </a:custGeom>
            <a:solidFill>
              <a:srgbClr val="222A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27" name="Freeform 439"/>
            <p:cNvSpPr/>
            <p:nvPr/>
          </p:nvSpPr>
          <p:spPr bwMode="auto">
            <a:xfrm>
              <a:off x="4333" y="2795"/>
              <a:ext cx="486" cy="585"/>
            </a:xfrm>
            <a:custGeom>
              <a:avLst/>
              <a:gdLst>
                <a:gd name="T0" fmla="*/ 22 w 205"/>
                <a:gd name="T1" fmla="*/ 78 h 247"/>
                <a:gd name="T2" fmla="*/ 174 w 205"/>
                <a:gd name="T3" fmla="*/ 5 h 247"/>
                <a:gd name="T4" fmla="*/ 195 w 205"/>
                <a:gd name="T5" fmla="*/ 21 h 247"/>
                <a:gd name="T6" fmla="*/ 204 w 205"/>
                <a:gd name="T7" fmla="*/ 134 h 247"/>
                <a:gd name="T8" fmla="*/ 183 w 205"/>
                <a:gd name="T9" fmla="*/ 169 h 247"/>
                <a:gd name="T10" fmla="*/ 31 w 205"/>
                <a:gd name="T11" fmla="*/ 242 h 247"/>
                <a:gd name="T12" fmla="*/ 10 w 205"/>
                <a:gd name="T13" fmla="*/ 226 h 247"/>
                <a:gd name="T14" fmla="*/ 1 w 205"/>
                <a:gd name="T15" fmla="*/ 113 h 247"/>
                <a:gd name="T16" fmla="*/ 22 w 205"/>
                <a:gd name="T17" fmla="*/ 7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5" h="247">
                  <a:moveTo>
                    <a:pt x="22" y="78"/>
                  </a:moveTo>
                  <a:cubicBezTo>
                    <a:pt x="174" y="5"/>
                    <a:pt x="174" y="5"/>
                    <a:pt x="174" y="5"/>
                  </a:cubicBezTo>
                  <a:cubicBezTo>
                    <a:pt x="185" y="0"/>
                    <a:pt x="194" y="7"/>
                    <a:pt x="195" y="21"/>
                  </a:cubicBezTo>
                  <a:cubicBezTo>
                    <a:pt x="204" y="134"/>
                    <a:pt x="204" y="134"/>
                    <a:pt x="204" y="134"/>
                  </a:cubicBezTo>
                  <a:cubicBezTo>
                    <a:pt x="205" y="148"/>
                    <a:pt x="194" y="164"/>
                    <a:pt x="183" y="169"/>
                  </a:cubicBezTo>
                  <a:cubicBezTo>
                    <a:pt x="31" y="242"/>
                    <a:pt x="31" y="242"/>
                    <a:pt x="31" y="242"/>
                  </a:cubicBezTo>
                  <a:cubicBezTo>
                    <a:pt x="20" y="247"/>
                    <a:pt x="11" y="240"/>
                    <a:pt x="10" y="226"/>
                  </a:cubicBezTo>
                  <a:cubicBezTo>
                    <a:pt x="1" y="113"/>
                    <a:pt x="1" y="113"/>
                    <a:pt x="1" y="113"/>
                  </a:cubicBezTo>
                  <a:cubicBezTo>
                    <a:pt x="0" y="99"/>
                    <a:pt x="11" y="83"/>
                    <a:pt x="22" y="78"/>
                  </a:cubicBezTo>
                  <a:close/>
                </a:path>
              </a:pathLst>
            </a:custGeom>
            <a:solidFill>
              <a:srgbClr val="37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28" name="Freeform 440"/>
            <p:cNvSpPr/>
            <p:nvPr/>
          </p:nvSpPr>
          <p:spPr bwMode="auto">
            <a:xfrm>
              <a:off x="4579" y="3219"/>
              <a:ext cx="48" cy="127"/>
            </a:xfrm>
            <a:custGeom>
              <a:avLst/>
              <a:gdLst>
                <a:gd name="T0" fmla="*/ 4 w 20"/>
                <a:gd name="T1" fmla="*/ 6 h 54"/>
                <a:gd name="T2" fmla="*/ 15 w 20"/>
                <a:gd name="T3" fmla="*/ 1 h 54"/>
                <a:gd name="T4" fmla="*/ 20 w 20"/>
                <a:gd name="T5" fmla="*/ 4 h 54"/>
                <a:gd name="T6" fmla="*/ 20 w 20"/>
                <a:gd name="T7" fmla="*/ 39 h 54"/>
                <a:gd name="T8" fmla="*/ 15 w 20"/>
                <a:gd name="T9" fmla="*/ 47 h 54"/>
                <a:gd name="T10" fmla="*/ 4 w 20"/>
                <a:gd name="T11" fmla="*/ 53 h 54"/>
                <a:gd name="T12" fmla="*/ 0 w 20"/>
                <a:gd name="T13" fmla="*/ 49 h 54"/>
                <a:gd name="T14" fmla="*/ 0 w 20"/>
                <a:gd name="T15" fmla="*/ 14 h 54"/>
                <a:gd name="T16" fmla="*/ 4 w 20"/>
                <a:gd name="T17" fmla="*/ 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" h="54">
                  <a:moveTo>
                    <a:pt x="4" y="6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8" y="0"/>
                    <a:pt x="20" y="1"/>
                    <a:pt x="20" y="4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2"/>
                    <a:pt x="18" y="46"/>
                    <a:pt x="15" y="47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2" y="54"/>
                    <a:pt x="0" y="53"/>
                    <a:pt x="0" y="49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1"/>
                    <a:pt x="2" y="8"/>
                    <a:pt x="4" y="6"/>
                  </a:cubicBezTo>
                  <a:close/>
                </a:path>
              </a:pathLst>
            </a:custGeom>
            <a:solidFill>
              <a:srgbClr val="727F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29" name="Freeform 441"/>
            <p:cNvSpPr/>
            <p:nvPr/>
          </p:nvSpPr>
          <p:spPr bwMode="auto">
            <a:xfrm>
              <a:off x="4402" y="2019"/>
              <a:ext cx="139" cy="589"/>
            </a:xfrm>
            <a:custGeom>
              <a:avLst/>
              <a:gdLst>
                <a:gd name="T0" fmla="*/ 52 w 59"/>
                <a:gd name="T1" fmla="*/ 43 h 249"/>
                <a:gd name="T2" fmla="*/ 59 w 59"/>
                <a:gd name="T3" fmla="*/ 248 h 249"/>
                <a:gd name="T4" fmla="*/ 7 w 59"/>
                <a:gd name="T5" fmla="*/ 249 h 249"/>
                <a:gd name="T6" fmla="*/ 2 w 59"/>
                <a:gd name="T7" fmla="*/ 66 h 249"/>
                <a:gd name="T8" fmla="*/ 52 w 59"/>
                <a:gd name="T9" fmla="*/ 43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249">
                  <a:moveTo>
                    <a:pt x="52" y="43"/>
                  </a:moveTo>
                  <a:cubicBezTo>
                    <a:pt x="53" y="76"/>
                    <a:pt x="59" y="248"/>
                    <a:pt x="59" y="248"/>
                  </a:cubicBezTo>
                  <a:cubicBezTo>
                    <a:pt x="7" y="249"/>
                    <a:pt x="7" y="249"/>
                    <a:pt x="7" y="249"/>
                  </a:cubicBezTo>
                  <a:cubicBezTo>
                    <a:pt x="7" y="249"/>
                    <a:pt x="4" y="103"/>
                    <a:pt x="2" y="66"/>
                  </a:cubicBezTo>
                  <a:cubicBezTo>
                    <a:pt x="0" y="0"/>
                    <a:pt x="49" y="0"/>
                    <a:pt x="52" y="43"/>
                  </a:cubicBezTo>
                  <a:close/>
                </a:path>
              </a:pathLst>
            </a:custGeom>
            <a:solidFill>
              <a:srgbClr val="B6C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30" name="Oval 442"/>
            <p:cNvSpPr>
              <a:spLocks noChangeArrowheads="1"/>
            </p:cNvSpPr>
            <p:nvPr/>
          </p:nvSpPr>
          <p:spPr bwMode="auto">
            <a:xfrm>
              <a:off x="4117" y="491"/>
              <a:ext cx="93" cy="133"/>
            </a:xfrm>
            <a:prstGeom prst="ellipse">
              <a:avLst/>
            </a:prstGeom>
            <a:solidFill>
              <a:srgbClr val="222A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31" name="Oval 443"/>
            <p:cNvSpPr>
              <a:spLocks noChangeArrowheads="1"/>
            </p:cNvSpPr>
            <p:nvPr/>
          </p:nvSpPr>
          <p:spPr bwMode="auto">
            <a:xfrm>
              <a:off x="4158" y="505"/>
              <a:ext cx="40" cy="5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32" name="Freeform 444"/>
            <p:cNvSpPr/>
            <p:nvPr/>
          </p:nvSpPr>
          <p:spPr bwMode="auto">
            <a:xfrm>
              <a:off x="4060" y="418"/>
              <a:ext cx="228" cy="54"/>
            </a:xfrm>
            <a:custGeom>
              <a:avLst/>
              <a:gdLst>
                <a:gd name="T0" fmla="*/ 17 w 96"/>
                <a:gd name="T1" fmla="*/ 21 h 23"/>
                <a:gd name="T2" fmla="*/ 73 w 96"/>
                <a:gd name="T3" fmla="*/ 18 h 23"/>
                <a:gd name="T4" fmla="*/ 75 w 96"/>
                <a:gd name="T5" fmla="*/ 9 h 23"/>
                <a:gd name="T6" fmla="*/ 18 w 96"/>
                <a:gd name="T7" fmla="*/ 1 h 23"/>
                <a:gd name="T8" fmla="*/ 17 w 96"/>
                <a:gd name="T9" fmla="*/ 2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23">
                  <a:moveTo>
                    <a:pt x="17" y="21"/>
                  </a:moveTo>
                  <a:cubicBezTo>
                    <a:pt x="34" y="20"/>
                    <a:pt x="55" y="15"/>
                    <a:pt x="73" y="18"/>
                  </a:cubicBezTo>
                  <a:cubicBezTo>
                    <a:pt x="91" y="22"/>
                    <a:pt x="96" y="17"/>
                    <a:pt x="75" y="9"/>
                  </a:cubicBezTo>
                  <a:cubicBezTo>
                    <a:pt x="56" y="2"/>
                    <a:pt x="38" y="0"/>
                    <a:pt x="18" y="1"/>
                  </a:cubicBezTo>
                  <a:cubicBezTo>
                    <a:pt x="0" y="2"/>
                    <a:pt x="2" y="23"/>
                    <a:pt x="17" y="21"/>
                  </a:cubicBezTo>
                  <a:close/>
                </a:path>
              </a:pathLst>
            </a:custGeom>
            <a:solidFill>
              <a:srgbClr val="7D45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33" name="Oval 445"/>
            <p:cNvSpPr>
              <a:spLocks noChangeArrowheads="1"/>
            </p:cNvSpPr>
            <p:nvPr/>
          </p:nvSpPr>
          <p:spPr bwMode="auto">
            <a:xfrm>
              <a:off x="3729" y="491"/>
              <a:ext cx="92" cy="133"/>
            </a:xfrm>
            <a:prstGeom prst="ellipse">
              <a:avLst/>
            </a:prstGeom>
            <a:solidFill>
              <a:srgbClr val="222A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34" name="Oval 446"/>
            <p:cNvSpPr>
              <a:spLocks noChangeArrowheads="1"/>
            </p:cNvSpPr>
            <p:nvPr/>
          </p:nvSpPr>
          <p:spPr bwMode="auto">
            <a:xfrm>
              <a:off x="3769" y="505"/>
              <a:ext cx="40" cy="5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35" name="Freeform 447"/>
            <p:cNvSpPr/>
            <p:nvPr/>
          </p:nvSpPr>
          <p:spPr bwMode="auto">
            <a:xfrm>
              <a:off x="3650" y="418"/>
              <a:ext cx="228" cy="54"/>
            </a:xfrm>
            <a:custGeom>
              <a:avLst/>
              <a:gdLst>
                <a:gd name="T0" fmla="*/ 79 w 96"/>
                <a:gd name="T1" fmla="*/ 21 h 23"/>
                <a:gd name="T2" fmla="*/ 23 w 96"/>
                <a:gd name="T3" fmla="*/ 18 h 23"/>
                <a:gd name="T4" fmla="*/ 21 w 96"/>
                <a:gd name="T5" fmla="*/ 9 h 23"/>
                <a:gd name="T6" fmla="*/ 78 w 96"/>
                <a:gd name="T7" fmla="*/ 1 h 23"/>
                <a:gd name="T8" fmla="*/ 79 w 96"/>
                <a:gd name="T9" fmla="*/ 2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23">
                  <a:moveTo>
                    <a:pt x="79" y="21"/>
                  </a:moveTo>
                  <a:cubicBezTo>
                    <a:pt x="62" y="20"/>
                    <a:pt x="41" y="15"/>
                    <a:pt x="23" y="18"/>
                  </a:cubicBezTo>
                  <a:cubicBezTo>
                    <a:pt x="5" y="22"/>
                    <a:pt x="0" y="17"/>
                    <a:pt x="21" y="9"/>
                  </a:cubicBezTo>
                  <a:cubicBezTo>
                    <a:pt x="40" y="2"/>
                    <a:pt x="58" y="0"/>
                    <a:pt x="78" y="1"/>
                  </a:cubicBezTo>
                  <a:cubicBezTo>
                    <a:pt x="96" y="2"/>
                    <a:pt x="94" y="23"/>
                    <a:pt x="79" y="21"/>
                  </a:cubicBezTo>
                  <a:close/>
                </a:path>
              </a:pathLst>
            </a:custGeom>
            <a:solidFill>
              <a:srgbClr val="7D45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36" name="Freeform 448"/>
            <p:cNvSpPr/>
            <p:nvPr/>
          </p:nvSpPr>
          <p:spPr bwMode="auto">
            <a:xfrm>
              <a:off x="3764" y="1217"/>
              <a:ext cx="206" cy="171"/>
            </a:xfrm>
            <a:custGeom>
              <a:avLst/>
              <a:gdLst>
                <a:gd name="T0" fmla="*/ 90 w 206"/>
                <a:gd name="T1" fmla="*/ 0 h 171"/>
                <a:gd name="T2" fmla="*/ 206 w 206"/>
                <a:gd name="T3" fmla="*/ 95 h 171"/>
                <a:gd name="T4" fmla="*/ 116 w 206"/>
                <a:gd name="T5" fmla="*/ 171 h 171"/>
                <a:gd name="T6" fmla="*/ 0 w 206"/>
                <a:gd name="T7" fmla="*/ 57 h 171"/>
                <a:gd name="T8" fmla="*/ 90 w 206"/>
                <a:gd name="T9" fmla="*/ 0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6" h="171">
                  <a:moveTo>
                    <a:pt x="90" y="0"/>
                  </a:moveTo>
                  <a:lnTo>
                    <a:pt x="206" y="95"/>
                  </a:lnTo>
                  <a:lnTo>
                    <a:pt x="116" y="171"/>
                  </a:lnTo>
                  <a:lnTo>
                    <a:pt x="0" y="57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8DA4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37" name="Freeform 449"/>
            <p:cNvSpPr/>
            <p:nvPr/>
          </p:nvSpPr>
          <p:spPr bwMode="auto">
            <a:xfrm>
              <a:off x="3970" y="1217"/>
              <a:ext cx="209" cy="171"/>
            </a:xfrm>
            <a:custGeom>
              <a:avLst/>
              <a:gdLst>
                <a:gd name="T0" fmla="*/ 119 w 209"/>
                <a:gd name="T1" fmla="*/ 0 h 171"/>
                <a:gd name="T2" fmla="*/ 0 w 209"/>
                <a:gd name="T3" fmla="*/ 95 h 171"/>
                <a:gd name="T4" fmla="*/ 105 w 209"/>
                <a:gd name="T5" fmla="*/ 171 h 171"/>
                <a:gd name="T6" fmla="*/ 209 w 209"/>
                <a:gd name="T7" fmla="*/ 57 h 171"/>
                <a:gd name="T8" fmla="*/ 119 w 209"/>
                <a:gd name="T9" fmla="*/ 0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9" h="171">
                  <a:moveTo>
                    <a:pt x="119" y="0"/>
                  </a:moveTo>
                  <a:lnTo>
                    <a:pt x="0" y="95"/>
                  </a:lnTo>
                  <a:lnTo>
                    <a:pt x="105" y="171"/>
                  </a:lnTo>
                  <a:lnTo>
                    <a:pt x="209" y="5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8DA4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38" name="Freeform 450"/>
            <p:cNvSpPr/>
            <p:nvPr/>
          </p:nvSpPr>
          <p:spPr bwMode="auto">
            <a:xfrm>
              <a:off x="3868" y="1310"/>
              <a:ext cx="197" cy="1040"/>
            </a:xfrm>
            <a:custGeom>
              <a:avLst/>
              <a:gdLst>
                <a:gd name="T0" fmla="*/ 9 w 83"/>
                <a:gd name="T1" fmla="*/ 20 h 440"/>
                <a:gd name="T2" fmla="*/ 30 w 83"/>
                <a:gd name="T3" fmla="*/ 57 h 440"/>
                <a:gd name="T4" fmla="*/ 0 w 83"/>
                <a:gd name="T5" fmla="*/ 395 h 440"/>
                <a:gd name="T6" fmla="*/ 45 w 83"/>
                <a:gd name="T7" fmla="*/ 440 h 440"/>
                <a:gd name="T8" fmla="*/ 83 w 83"/>
                <a:gd name="T9" fmla="*/ 388 h 440"/>
                <a:gd name="T10" fmla="*/ 61 w 83"/>
                <a:gd name="T11" fmla="*/ 59 h 440"/>
                <a:gd name="T12" fmla="*/ 82 w 83"/>
                <a:gd name="T13" fmla="*/ 19 h 440"/>
                <a:gd name="T14" fmla="*/ 65 w 83"/>
                <a:gd name="T15" fmla="*/ 0 h 440"/>
                <a:gd name="T16" fmla="*/ 27 w 83"/>
                <a:gd name="T17" fmla="*/ 2 h 440"/>
                <a:gd name="T18" fmla="*/ 9 w 83"/>
                <a:gd name="T19" fmla="*/ 20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" h="440">
                  <a:moveTo>
                    <a:pt x="9" y="20"/>
                  </a:moveTo>
                  <a:cubicBezTo>
                    <a:pt x="30" y="57"/>
                    <a:pt x="30" y="57"/>
                    <a:pt x="30" y="57"/>
                  </a:cubicBezTo>
                  <a:cubicBezTo>
                    <a:pt x="12" y="174"/>
                    <a:pt x="4" y="278"/>
                    <a:pt x="0" y="395"/>
                  </a:cubicBezTo>
                  <a:cubicBezTo>
                    <a:pt x="45" y="440"/>
                    <a:pt x="45" y="440"/>
                    <a:pt x="45" y="440"/>
                  </a:cubicBezTo>
                  <a:cubicBezTo>
                    <a:pt x="83" y="388"/>
                    <a:pt x="83" y="388"/>
                    <a:pt x="83" y="388"/>
                  </a:cubicBezTo>
                  <a:cubicBezTo>
                    <a:pt x="68" y="275"/>
                    <a:pt x="66" y="172"/>
                    <a:pt x="61" y="5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27" y="2"/>
                    <a:pt x="27" y="2"/>
                    <a:pt x="27" y="2"/>
                  </a:cubicBezTo>
                  <a:lnTo>
                    <a:pt x="9" y="20"/>
                  </a:lnTo>
                  <a:close/>
                </a:path>
              </a:pathLst>
            </a:custGeom>
            <a:solidFill>
              <a:srgbClr val="AE2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39" name="Freeform 451"/>
            <p:cNvSpPr/>
            <p:nvPr/>
          </p:nvSpPr>
          <p:spPr bwMode="auto">
            <a:xfrm>
              <a:off x="3397" y="-221"/>
              <a:ext cx="1159" cy="1005"/>
            </a:xfrm>
            <a:custGeom>
              <a:avLst/>
              <a:gdLst>
                <a:gd name="T0" fmla="*/ 34 w 489"/>
                <a:gd name="T1" fmla="*/ 336 h 425"/>
                <a:gd name="T2" fmla="*/ 23 w 489"/>
                <a:gd name="T3" fmla="*/ 120 h 425"/>
                <a:gd name="T4" fmla="*/ 53 w 489"/>
                <a:gd name="T5" fmla="*/ 84 h 425"/>
                <a:gd name="T6" fmla="*/ 156 w 489"/>
                <a:gd name="T7" fmla="*/ 0 h 425"/>
                <a:gd name="T8" fmla="*/ 395 w 489"/>
                <a:gd name="T9" fmla="*/ 53 h 425"/>
                <a:gd name="T10" fmla="*/ 458 w 489"/>
                <a:gd name="T11" fmla="*/ 55 h 425"/>
                <a:gd name="T12" fmla="*/ 462 w 489"/>
                <a:gd name="T13" fmla="*/ 104 h 425"/>
                <a:gd name="T14" fmla="*/ 453 w 489"/>
                <a:gd name="T15" fmla="*/ 281 h 425"/>
                <a:gd name="T16" fmla="*/ 421 w 489"/>
                <a:gd name="T17" fmla="*/ 301 h 425"/>
                <a:gd name="T18" fmla="*/ 347 w 489"/>
                <a:gd name="T19" fmla="*/ 165 h 425"/>
                <a:gd name="T20" fmla="*/ 150 w 489"/>
                <a:gd name="T21" fmla="*/ 164 h 425"/>
                <a:gd name="T22" fmla="*/ 58 w 489"/>
                <a:gd name="T23" fmla="*/ 337 h 425"/>
                <a:gd name="T24" fmla="*/ 34 w 489"/>
                <a:gd name="T25" fmla="*/ 336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9" h="425">
                  <a:moveTo>
                    <a:pt x="34" y="336"/>
                  </a:moveTo>
                  <a:cubicBezTo>
                    <a:pt x="25" y="287"/>
                    <a:pt x="0" y="131"/>
                    <a:pt x="23" y="120"/>
                  </a:cubicBezTo>
                  <a:cubicBezTo>
                    <a:pt x="46" y="108"/>
                    <a:pt x="69" y="103"/>
                    <a:pt x="53" y="84"/>
                  </a:cubicBezTo>
                  <a:cubicBezTo>
                    <a:pt x="38" y="65"/>
                    <a:pt x="80" y="0"/>
                    <a:pt x="156" y="0"/>
                  </a:cubicBezTo>
                  <a:cubicBezTo>
                    <a:pt x="232" y="0"/>
                    <a:pt x="344" y="40"/>
                    <a:pt x="395" y="53"/>
                  </a:cubicBezTo>
                  <a:cubicBezTo>
                    <a:pt x="446" y="66"/>
                    <a:pt x="443" y="63"/>
                    <a:pt x="458" y="55"/>
                  </a:cubicBezTo>
                  <a:cubicBezTo>
                    <a:pt x="473" y="48"/>
                    <a:pt x="435" y="104"/>
                    <a:pt x="462" y="104"/>
                  </a:cubicBezTo>
                  <a:cubicBezTo>
                    <a:pt x="489" y="104"/>
                    <a:pt x="464" y="193"/>
                    <a:pt x="453" y="281"/>
                  </a:cubicBezTo>
                  <a:cubicBezTo>
                    <a:pt x="441" y="369"/>
                    <a:pt x="429" y="425"/>
                    <a:pt x="421" y="301"/>
                  </a:cubicBezTo>
                  <a:cubicBezTo>
                    <a:pt x="413" y="181"/>
                    <a:pt x="400" y="135"/>
                    <a:pt x="347" y="165"/>
                  </a:cubicBezTo>
                  <a:cubicBezTo>
                    <a:pt x="280" y="204"/>
                    <a:pt x="250" y="205"/>
                    <a:pt x="150" y="164"/>
                  </a:cubicBezTo>
                  <a:cubicBezTo>
                    <a:pt x="64" y="129"/>
                    <a:pt x="63" y="269"/>
                    <a:pt x="58" y="337"/>
                  </a:cubicBezTo>
                  <a:cubicBezTo>
                    <a:pt x="52" y="404"/>
                    <a:pt x="42" y="377"/>
                    <a:pt x="34" y="336"/>
                  </a:cubicBezTo>
                  <a:close/>
                </a:path>
              </a:pathLst>
            </a:custGeom>
            <a:solidFill>
              <a:srgbClr val="7D45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40" name="Freeform 452"/>
            <p:cNvSpPr/>
            <p:nvPr/>
          </p:nvSpPr>
          <p:spPr bwMode="auto">
            <a:xfrm>
              <a:off x="4494" y="2694"/>
              <a:ext cx="66" cy="111"/>
            </a:xfrm>
            <a:custGeom>
              <a:avLst/>
              <a:gdLst>
                <a:gd name="T0" fmla="*/ 7 w 28"/>
                <a:gd name="T1" fmla="*/ 46 h 47"/>
                <a:gd name="T2" fmla="*/ 9 w 28"/>
                <a:gd name="T3" fmla="*/ 46 h 47"/>
                <a:gd name="T4" fmla="*/ 0 w 28"/>
                <a:gd name="T5" fmla="*/ 15 h 47"/>
                <a:gd name="T6" fmla="*/ 15 w 28"/>
                <a:gd name="T7" fmla="*/ 0 h 47"/>
                <a:gd name="T8" fmla="*/ 28 w 28"/>
                <a:gd name="T9" fmla="*/ 38 h 47"/>
                <a:gd name="T10" fmla="*/ 8 w 28"/>
                <a:gd name="T11" fmla="*/ 47 h 47"/>
                <a:gd name="T12" fmla="*/ 7 w 28"/>
                <a:gd name="T13" fmla="*/ 4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47">
                  <a:moveTo>
                    <a:pt x="7" y="46"/>
                  </a:moveTo>
                  <a:cubicBezTo>
                    <a:pt x="9" y="46"/>
                    <a:pt x="9" y="46"/>
                    <a:pt x="9" y="46"/>
                  </a:cubicBezTo>
                  <a:cubicBezTo>
                    <a:pt x="13" y="41"/>
                    <a:pt x="6" y="26"/>
                    <a:pt x="0" y="15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8" y="47"/>
                    <a:pt x="8" y="47"/>
                    <a:pt x="8" y="47"/>
                  </a:cubicBezTo>
                  <a:lnTo>
                    <a:pt x="7" y="46"/>
                  </a:lnTo>
                  <a:close/>
                </a:path>
              </a:pathLst>
            </a:custGeom>
            <a:solidFill>
              <a:srgbClr val="F2AC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41" name="Freeform 453"/>
            <p:cNvSpPr/>
            <p:nvPr/>
          </p:nvSpPr>
          <p:spPr bwMode="auto">
            <a:xfrm>
              <a:off x="4494" y="2724"/>
              <a:ext cx="38" cy="81"/>
            </a:xfrm>
            <a:custGeom>
              <a:avLst/>
              <a:gdLst>
                <a:gd name="T0" fmla="*/ 7 w 16"/>
                <a:gd name="T1" fmla="*/ 33 h 34"/>
                <a:gd name="T2" fmla="*/ 0 w 16"/>
                <a:gd name="T3" fmla="*/ 2 h 34"/>
                <a:gd name="T4" fmla="*/ 2 w 16"/>
                <a:gd name="T5" fmla="*/ 0 h 34"/>
                <a:gd name="T6" fmla="*/ 16 w 16"/>
                <a:gd name="T7" fmla="*/ 30 h 34"/>
                <a:gd name="T8" fmla="*/ 8 w 16"/>
                <a:gd name="T9" fmla="*/ 34 h 34"/>
                <a:gd name="T10" fmla="*/ 7 w 16"/>
                <a:gd name="T11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34">
                  <a:moveTo>
                    <a:pt x="7" y="33"/>
                  </a:moveTo>
                  <a:cubicBezTo>
                    <a:pt x="12" y="27"/>
                    <a:pt x="7" y="13"/>
                    <a:pt x="0" y="2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7" y="12"/>
                    <a:pt x="12" y="24"/>
                    <a:pt x="16" y="30"/>
                  </a:cubicBezTo>
                  <a:cubicBezTo>
                    <a:pt x="8" y="34"/>
                    <a:pt x="8" y="34"/>
                    <a:pt x="8" y="34"/>
                  </a:cubicBezTo>
                  <a:lnTo>
                    <a:pt x="7" y="33"/>
                  </a:lnTo>
                  <a:close/>
                </a:path>
              </a:pathLst>
            </a:custGeom>
            <a:solidFill>
              <a:srgbClr val="CC8C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42" name="Freeform 454"/>
            <p:cNvSpPr/>
            <p:nvPr/>
          </p:nvSpPr>
          <p:spPr bwMode="auto">
            <a:xfrm>
              <a:off x="4283" y="1343"/>
              <a:ext cx="147" cy="835"/>
            </a:xfrm>
            <a:custGeom>
              <a:avLst/>
              <a:gdLst>
                <a:gd name="T0" fmla="*/ 0 w 62"/>
                <a:gd name="T1" fmla="*/ 167 h 353"/>
                <a:gd name="T2" fmla="*/ 2 w 62"/>
                <a:gd name="T3" fmla="*/ 103 h 353"/>
                <a:gd name="T4" fmla="*/ 18 w 62"/>
                <a:gd name="T5" fmla="*/ 38 h 353"/>
                <a:gd name="T6" fmla="*/ 17 w 62"/>
                <a:gd name="T7" fmla="*/ 198 h 353"/>
                <a:gd name="T8" fmla="*/ 49 w 62"/>
                <a:gd name="T9" fmla="*/ 310 h 353"/>
                <a:gd name="T10" fmla="*/ 62 w 62"/>
                <a:gd name="T11" fmla="*/ 353 h 353"/>
                <a:gd name="T12" fmla="*/ 55 w 62"/>
                <a:gd name="T13" fmla="*/ 345 h 353"/>
                <a:gd name="T14" fmla="*/ 0 w 62"/>
                <a:gd name="T15" fmla="*/ 167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353">
                  <a:moveTo>
                    <a:pt x="0" y="167"/>
                  </a:moveTo>
                  <a:cubicBezTo>
                    <a:pt x="0" y="142"/>
                    <a:pt x="1" y="120"/>
                    <a:pt x="2" y="103"/>
                  </a:cubicBezTo>
                  <a:cubicBezTo>
                    <a:pt x="3" y="60"/>
                    <a:pt x="26" y="0"/>
                    <a:pt x="18" y="38"/>
                  </a:cubicBezTo>
                  <a:cubicBezTo>
                    <a:pt x="11" y="76"/>
                    <a:pt x="15" y="173"/>
                    <a:pt x="17" y="198"/>
                  </a:cubicBezTo>
                  <a:cubicBezTo>
                    <a:pt x="19" y="222"/>
                    <a:pt x="38" y="282"/>
                    <a:pt x="49" y="310"/>
                  </a:cubicBezTo>
                  <a:cubicBezTo>
                    <a:pt x="58" y="329"/>
                    <a:pt x="61" y="338"/>
                    <a:pt x="62" y="353"/>
                  </a:cubicBezTo>
                  <a:cubicBezTo>
                    <a:pt x="60" y="351"/>
                    <a:pt x="57" y="349"/>
                    <a:pt x="55" y="345"/>
                  </a:cubicBezTo>
                  <a:cubicBezTo>
                    <a:pt x="40" y="322"/>
                    <a:pt x="17" y="227"/>
                    <a:pt x="0" y="167"/>
                  </a:cubicBezTo>
                  <a:close/>
                </a:path>
              </a:pathLst>
            </a:custGeom>
            <a:solidFill>
              <a:srgbClr val="8DA4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43" name="Freeform 455"/>
            <p:cNvSpPr/>
            <p:nvPr/>
          </p:nvSpPr>
          <p:spPr bwMode="auto">
            <a:xfrm>
              <a:off x="4406" y="2109"/>
              <a:ext cx="135" cy="499"/>
            </a:xfrm>
            <a:custGeom>
              <a:avLst/>
              <a:gdLst>
                <a:gd name="T0" fmla="*/ 57 w 57"/>
                <a:gd name="T1" fmla="*/ 205 h 211"/>
                <a:gd name="T2" fmla="*/ 57 w 57"/>
                <a:gd name="T3" fmla="*/ 210 h 211"/>
                <a:gd name="T4" fmla="*/ 5 w 57"/>
                <a:gd name="T5" fmla="*/ 211 h 211"/>
                <a:gd name="T6" fmla="*/ 0 w 57"/>
                <a:gd name="T7" fmla="*/ 28 h 211"/>
                <a:gd name="T8" fmla="*/ 3 w 57"/>
                <a:gd name="T9" fmla="*/ 0 h 211"/>
                <a:gd name="T10" fmla="*/ 10 w 57"/>
                <a:gd name="T11" fmla="*/ 51 h 211"/>
                <a:gd name="T12" fmla="*/ 16 w 57"/>
                <a:gd name="T13" fmla="*/ 191 h 211"/>
                <a:gd name="T14" fmla="*/ 38 w 57"/>
                <a:gd name="T15" fmla="*/ 205 h 211"/>
                <a:gd name="T16" fmla="*/ 57 w 57"/>
                <a:gd name="T17" fmla="*/ 205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" h="211">
                  <a:moveTo>
                    <a:pt x="57" y="205"/>
                  </a:moveTo>
                  <a:cubicBezTo>
                    <a:pt x="57" y="210"/>
                    <a:pt x="57" y="210"/>
                    <a:pt x="57" y="210"/>
                  </a:cubicBezTo>
                  <a:cubicBezTo>
                    <a:pt x="5" y="211"/>
                    <a:pt x="5" y="211"/>
                    <a:pt x="5" y="211"/>
                  </a:cubicBezTo>
                  <a:cubicBezTo>
                    <a:pt x="5" y="211"/>
                    <a:pt x="2" y="65"/>
                    <a:pt x="0" y="28"/>
                  </a:cubicBezTo>
                  <a:cubicBezTo>
                    <a:pt x="0" y="17"/>
                    <a:pt x="1" y="7"/>
                    <a:pt x="3" y="0"/>
                  </a:cubicBezTo>
                  <a:cubicBezTo>
                    <a:pt x="10" y="17"/>
                    <a:pt x="11" y="26"/>
                    <a:pt x="10" y="51"/>
                  </a:cubicBezTo>
                  <a:cubicBezTo>
                    <a:pt x="9" y="83"/>
                    <a:pt x="16" y="178"/>
                    <a:pt x="16" y="191"/>
                  </a:cubicBezTo>
                  <a:cubicBezTo>
                    <a:pt x="16" y="203"/>
                    <a:pt x="28" y="205"/>
                    <a:pt x="38" y="205"/>
                  </a:cubicBezTo>
                  <a:cubicBezTo>
                    <a:pt x="42" y="205"/>
                    <a:pt x="50" y="204"/>
                    <a:pt x="57" y="205"/>
                  </a:cubicBezTo>
                  <a:close/>
                </a:path>
              </a:pathLst>
            </a:custGeom>
            <a:solidFill>
              <a:srgbClr val="8DA4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44" name="Freeform 456"/>
            <p:cNvSpPr/>
            <p:nvPr/>
          </p:nvSpPr>
          <p:spPr bwMode="auto">
            <a:xfrm>
              <a:off x="3579" y="1343"/>
              <a:ext cx="766" cy="1183"/>
            </a:xfrm>
            <a:custGeom>
              <a:avLst/>
              <a:gdLst>
                <a:gd name="T0" fmla="*/ 0 w 323"/>
                <a:gd name="T1" fmla="*/ 121 h 500"/>
                <a:gd name="T2" fmla="*/ 16 w 323"/>
                <a:gd name="T3" fmla="*/ 462 h 500"/>
                <a:gd name="T4" fmla="*/ 165 w 323"/>
                <a:gd name="T5" fmla="*/ 498 h 500"/>
                <a:gd name="T6" fmla="*/ 315 w 323"/>
                <a:gd name="T7" fmla="*/ 462 h 500"/>
                <a:gd name="T8" fmla="*/ 309 w 323"/>
                <a:gd name="T9" fmla="*/ 204 h 500"/>
                <a:gd name="T10" fmla="*/ 313 w 323"/>
                <a:gd name="T11" fmla="*/ 174 h 500"/>
                <a:gd name="T12" fmla="*/ 315 w 323"/>
                <a:gd name="T13" fmla="*/ 38 h 500"/>
                <a:gd name="T14" fmla="*/ 299 w 323"/>
                <a:gd name="T15" fmla="*/ 103 h 500"/>
                <a:gd name="T16" fmla="*/ 297 w 323"/>
                <a:gd name="T17" fmla="*/ 277 h 500"/>
                <a:gd name="T18" fmla="*/ 299 w 323"/>
                <a:gd name="T19" fmla="*/ 457 h 500"/>
                <a:gd name="T20" fmla="*/ 161 w 323"/>
                <a:gd name="T21" fmla="*/ 488 h 500"/>
                <a:gd name="T22" fmla="*/ 64 w 323"/>
                <a:gd name="T23" fmla="*/ 480 h 500"/>
                <a:gd name="T24" fmla="*/ 38 w 323"/>
                <a:gd name="T25" fmla="*/ 407 h 500"/>
                <a:gd name="T26" fmla="*/ 22 w 323"/>
                <a:gd name="T27" fmla="*/ 218 h 500"/>
                <a:gd name="T28" fmla="*/ 9 w 323"/>
                <a:gd name="T29" fmla="*/ 36 h 500"/>
                <a:gd name="T30" fmla="*/ 1 w 323"/>
                <a:gd name="T31" fmla="*/ 74 h 500"/>
                <a:gd name="T32" fmla="*/ 0 w 323"/>
                <a:gd name="T33" fmla="*/ 121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3" h="500">
                  <a:moveTo>
                    <a:pt x="0" y="121"/>
                  </a:moveTo>
                  <a:cubicBezTo>
                    <a:pt x="10" y="214"/>
                    <a:pt x="27" y="347"/>
                    <a:pt x="16" y="462"/>
                  </a:cubicBezTo>
                  <a:cubicBezTo>
                    <a:pt x="14" y="481"/>
                    <a:pt x="62" y="500"/>
                    <a:pt x="165" y="498"/>
                  </a:cubicBezTo>
                  <a:cubicBezTo>
                    <a:pt x="268" y="500"/>
                    <a:pt x="317" y="481"/>
                    <a:pt x="315" y="462"/>
                  </a:cubicBezTo>
                  <a:cubicBezTo>
                    <a:pt x="308" y="388"/>
                    <a:pt x="303" y="277"/>
                    <a:pt x="309" y="204"/>
                  </a:cubicBezTo>
                  <a:cubicBezTo>
                    <a:pt x="310" y="193"/>
                    <a:pt x="311" y="183"/>
                    <a:pt x="313" y="174"/>
                  </a:cubicBezTo>
                  <a:cubicBezTo>
                    <a:pt x="311" y="135"/>
                    <a:pt x="309" y="68"/>
                    <a:pt x="315" y="38"/>
                  </a:cubicBezTo>
                  <a:cubicBezTo>
                    <a:pt x="323" y="0"/>
                    <a:pt x="300" y="60"/>
                    <a:pt x="299" y="103"/>
                  </a:cubicBezTo>
                  <a:cubicBezTo>
                    <a:pt x="297" y="146"/>
                    <a:pt x="295" y="224"/>
                    <a:pt x="297" y="277"/>
                  </a:cubicBezTo>
                  <a:cubicBezTo>
                    <a:pt x="299" y="330"/>
                    <a:pt x="306" y="427"/>
                    <a:pt x="299" y="457"/>
                  </a:cubicBezTo>
                  <a:cubicBezTo>
                    <a:pt x="291" y="488"/>
                    <a:pt x="189" y="488"/>
                    <a:pt x="161" y="488"/>
                  </a:cubicBezTo>
                  <a:cubicBezTo>
                    <a:pt x="134" y="488"/>
                    <a:pt x="90" y="491"/>
                    <a:pt x="64" y="480"/>
                  </a:cubicBezTo>
                  <a:cubicBezTo>
                    <a:pt x="38" y="469"/>
                    <a:pt x="35" y="451"/>
                    <a:pt x="38" y="407"/>
                  </a:cubicBezTo>
                  <a:cubicBezTo>
                    <a:pt x="41" y="363"/>
                    <a:pt x="27" y="273"/>
                    <a:pt x="22" y="218"/>
                  </a:cubicBezTo>
                  <a:cubicBezTo>
                    <a:pt x="18" y="163"/>
                    <a:pt x="9" y="73"/>
                    <a:pt x="9" y="36"/>
                  </a:cubicBezTo>
                  <a:cubicBezTo>
                    <a:pt x="6" y="20"/>
                    <a:pt x="1" y="49"/>
                    <a:pt x="1" y="74"/>
                  </a:cubicBezTo>
                  <a:cubicBezTo>
                    <a:pt x="1" y="85"/>
                    <a:pt x="1" y="103"/>
                    <a:pt x="0" y="121"/>
                  </a:cubicBezTo>
                  <a:close/>
                </a:path>
              </a:pathLst>
            </a:custGeom>
            <a:solidFill>
              <a:srgbClr val="8DA4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45" name="Freeform 457"/>
            <p:cNvSpPr/>
            <p:nvPr/>
          </p:nvSpPr>
          <p:spPr bwMode="auto">
            <a:xfrm>
              <a:off x="3764" y="1217"/>
              <a:ext cx="206" cy="145"/>
            </a:xfrm>
            <a:custGeom>
              <a:avLst/>
              <a:gdLst>
                <a:gd name="T0" fmla="*/ 90 w 206"/>
                <a:gd name="T1" fmla="*/ 0 h 145"/>
                <a:gd name="T2" fmla="*/ 206 w 206"/>
                <a:gd name="T3" fmla="*/ 95 h 145"/>
                <a:gd name="T4" fmla="*/ 109 w 206"/>
                <a:gd name="T5" fmla="*/ 145 h 145"/>
                <a:gd name="T6" fmla="*/ 0 w 206"/>
                <a:gd name="T7" fmla="*/ 57 h 145"/>
                <a:gd name="T8" fmla="*/ 90 w 206"/>
                <a:gd name="T9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6" h="145">
                  <a:moveTo>
                    <a:pt x="90" y="0"/>
                  </a:moveTo>
                  <a:lnTo>
                    <a:pt x="206" y="95"/>
                  </a:lnTo>
                  <a:lnTo>
                    <a:pt x="109" y="145"/>
                  </a:lnTo>
                  <a:lnTo>
                    <a:pt x="0" y="57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B6C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46" name="Freeform 458"/>
            <p:cNvSpPr/>
            <p:nvPr/>
          </p:nvSpPr>
          <p:spPr bwMode="auto">
            <a:xfrm>
              <a:off x="3970" y="1217"/>
              <a:ext cx="209" cy="145"/>
            </a:xfrm>
            <a:custGeom>
              <a:avLst/>
              <a:gdLst>
                <a:gd name="T0" fmla="*/ 119 w 209"/>
                <a:gd name="T1" fmla="*/ 0 h 145"/>
                <a:gd name="T2" fmla="*/ 0 w 209"/>
                <a:gd name="T3" fmla="*/ 95 h 145"/>
                <a:gd name="T4" fmla="*/ 98 w 209"/>
                <a:gd name="T5" fmla="*/ 145 h 145"/>
                <a:gd name="T6" fmla="*/ 209 w 209"/>
                <a:gd name="T7" fmla="*/ 57 h 145"/>
                <a:gd name="T8" fmla="*/ 119 w 209"/>
                <a:gd name="T9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9" h="145">
                  <a:moveTo>
                    <a:pt x="119" y="0"/>
                  </a:moveTo>
                  <a:lnTo>
                    <a:pt x="0" y="95"/>
                  </a:lnTo>
                  <a:lnTo>
                    <a:pt x="98" y="145"/>
                  </a:lnTo>
                  <a:lnTo>
                    <a:pt x="209" y="5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B6C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47" name="Freeform 459"/>
            <p:cNvSpPr/>
            <p:nvPr/>
          </p:nvSpPr>
          <p:spPr bwMode="auto">
            <a:xfrm>
              <a:off x="3563" y="2393"/>
              <a:ext cx="346" cy="457"/>
            </a:xfrm>
            <a:custGeom>
              <a:avLst/>
              <a:gdLst>
                <a:gd name="T0" fmla="*/ 14 w 146"/>
                <a:gd name="T1" fmla="*/ 32 h 193"/>
                <a:gd name="T2" fmla="*/ 35 w 146"/>
                <a:gd name="T3" fmla="*/ 93 h 193"/>
                <a:gd name="T4" fmla="*/ 61 w 146"/>
                <a:gd name="T5" fmla="*/ 163 h 193"/>
                <a:gd name="T6" fmla="*/ 83 w 146"/>
                <a:gd name="T7" fmla="*/ 176 h 193"/>
                <a:gd name="T8" fmla="*/ 106 w 146"/>
                <a:gd name="T9" fmla="*/ 180 h 193"/>
                <a:gd name="T10" fmla="*/ 121 w 146"/>
                <a:gd name="T11" fmla="*/ 169 h 193"/>
                <a:gd name="T12" fmla="*/ 122 w 146"/>
                <a:gd name="T13" fmla="*/ 143 h 193"/>
                <a:gd name="T14" fmla="*/ 96 w 146"/>
                <a:gd name="T15" fmla="*/ 85 h 193"/>
                <a:gd name="T16" fmla="*/ 137 w 146"/>
                <a:gd name="T17" fmla="*/ 100 h 193"/>
                <a:gd name="T18" fmla="*/ 124 w 146"/>
                <a:gd name="T19" fmla="*/ 66 h 193"/>
                <a:gd name="T20" fmla="*/ 90 w 146"/>
                <a:gd name="T21" fmla="*/ 40 h 193"/>
                <a:gd name="T22" fmla="*/ 37 w 146"/>
                <a:gd name="T23" fmla="*/ 19 h 193"/>
                <a:gd name="T24" fmla="*/ 14 w 146"/>
                <a:gd name="T25" fmla="*/ 32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6" h="193">
                  <a:moveTo>
                    <a:pt x="14" y="32"/>
                  </a:moveTo>
                  <a:cubicBezTo>
                    <a:pt x="27" y="46"/>
                    <a:pt x="38" y="71"/>
                    <a:pt x="35" y="93"/>
                  </a:cubicBezTo>
                  <a:cubicBezTo>
                    <a:pt x="33" y="115"/>
                    <a:pt x="53" y="149"/>
                    <a:pt x="61" y="163"/>
                  </a:cubicBezTo>
                  <a:cubicBezTo>
                    <a:pt x="70" y="177"/>
                    <a:pt x="82" y="181"/>
                    <a:pt x="83" y="176"/>
                  </a:cubicBezTo>
                  <a:cubicBezTo>
                    <a:pt x="90" y="193"/>
                    <a:pt x="108" y="193"/>
                    <a:pt x="106" y="180"/>
                  </a:cubicBezTo>
                  <a:cubicBezTo>
                    <a:pt x="116" y="189"/>
                    <a:pt x="132" y="187"/>
                    <a:pt x="121" y="169"/>
                  </a:cubicBezTo>
                  <a:cubicBezTo>
                    <a:pt x="141" y="174"/>
                    <a:pt x="127" y="150"/>
                    <a:pt x="122" y="143"/>
                  </a:cubicBezTo>
                  <a:cubicBezTo>
                    <a:pt x="111" y="129"/>
                    <a:pt x="89" y="93"/>
                    <a:pt x="96" y="85"/>
                  </a:cubicBezTo>
                  <a:cubicBezTo>
                    <a:pt x="110" y="68"/>
                    <a:pt x="129" y="106"/>
                    <a:pt x="137" y="100"/>
                  </a:cubicBezTo>
                  <a:cubicBezTo>
                    <a:pt x="146" y="94"/>
                    <a:pt x="134" y="78"/>
                    <a:pt x="124" y="66"/>
                  </a:cubicBezTo>
                  <a:cubicBezTo>
                    <a:pt x="114" y="54"/>
                    <a:pt x="107" y="41"/>
                    <a:pt x="90" y="40"/>
                  </a:cubicBezTo>
                  <a:cubicBezTo>
                    <a:pt x="74" y="39"/>
                    <a:pt x="53" y="39"/>
                    <a:pt x="37" y="19"/>
                  </a:cubicBezTo>
                  <a:cubicBezTo>
                    <a:pt x="21" y="0"/>
                    <a:pt x="0" y="17"/>
                    <a:pt x="14" y="32"/>
                  </a:cubicBezTo>
                  <a:close/>
                </a:path>
              </a:pathLst>
            </a:custGeom>
            <a:solidFill>
              <a:srgbClr val="F2AC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48" name="Freeform 460"/>
            <p:cNvSpPr/>
            <p:nvPr/>
          </p:nvSpPr>
          <p:spPr bwMode="auto">
            <a:xfrm>
              <a:off x="3643" y="2582"/>
              <a:ext cx="263" cy="327"/>
            </a:xfrm>
            <a:custGeom>
              <a:avLst/>
              <a:gdLst>
                <a:gd name="T0" fmla="*/ 176 w 263"/>
                <a:gd name="T1" fmla="*/ 0 h 327"/>
                <a:gd name="T2" fmla="*/ 0 w 263"/>
                <a:gd name="T3" fmla="*/ 159 h 327"/>
                <a:gd name="T4" fmla="*/ 140 w 263"/>
                <a:gd name="T5" fmla="*/ 327 h 327"/>
                <a:gd name="T6" fmla="*/ 263 w 263"/>
                <a:gd name="T7" fmla="*/ 194 h 327"/>
                <a:gd name="T8" fmla="*/ 176 w 263"/>
                <a:gd name="T9" fmla="*/ 0 h 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3" h="327">
                  <a:moveTo>
                    <a:pt x="176" y="0"/>
                  </a:moveTo>
                  <a:lnTo>
                    <a:pt x="0" y="159"/>
                  </a:lnTo>
                  <a:lnTo>
                    <a:pt x="140" y="327"/>
                  </a:lnTo>
                  <a:lnTo>
                    <a:pt x="263" y="194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rgbClr val="5360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49" name="Freeform 461"/>
            <p:cNvSpPr/>
            <p:nvPr/>
          </p:nvSpPr>
          <p:spPr bwMode="auto">
            <a:xfrm>
              <a:off x="3278" y="1955"/>
              <a:ext cx="408" cy="575"/>
            </a:xfrm>
            <a:custGeom>
              <a:avLst/>
              <a:gdLst>
                <a:gd name="T0" fmla="*/ 30 w 172"/>
                <a:gd name="T1" fmla="*/ 89 h 243"/>
                <a:gd name="T2" fmla="*/ 127 w 172"/>
                <a:gd name="T3" fmla="*/ 243 h 243"/>
                <a:gd name="T4" fmla="*/ 172 w 172"/>
                <a:gd name="T5" fmla="*/ 216 h 243"/>
                <a:gd name="T6" fmla="*/ 76 w 172"/>
                <a:gd name="T7" fmla="*/ 51 h 243"/>
                <a:gd name="T8" fmla="*/ 30 w 172"/>
                <a:gd name="T9" fmla="*/ 89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2" h="243">
                  <a:moveTo>
                    <a:pt x="30" y="89"/>
                  </a:moveTo>
                  <a:cubicBezTo>
                    <a:pt x="54" y="111"/>
                    <a:pt x="127" y="243"/>
                    <a:pt x="127" y="243"/>
                  </a:cubicBezTo>
                  <a:cubicBezTo>
                    <a:pt x="172" y="216"/>
                    <a:pt x="172" y="216"/>
                    <a:pt x="172" y="216"/>
                  </a:cubicBezTo>
                  <a:cubicBezTo>
                    <a:pt x="172" y="216"/>
                    <a:pt x="95" y="74"/>
                    <a:pt x="76" y="51"/>
                  </a:cubicBezTo>
                  <a:cubicBezTo>
                    <a:pt x="35" y="0"/>
                    <a:pt x="0" y="59"/>
                    <a:pt x="30" y="89"/>
                  </a:cubicBezTo>
                  <a:close/>
                </a:path>
              </a:pathLst>
            </a:custGeom>
            <a:solidFill>
              <a:srgbClr val="B6C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50" name="Freeform 462"/>
            <p:cNvSpPr/>
            <p:nvPr/>
          </p:nvSpPr>
          <p:spPr bwMode="auto">
            <a:xfrm>
              <a:off x="3418" y="2050"/>
              <a:ext cx="282" cy="480"/>
            </a:xfrm>
            <a:custGeom>
              <a:avLst/>
              <a:gdLst>
                <a:gd name="T0" fmla="*/ 68 w 119"/>
                <a:gd name="T1" fmla="*/ 202 h 203"/>
                <a:gd name="T2" fmla="*/ 68 w 119"/>
                <a:gd name="T3" fmla="*/ 203 h 203"/>
                <a:gd name="T4" fmla="*/ 113 w 119"/>
                <a:gd name="T5" fmla="*/ 176 h 203"/>
                <a:gd name="T6" fmla="*/ 17 w 119"/>
                <a:gd name="T7" fmla="*/ 11 h 203"/>
                <a:gd name="T8" fmla="*/ 6 w 119"/>
                <a:gd name="T9" fmla="*/ 0 h 203"/>
                <a:gd name="T10" fmla="*/ 5 w 119"/>
                <a:gd name="T11" fmla="*/ 19 h 203"/>
                <a:gd name="T12" fmla="*/ 74 w 119"/>
                <a:gd name="T13" fmla="*/ 124 h 203"/>
                <a:gd name="T14" fmla="*/ 68 w 119"/>
                <a:gd name="T15" fmla="*/ 202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9" h="203">
                  <a:moveTo>
                    <a:pt x="68" y="202"/>
                  </a:moveTo>
                  <a:cubicBezTo>
                    <a:pt x="68" y="203"/>
                    <a:pt x="68" y="203"/>
                    <a:pt x="68" y="203"/>
                  </a:cubicBezTo>
                  <a:cubicBezTo>
                    <a:pt x="113" y="176"/>
                    <a:pt x="113" y="176"/>
                    <a:pt x="113" y="176"/>
                  </a:cubicBezTo>
                  <a:cubicBezTo>
                    <a:pt x="113" y="176"/>
                    <a:pt x="36" y="34"/>
                    <a:pt x="17" y="11"/>
                  </a:cubicBezTo>
                  <a:cubicBezTo>
                    <a:pt x="14" y="6"/>
                    <a:pt x="10" y="2"/>
                    <a:pt x="6" y="0"/>
                  </a:cubicBezTo>
                  <a:cubicBezTo>
                    <a:pt x="2" y="8"/>
                    <a:pt x="0" y="14"/>
                    <a:pt x="5" y="19"/>
                  </a:cubicBezTo>
                  <a:cubicBezTo>
                    <a:pt x="15" y="31"/>
                    <a:pt x="60" y="104"/>
                    <a:pt x="74" y="124"/>
                  </a:cubicBezTo>
                  <a:cubicBezTo>
                    <a:pt x="88" y="144"/>
                    <a:pt x="119" y="174"/>
                    <a:pt x="68" y="202"/>
                  </a:cubicBezTo>
                  <a:close/>
                </a:path>
              </a:pathLst>
            </a:custGeom>
            <a:solidFill>
              <a:srgbClr val="8DA4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51" name="Freeform 463"/>
            <p:cNvSpPr/>
            <p:nvPr/>
          </p:nvSpPr>
          <p:spPr bwMode="auto">
            <a:xfrm>
              <a:off x="3636" y="2490"/>
              <a:ext cx="244" cy="1916"/>
            </a:xfrm>
            <a:custGeom>
              <a:avLst/>
              <a:gdLst>
                <a:gd name="T0" fmla="*/ 2 w 103"/>
                <a:gd name="T1" fmla="*/ 0 h 810"/>
                <a:gd name="T2" fmla="*/ 15 w 103"/>
                <a:gd name="T3" fmla="*/ 272 h 810"/>
                <a:gd name="T4" fmla="*/ 44 w 103"/>
                <a:gd name="T5" fmla="*/ 700 h 810"/>
                <a:gd name="T6" fmla="*/ 34 w 103"/>
                <a:gd name="T7" fmla="*/ 799 h 810"/>
                <a:gd name="T8" fmla="*/ 85 w 103"/>
                <a:gd name="T9" fmla="*/ 810 h 810"/>
                <a:gd name="T10" fmla="*/ 103 w 103"/>
                <a:gd name="T11" fmla="*/ 810 h 810"/>
                <a:gd name="T12" fmla="*/ 58 w 103"/>
                <a:gd name="T13" fmla="*/ 770 h 810"/>
                <a:gd name="T14" fmla="*/ 52 w 103"/>
                <a:gd name="T15" fmla="*/ 461 h 810"/>
                <a:gd name="T16" fmla="*/ 3 w 103"/>
                <a:gd name="T17" fmla="*/ 1 h 810"/>
                <a:gd name="T18" fmla="*/ 2 w 103"/>
                <a:gd name="T19" fmla="*/ 0 h 8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3" h="810">
                  <a:moveTo>
                    <a:pt x="2" y="0"/>
                  </a:moveTo>
                  <a:cubicBezTo>
                    <a:pt x="0" y="79"/>
                    <a:pt x="2" y="177"/>
                    <a:pt x="15" y="272"/>
                  </a:cubicBezTo>
                  <a:cubicBezTo>
                    <a:pt x="34" y="418"/>
                    <a:pt x="44" y="643"/>
                    <a:pt x="44" y="700"/>
                  </a:cubicBezTo>
                  <a:cubicBezTo>
                    <a:pt x="44" y="756"/>
                    <a:pt x="34" y="799"/>
                    <a:pt x="34" y="799"/>
                  </a:cubicBezTo>
                  <a:cubicBezTo>
                    <a:pt x="34" y="799"/>
                    <a:pt x="46" y="810"/>
                    <a:pt x="85" y="810"/>
                  </a:cubicBezTo>
                  <a:cubicBezTo>
                    <a:pt x="92" y="810"/>
                    <a:pt x="98" y="810"/>
                    <a:pt x="103" y="810"/>
                  </a:cubicBezTo>
                  <a:cubicBezTo>
                    <a:pt x="72" y="804"/>
                    <a:pt x="52" y="791"/>
                    <a:pt x="58" y="770"/>
                  </a:cubicBezTo>
                  <a:cubicBezTo>
                    <a:pt x="66" y="742"/>
                    <a:pt x="52" y="545"/>
                    <a:pt x="52" y="461"/>
                  </a:cubicBezTo>
                  <a:cubicBezTo>
                    <a:pt x="52" y="377"/>
                    <a:pt x="16" y="121"/>
                    <a:pt x="3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4250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52" name="Freeform 464"/>
            <p:cNvSpPr/>
            <p:nvPr/>
          </p:nvSpPr>
          <p:spPr bwMode="auto">
            <a:xfrm>
              <a:off x="3937" y="2649"/>
              <a:ext cx="386" cy="1769"/>
            </a:xfrm>
            <a:custGeom>
              <a:avLst/>
              <a:gdLst>
                <a:gd name="T0" fmla="*/ 1 w 163"/>
                <a:gd name="T1" fmla="*/ 29 h 748"/>
                <a:gd name="T2" fmla="*/ 4 w 163"/>
                <a:gd name="T3" fmla="*/ 26 h 748"/>
                <a:gd name="T4" fmla="*/ 27 w 163"/>
                <a:gd name="T5" fmla="*/ 26 h 748"/>
                <a:gd name="T6" fmla="*/ 47 w 163"/>
                <a:gd name="T7" fmla="*/ 200 h 748"/>
                <a:gd name="T8" fmla="*/ 65 w 163"/>
                <a:gd name="T9" fmla="*/ 639 h 748"/>
                <a:gd name="T10" fmla="*/ 66 w 163"/>
                <a:gd name="T11" fmla="*/ 744 h 748"/>
                <a:gd name="T12" fmla="*/ 124 w 163"/>
                <a:gd name="T13" fmla="*/ 743 h 748"/>
                <a:gd name="T14" fmla="*/ 163 w 163"/>
                <a:gd name="T15" fmla="*/ 737 h 748"/>
                <a:gd name="T16" fmla="*/ 86 w 163"/>
                <a:gd name="T17" fmla="*/ 713 h 748"/>
                <a:gd name="T18" fmla="*/ 74 w 163"/>
                <a:gd name="T19" fmla="*/ 384 h 748"/>
                <a:gd name="T20" fmla="*/ 53 w 163"/>
                <a:gd name="T21" fmla="*/ 73 h 748"/>
                <a:gd name="T22" fmla="*/ 0 w 163"/>
                <a:gd name="T23" fmla="*/ 21 h 748"/>
                <a:gd name="T24" fmla="*/ 1 w 163"/>
                <a:gd name="T25" fmla="*/ 29 h 7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3" h="748">
                  <a:moveTo>
                    <a:pt x="1" y="29"/>
                  </a:moveTo>
                  <a:cubicBezTo>
                    <a:pt x="2" y="27"/>
                    <a:pt x="3" y="26"/>
                    <a:pt x="4" y="26"/>
                  </a:cubicBezTo>
                  <a:cubicBezTo>
                    <a:pt x="11" y="27"/>
                    <a:pt x="20" y="27"/>
                    <a:pt x="27" y="26"/>
                  </a:cubicBezTo>
                  <a:cubicBezTo>
                    <a:pt x="40" y="26"/>
                    <a:pt x="39" y="103"/>
                    <a:pt x="47" y="200"/>
                  </a:cubicBezTo>
                  <a:cubicBezTo>
                    <a:pt x="56" y="297"/>
                    <a:pt x="62" y="576"/>
                    <a:pt x="65" y="639"/>
                  </a:cubicBezTo>
                  <a:cubicBezTo>
                    <a:pt x="68" y="702"/>
                    <a:pt x="66" y="744"/>
                    <a:pt x="66" y="744"/>
                  </a:cubicBezTo>
                  <a:cubicBezTo>
                    <a:pt x="66" y="744"/>
                    <a:pt x="85" y="743"/>
                    <a:pt x="124" y="743"/>
                  </a:cubicBezTo>
                  <a:cubicBezTo>
                    <a:pt x="143" y="743"/>
                    <a:pt x="155" y="740"/>
                    <a:pt x="163" y="737"/>
                  </a:cubicBezTo>
                  <a:cubicBezTo>
                    <a:pt x="113" y="748"/>
                    <a:pt x="84" y="737"/>
                    <a:pt x="86" y="713"/>
                  </a:cubicBezTo>
                  <a:cubicBezTo>
                    <a:pt x="88" y="688"/>
                    <a:pt x="74" y="455"/>
                    <a:pt x="74" y="384"/>
                  </a:cubicBezTo>
                  <a:cubicBezTo>
                    <a:pt x="74" y="314"/>
                    <a:pt x="61" y="146"/>
                    <a:pt x="53" y="73"/>
                  </a:cubicBezTo>
                  <a:cubicBezTo>
                    <a:pt x="46" y="0"/>
                    <a:pt x="28" y="16"/>
                    <a:pt x="0" y="21"/>
                  </a:cubicBezTo>
                  <a:cubicBezTo>
                    <a:pt x="0" y="24"/>
                    <a:pt x="1" y="26"/>
                    <a:pt x="1" y="29"/>
                  </a:cubicBezTo>
                  <a:close/>
                </a:path>
              </a:pathLst>
            </a:custGeom>
            <a:solidFill>
              <a:srgbClr val="4250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53" name="Freeform 465"/>
            <p:cNvSpPr/>
            <p:nvPr/>
          </p:nvSpPr>
          <p:spPr bwMode="auto">
            <a:xfrm>
              <a:off x="3522" y="4418"/>
              <a:ext cx="448" cy="121"/>
            </a:xfrm>
            <a:custGeom>
              <a:avLst/>
              <a:gdLst>
                <a:gd name="T0" fmla="*/ 4 w 189"/>
                <a:gd name="T1" fmla="*/ 31 h 51"/>
                <a:gd name="T2" fmla="*/ 42 w 189"/>
                <a:gd name="T3" fmla="*/ 51 h 51"/>
                <a:gd name="T4" fmla="*/ 153 w 189"/>
                <a:gd name="T5" fmla="*/ 30 h 51"/>
                <a:gd name="T6" fmla="*/ 189 w 189"/>
                <a:gd name="T7" fmla="*/ 2 h 51"/>
                <a:gd name="T8" fmla="*/ 189 w 189"/>
                <a:gd name="T9" fmla="*/ 0 h 51"/>
                <a:gd name="T10" fmla="*/ 4 w 189"/>
                <a:gd name="T11" fmla="*/ 3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9" h="51">
                  <a:moveTo>
                    <a:pt x="4" y="31"/>
                  </a:moveTo>
                  <a:cubicBezTo>
                    <a:pt x="0" y="37"/>
                    <a:pt x="9" y="50"/>
                    <a:pt x="42" y="51"/>
                  </a:cubicBezTo>
                  <a:cubicBezTo>
                    <a:pt x="67" y="51"/>
                    <a:pt x="118" y="44"/>
                    <a:pt x="153" y="30"/>
                  </a:cubicBezTo>
                  <a:cubicBezTo>
                    <a:pt x="173" y="22"/>
                    <a:pt x="187" y="13"/>
                    <a:pt x="189" y="2"/>
                  </a:cubicBezTo>
                  <a:cubicBezTo>
                    <a:pt x="189" y="1"/>
                    <a:pt x="189" y="0"/>
                    <a:pt x="189" y="0"/>
                  </a:cubicBezTo>
                  <a:cubicBezTo>
                    <a:pt x="130" y="32"/>
                    <a:pt x="45" y="39"/>
                    <a:pt x="4" y="31"/>
                  </a:cubicBezTo>
                  <a:close/>
                </a:path>
              </a:pathLst>
            </a:custGeom>
            <a:solidFill>
              <a:srgbClr val="2A32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54" name="Freeform 466"/>
            <p:cNvSpPr/>
            <p:nvPr/>
          </p:nvSpPr>
          <p:spPr bwMode="auto">
            <a:xfrm>
              <a:off x="4101" y="4418"/>
              <a:ext cx="450" cy="121"/>
            </a:xfrm>
            <a:custGeom>
              <a:avLst/>
              <a:gdLst>
                <a:gd name="T0" fmla="*/ 186 w 190"/>
                <a:gd name="T1" fmla="*/ 31 h 51"/>
                <a:gd name="T2" fmla="*/ 148 w 190"/>
                <a:gd name="T3" fmla="*/ 51 h 51"/>
                <a:gd name="T4" fmla="*/ 37 w 190"/>
                <a:gd name="T5" fmla="*/ 30 h 51"/>
                <a:gd name="T6" fmla="*/ 1 w 190"/>
                <a:gd name="T7" fmla="*/ 2 h 51"/>
                <a:gd name="T8" fmla="*/ 0 w 190"/>
                <a:gd name="T9" fmla="*/ 0 h 51"/>
                <a:gd name="T10" fmla="*/ 186 w 190"/>
                <a:gd name="T11" fmla="*/ 3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0" h="51">
                  <a:moveTo>
                    <a:pt x="186" y="31"/>
                  </a:moveTo>
                  <a:cubicBezTo>
                    <a:pt x="190" y="37"/>
                    <a:pt x="181" y="50"/>
                    <a:pt x="148" y="51"/>
                  </a:cubicBezTo>
                  <a:cubicBezTo>
                    <a:pt x="122" y="51"/>
                    <a:pt x="71" y="44"/>
                    <a:pt x="37" y="30"/>
                  </a:cubicBezTo>
                  <a:cubicBezTo>
                    <a:pt x="17" y="22"/>
                    <a:pt x="3" y="13"/>
                    <a:pt x="1" y="2"/>
                  </a:cubicBezTo>
                  <a:cubicBezTo>
                    <a:pt x="1" y="1"/>
                    <a:pt x="1" y="0"/>
                    <a:pt x="0" y="0"/>
                  </a:cubicBezTo>
                  <a:cubicBezTo>
                    <a:pt x="60" y="32"/>
                    <a:pt x="145" y="39"/>
                    <a:pt x="186" y="31"/>
                  </a:cubicBezTo>
                  <a:close/>
                </a:path>
              </a:pathLst>
            </a:custGeom>
            <a:solidFill>
              <a:srgbClr val="2A32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55" name="Group 154"/>
          <p:cNvGrpSpPr>
            <a:grpSpLocks noChangeAspect="1"/>
          </p:cNvGrpSpPr>
          <p:nvPr/>
        </p:nvGrpSpPr>
        <p:grpSpPr bwMode="auto">
          <a:xfrm>
            <a:off x="6321214" y="3380105"/>
            <a:ext cx="984885" cy="1830070"/>
            <a:chOff x="2564" y="-210"/>
            <a:chExt cx="2552" cy="4740"/>
          </a:xfrm>
        </p:grpSpPr>
        <p:sp>
          <p:nvSpPr>
            <p:cNvPr id="156" name="AutoShape 468"/>
            <p:cNvSpPr>
              <a:spLocks noChangeAspect="1" noChangeArrowheads="1" noTextEdit="1"/>
            </p:cNvSpPr>
            <p:nvPr/>
          </p:nvSpPr>
          <p:spPr bwMode="auto">
            <a:xfrm>
              <a:off x="2564" y="-210"/>
              <a:ext cx="2552" cy="47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57" name="Freeform 470"/>
            <p:cNvSpPr>
              <a:spLocks noEditPoints="1"/>
            </p:cNvSpPr>
            <p:nvPr/>
          </p:nvSpPr>
          <p:spPr bwMode="auto">
            <a:xfrm>
              <a:off x="2550" y="2917"/>
              <a:ext cx="2471" cy="1611"/>
            </a:xfrm>
            <a:custGeom>
              <a:avLst/>
              <a:gdLst>
                <a:gd name="T0" fmla="*/ 955 w 1043"/>
                <a:gd name="T1" fmla="*/ 660 h 681"/>
                <a:gd name="T2" fmla="*/ 950 w 1043"/>
                <a:gd name="T3" fmla="*/ 658 h 681"/>
                <a:gd name="T4" fmla="*/ 865 w 1043"/>
                <a:gd name="T5" fmla="*/ 479 h 681"/>
                <a:gd name="T6" fmla="*/ 872 w 1043"/>
                <a:gd name="T7" fmla="*/ 453 h 681"/>
                <a:gd name="T8" fmla="*/ 906 w 1043"/>
                <a:gd name="T9" fmla="*/ 443 h 681"/>
                <a:gd name="T10" fmla="*/ 894 w 1043"/>
                <a:gd name="T11" fmla="*/ 397 h 681"/>
                <a:gd name="T12" fmla="*/ 951 w 1043"/>
                <a:gd name="T13" fmla="*/ 338 h 681"/>
                <a:gd name="T14" fmla="*/ 942 w 1043"/>
                <a:gd name="T15" fmla="*/ 324 h 681"/>
                <a:gd name="T16" fmla="*/ 797 w 1043"/>
                <a:gd name="T17" fmla="*/ 226 h 681"/>
                <a:gd name="T18" fmla="*/ 685 w 1043"/>
                <a:gd name="T19" fmla="*/ 209 h 681"/>
                <a:gd name="T20" fmla="*/ 663 w 1043"/>
                <a:gd name="T21" fmla="*/ 196 h 681"/>
                <a:gd name="T22" fmla="*/ 779 w 1043"/>
                <a:gd name="T23" fmla="*/ 153 h 681"/>
                <a:gd name="T24" fmla="*/ 796 w 1043"/>
                <a:gd name="T25" fmla="*/ 126 h 681"/>
                <a:gd name="T26" fmla="*/ 800 w 1043"/>
                <a:gd name="T27" fmla="*/ 91 h 681"/>
                <a:gd name="T28" fmla="*/ 790 w 1043"/>
                <a:gd name="T29" fmla="*/ 74 h 681"/>
                <a:gd name="T30" fmla="*/ 546 w 1043"/>
                <a:gd name="T31" fmla="*/ 0 h 681"/>
                <a:gd name="T32" fmla="*/ 361 w 1043"/>
                <a:gd name="T33" fmla="*/ 90 h 681"/>
                <a:gd name="T34" fmla="*/ 344 w 1043"/>
                <a:gd name="T35" fmla="*/ 112 h 681"/>
                <a:gd name="T36" fmla="*/ 388 w 1043"/>
                <a:gd name="T37" fmla="*/ 128 h 681"/>
                <a:gd name="T38" fmla="*/ 424 w 1043"/>
                <a:gd name="T39" fmla="*/ 153 h 681"/>
                <a:gd name="T40" fmla="*/ 572 w 1043"/>
                <a:gd name="T41" fmla="*/ 196 h 681"/>
                <a:gd name="T42" fmla="*/ 560 w 1043"/>
                <a:gd name="T43" fmla="*/ 209 h 681"/>
                <a:gd name="T44" fmla="*/ 464 w 1043"/>
                <a:gd name="T45" fmla="*/ 225 h 681"/>
                <a:gd name="T46" fmla="*/ 187 w 1043"/>
                <a:gd name="T47" fmla="*/ 240 h 681"/>
                <a:gd name="T48" fmla="*/ 134 w 1043"/>
                <a:gd name="T49" fmla="*/ 205 h 681"/>
                <a:gd name="T50" fmla="*/ 62 w 1043"/>
                <a:gd name="T51" fmla="*/ 172 h 681"/>
                <a:gd name="T52" fmla="*/ 27 w 1043"/>
                <a:gd name="T53" fmla="*/ 173 h 681"/>
                <a:gd name="T54" fmla="*/ 24 w 1043"/>
                <a:gd name="T55" fmla="*/ 196 h 681"/>
                <a:gd name="T56" fmla="*/ 27 w 1043"/>
                <a:gd name="T57" fmla="*/ 209 h 681"/>
                <a:gd name="T58" fmla="*/ 40 w 1043"/>
                <a:gd name="T59" fmla="*/ 219 h 681"/>
                <a:gd name="T60" fmla="*/ 44 w 1043"/>
                <a:gd name="T61" fmla="*/ 225 h 681"/>
                <a:gd name="T62" fmla="*/ 70 w 1043"/>
                <a:gd name="T63" fmla="*/ 235 h 681"/>
                <a:gd name="T64" fmla="*/ 151 w 1043"/>
                <a:gd name="T65" fmla="*/ 247 h 681"/>
                <a:gd name="T66" fmla="*/ 238 w 1043"/>
                <a:gd name="T67" fmla="*/ 286 h 681"/>
                <a:gd name="T68" fmla="*/ 287 w 1043"/>
                <a:gd name="T69" fmla="*/ 293 h 681"/>
                <a:gd name="T70" fmla="*/ 536 w 1043"/>
                <a:gd name="T71" fmla="*/ 379 h 681"/>
                <a:gd name="T72" fmla="*/ 597 w 1043"/>
                <a:gd name="T73" fmla="*/ 479 h 681"/>
                <a:gd name="T74" fmla="*/ 681 w 1043"/>
                <a:gd name="T75" fmla="*/ 624 h 681"/>
                <a:gd name="T76" fmla="*/ 688 w 1043"/>
                <a:gd name="T77" fmla="*/ 659 h 681"/>
                <a:gd name="T78" fmla="*/ 620 w 1043"/>
                <a:gd name="T79" fmla="*/ 672 h 681"/>
                <a:gd name="T80" fmla="*/ 620 w 1043"/>
                <a:gd name="T81" fmla="*/ 679 h 681"/>
                <a:gd name="T82" fmla="*/ 760 w 1043"/>
                <a:gd name="T83" fmla="*/ 674 h 681"/>
                <a:gd name="T84" fmla="*/ 792 w 1043"/>
                <a:gd name="T85" fmla="*/ 662 h 681"/>
                <a:gd name="T86" fmla="*/ 774 w 1043"/>
                <a:gd name="T87" fmla="*/ 627 h 681"/>
                <a:gd name="T88" fmla="*/ 691 w 1043"/>
                <a:gd name="T89" fmla="*/ 419 h 681"/>
                <a:gd name="T90" fmla="*/ 756 w 1043"/>
                <a:gd name="T91" fmla="*/ 477 h 681"/>
                <a:gd name="T92" fmla="*/ 844 w 1043"/>
                <a:gd name="T93" fmla="*/ 662 h 681"/>
                <a:gd name="T94" fmla="*/ 847 w 1043"/>
                <a:gd name="T95" fmla="*/ 664 h 681"/>
                <a:gd name="T96" fmla="*/ 887 w 1043"/>
                <a:gd name="T97" fmla="*/ 674 h 681"/>
                <a:gd name="T98" fmla="*/ 1033 w 1043"/>
                <a:gd name="T99" fmla="*/ 673 h 681"/>
                <a:gd name="T100" fmla="*/ 43 w 1043"/>
                <a:gd name="T101" fmla="*/ 211 h 681"/>
                <a:gd name="T102" fmla="*/ 44 w 1043"/>
                <a:gd name="T103" fmla="*/ 211 h 681"/>
                <a:gd name="T104" fmla="*/ 44 w 1043"/>
                <a:gd name="T105" fmla="*/ 211 h 681"/>
                <a:gd name="T106" fmla="*/ 618 w 1043"/>
                <a:gd name="T107" fmla="*/ 244 h 681"/>
                <a:gd name="T108" fmla="*/ 622 w 1043"/>
                <a:gd name="T109" fmla="*/ 245 h 681"/>
                <a:gd name="T110" fmla="*/ 620 w 1043"/>
                <a:gd name="T111" fmla="*/ 244 h 681"/>
                <a:gd name="T112" fmla="*/ 839 w 1043"/>
                <a:gd name="T113" fmla="*/ 408 h 681"/>
                <a:gd name="T114" fmla="*/ 835 w 1043"/>
                <a:gd name="T115" fmla="*/ 379 h 681"/>
                <a:gd name="T116" fmla="*/ 848 w 1043"/>
                <a:gd name="T117" fmla="*/ 305 h 681"/>
                <a:gd name="T118" fmla="*/ 856 w 1043"/>
                <a:gd name="T119" fmla="*/ 392 h 681"/>
                <a:gd name="T120" fmla="*/ 869 w 1043"/>
                <a:gd name="T121" fmla="*/ 394 h 681"/>
                <a:gd name="T122" fmla="*/ 840 w 1043"/>
                <a:gd name="T123" fmla="*/ 408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043" h="681">
                  <a:moveTo>
                    <a:pt x="1033" y="673"/>
                  </a:moveTo>
                  <a:cubicBezTo>
                    <a:pt x="1022" y="672"/>
                    <a:pt x="972" y="664"/>
                    <a:pt x="955" y="660"/>
                  </a:cubicBezTo>
                  <a:cubicBezTo>
                    <a:pt x="953" y="660"/>
                    <a:pt x="950" y="659"/>
                    <a:pt x="947" y="659"/>
                  </a:cubicBezTo>
                  <a:cubicBezTo>
                    <a:pt x="949" y="658"/>
                    <a:pt x="950" y="658"/>
                    <a:pt x="950" y="658"/>
                  </a:cubicBezTo>
                  <a:cubicBezTo>
                    <a:pt x="950" y="658"/>
                    <a:pt x="932" y="644"/>
                    <a:pt x="920" y="624"/>
                  </a:cubicBezTo>
                  <a:cubicBezTo>
                    <a:pt x="909" y="605"/>
                    <a:pt x="875" y="529"/>
                    <a:pt x="865" y="479"/>
                  </a:cubicBezTo>
                  <a:cubicBezTo>
                    <a:pt x="864" y="472"/>
                    <a:pt x="862" y="464"/>
                    <a:pt x="860" y="456"/>
                  </a:cubicBezTo>
                  <a:cubicBezTo>
                    <a:pt x="864" y="457"/>
                    <a:pt x="869" y="455"/>
                    <a:pt x="872" y="453"/>
                  </a:cubicBezTo>
                  <a:cubicBezTo>
                    <a:pt x="876" y="458"/>
                    <a:pt x="892" y="456"/>
                    <a:pt x="892" y="450"/>
                  </a:cubicBezTo>
                  <a:cubicBezTo>
                    <a:pt x="894" y="451"/>
                    <a:pt x="904" y="449"/>
                    <a:pt x="906" y="443"/>
                  </a:cubicBezTo>
                  <a:cubicBezTo>
                    <a:pt x="908" y="438"/>
                    <a:pt x="912" y="425"/>
                    <a:pt x="901" y="418"/>
                  </a:cubicBezTo>
                  <a:cubicBezTo>
                    <a:pt x="890" y="412"/>
                    <a:pt x="889" y="403"/>
                    <a:pt x="894" y="397"/>
                  </a:cubicBezTo>
                  <a:cubicBezTo>
                    <a:pt x="907" y="399"/>
                    <a:pt x="907" y="399"/>
                    <a:pt x="907" y="399"/>
                  </a:cubicBezTo>
                  <a:cubicBezTo>
                    <a:pt x="907" y="399"/>
                    <a:pt x="946" y="349"/>
                    <a:pt x="951" y="338"/>
                  </a:cubicBezTo>
                  <a:cubicBezTo>
                    <a:pt x="953" y="334"/>
                    <a:pt x="950" y="329"/>
                    <a:pt x="945" y="326"/>
                  </a:cubicBezTo>
                  <a:cubicBezTo>
                    <a:pt x="944" y="325"/>
                    <a:pt x="943" y="324"/>
                    <a:pt x="942" y="324"/>
                  </a:cubicBezTo>
                  <a:cubicBezTo>
                    <a:pt x="933" y="319"/>
                    <a:pt x="887" y="284"/>
                    <a:pt x="848" y="258"/>
                  </a:cubicBezTo>
                  <a:cubicBezTo>
                    <a:pt x="825" y="242"/>
                    <a:pt x="805" y="229"/>
                    <a:pt x="797" y="226"/>
                  </a:cubicBezTo>
                  <a:cubicBezTo>
                    <a:pt x="795" y="226"/>
                    <a:pt x="794" y="225"/>
                    <a:pt x="792" y="225"/>
                  </a:cubicBezTo>
                  <a:cubicBezTo>
                    <a:pt x="764" y="219"/>
                    <a:pt x="723" y="213"/>
                    <a:pt x="685" y="209"/>
                  </a:cubicBezTo>
                  <a:cubicBezTo>
                    <a:pt x="685" y="210"/>
                    <a:pt x="685" y="210"/>
                    <a:pt x="685" y="210"/>
                  </a:cubicBezTo>
                  <a:cubicBezTo>
                    <a:pt x="674" y="207"/>
                    <a:pt x="665" y="203"/>
                    <a:pt x="663" y="196"/>
                  </a:cubicBezTo>
                  <a:cubicBezTo>
                    <a:pt x="658" y="183"/>
                    <a:pt x="658" y="183"/>
                    <a:pt x="658" y="183"/>
                  </a:cubicBezTo>
                  <a:cubicBezTo>
                    <a:pt x="702" y="177"/>
                    <a:pt x="760" y="164"/>
                    <a:pt x="779" y="153"/>
                  </a:cubicBezTo>
                  <a:cubicBezTo>
                    <a:pt x="787" y="149"/>
                    <a:pt x="792" y="141"/>
                    <a:pt x="794" y="132"/>
                  </a:cubicBezTo>
                  <a:cubicBezTo>
                    <a:pt x="795" y="131"/>
                    <a:pt x="796" y="129"/>
                    <a:pt x="796" y="126"/>
                  </a:cubicBezTo>
                  <a:cubicBezTo>
                    <a:pt x="811" y="124"/>
                    <a:pt x="823" y="119"/>
                    <a:pt x="827" y="112"/>
                  </a:cubicBezTo>
                  <a:cubicBezTo>
                    <a:pt x="832" y="102"/>
                    <a:pt x="820" y="93"/>
                    <a:pt x="800" y="91"/>
                  </a:cubicBezTo>
                  <a:cubicBezTo>
                    <a:pt x="798" y="91"/>
                    <a:pt x="795" y="90"/>
                    <a:pt x="793" y="90"/>
                  </a:cubicBezTo>
                  <a:cubicBezTo>
                    <a:pt x="792" y="84"/>
                    <a:pt x="791" y="79"/>
                    <a:pt x="790" y="74"/>
                  </a:cubicBezTo>
                  <a:cubicBezTo>
                    <a:pt x="783" y="39"/>
                    <a:pt x="712" y="13"/>
                    <a:pt x="620" y="4"/>
                  </a:cubicBezTo>
                  <a:cubicBezTo>
                    <a:pt x="596" y="2"/>
                    <a:pt x="571" y="1"/>
                    <a:pt x="546" y="0"/>
                  </a:cubicBezTo>
                  <a:cubicBezTo>
                    <a:pt x="452" y="0"/>
                    <a:pt x="327" y="19"/>
                    <a:pt x="349" y="63"/>
                  </a:cubicBezTo>
                  <a:cubicBezTo>
                    <a:pt x="352" y="70"/>
                    <a:pt x="356" y="80"/>
                    <a:pt x="361" y="90"/>
                  </a:cubicBezTo>
                  <a:cubicBezTo>
                    <a:pt x="359" y="91"/>
                    <a:pt x="357" y="91"/>
                    <a:pt x="355" y="91"/>
                  </a:cubicBezTo>
                  <a:cubicBezTo>
                    <a:pt x="337" y="93"/>
                    <a:pt x="332" y="102"/>
                    <a:pt x="344" y="112"/>
                  </a:cubicBezTo>
                  <a:cubicBezTo>
                    <a:pt x="352" y="118"/>
                    <a:pt x="366" y="123"/>
                    <a:pt x="379" y="125"/>
                  </a:cubicBezTo>
                  <a:cubicBezTo>
                    <a:pt x="382" y="128"/>
                    <a:pt x="385" y="129"/>
                    <a:pt x="388" y="128"/>
                  </a:cubicBezTo>
                  <a:cubicBezTo>
                    <a:pt x="388" y="128"/>
                    <a:pt x="388" y="128"/>
                    <a:pt x="388" y="128"/>
                  </a:cubicBezTo>
                  <a:cubicBezTo>
                    <a:pt x="399" y="139"/>
                    <a:pt x="411" y="148"/>
                    <a:pt x="424" y="153"/>
                  </a:cubicBezTo>
                  <a:cubicBezTo>
                    <a:pt x="449" y="163"/>
                    <a:pt x="516" y="176"/>
                    <a:pt x="567" y="183"/>
                  </a:cubicBezTo>
                  <a:cubicBezTo>
                    <a:pt x="572" y="196"/>
                    <a:pt x="572" y="196"/>
                    <a:pt x="572" y="196"/>
                  </a:cubicBezTo>
                  <a:cubicBezTo>
                    <a:pt x="575" y="203"/>
                    <a:pt x="569" y="207"/>
                    <a:pt x="560" y="210"/>
                  </a:cubicBezTo>
                  <a:cubicBezTo>
                    <a:pt x="560" y="209"/>
                    <a:pt x="560" y="209"/>
                    <a:pt x="560" y="209"/>
                  </a:cubicBezTo>
                  <a:cubicBezTo>
                    <a:pt x="525" y="213"/>
                    <a:pt x="488" y="219"/>
                    <a:pt x="464" y="225"/>
                  </a:cubicBezTo>
                  <a:cubicBezTo>
                    <a:pt x="464" y="225"/>
                    <a:pt x="464" y="225"/>
                    <a:pt x="464" y="225"/>
                  </a:cubicBezTo>
                  <a:cubicBezTo>
                    <a:pt x="444" y="229"/>
                    <a:pt x="318" y="262"/>
                    <a:pt x="276" y="273"/>
                  </a:cubicBezTo>
                  <a:cubicBezTo>
                    <a:pt x="252" y="264"/>
                    <a:pt x="204" y="246"/>
                    <a:pt x="187" y="240"/>
                  </a:cubicBezTo>
                  <a:cubicBezTo>
                    <a:pt x="173" y="232"/>
                    <a:pt x="169" y="223"/>
                    <a:pt x="158" y="217"/>
                  </a:cubicBezTo>
                  <a:cubicBezTo>
                    <a:pt x="149" y="211"/>
                    <a:pt x="144" y="208"/>
                    <a:pt x="134" y="205"/>
                  </a:cubicBezTo>
                  <a:cubicBezTo>
                    <a:pt x="101" y="181"/>
                    <a:pt x="101" y="181"/>
                    <a:pt x="101" y="181"/>
                  </a:cubicBezTo>
                  <a:cubicBezTo>
                    <a:pt x="94" y="176"/>
                    <a:pt x="78" y="171"/>
                    <a:pt x="62" y="172"/>
                  </a:cubicBezTo>
                  <a:cubicBezTo>
                    <a:pt x="44" y="172"/>
                    <a:pt x="44" y="172"/>
                    <a:pt x="44" y="172"/>
                  </a:cubicBezTo>
                  <a:cubicBezTo>
                    <a:pt x="27" y="173"/>
                    <a:pt x="27" y="173"/>
                    <a:pt x="27" y="173"/>
                  </a:cubicBezTo>
                  <a:cubicBezTo>
                    <a:pt x="11" y="173"/>
                    <a:pt x="0" y="178"/>
                    <a:pt x="7" y="184"/>
                  </a:cubicBezTo>
                  <a:cubicBezTo>
                    <a:pt x="24" y="196"/>
                    <a:pt x="24" y="196"/>
                    <a:pt x="24" y="196"/>
                  </a:cubicBezTo>
                  <a:cubicBezTo>
                    <a:pt x="9" y="198"/>
                    <a:pt x="18" y="203"/>
                    <a:pt x="25" y="204"/>
                  </a:cubicBezTo>
                  <a:cubicBezTo>
                    <a:pt x="32" y="205"/>
                    <a:pt x="30" y="207"/>
                    <a:pt x="27" y="209"/>
                  </a:cubicBezTo>
                  <a:cubicBezTo>
                    <a:pt x="24" y="210"/>
                    <a:pt x="28" y="214"/>
                    <a:pt x="34" y="215"/>
                  </a:cubicBezTo>
                  <a:cubicBezTo>
                    <a:pt x="40" y="216"/>
                    <a:pt x="44" y="217"/>
                    <a:pt x="40" y="219"/>
                  </a:cubicBezTo>
                  <a:cubicBezTo>
                    <a:pt x="36" y="221"/>
                    <a:pt x="38" y="224"/>
                    <a:pt x="42" y="225"/>
                  </a:cubicBezTo>
                  <a:cubicBezTo>
                    <a:pt x="43" y="225"/>
                    <a:pt x="43" y="225"/>
                    <a:pt x="44" y="225"/>
                  </a:cubicBezTo>
                  <a:cubicBezTo>
                    <a:pt x="48" y="226"/>
                    <a:pt x="56" y="228"/>
                    <a:pt x="57" y="230"/>
                  </a:cubicBezTo>
                  <a:cubicBezTo>
                    <a:pt x="59" y="233"/>
                    <a:pt x="60" y="234"/>
                    <a:pt x="70" y="235"/>
                  </a:cubicBezTo>
                  <a:cubicBezTo>
                    <a:pt x="91" y="240"/>
                    <a:pt x="107" y="243"/>
                    <a:pt x="124" y="242"/>
                  </a:cubicBezTo>
                  <a:cubicBezTo>
                    <a:pt x="135" y="242"/>
                    <a:pt x="144" y="244"/>
                    <a:pt x="151" y="247"/>
                  </a:cubicBezTo>
                  <a:cubicBezTo>
                    <a:pt x="146" y="249"/>
                    <a:pt x="146" y="249"/>
                    <a:pt x="146" y="249"/>
                  </a:cubicBezTo>
                  <a:cubicBezTo>
                    <a:pt x="146" y="249"/>
                    <a:pt x="218" y="278"/>
                    <a:pt x="238" y="286"/>
                  </a:cubicBezTo>
                  <a:cubicBezTo>
                    <a:pt x="253" y="292"/>
                    <a:pt x="266" y="294"/>
                    <a:pt x="276" y="294"/>
                  </a:cubicBezTo>
                  <a:cubicBezTo>
                    <a:pt x="279" y="294"/>
                    <a:pt x="283" y="294"/>
                    <a:pt x="287" y="293"/>
                  </a:cubicBezTo>
                  <a:cubicBezTo>
                    <a:pt x="318" y="289"/>
                    <a:pt x="440" y="269"/>
                    <a:pt x="476" y="261"/>
                  </a:cubicBezTo>
                  <a:cubicBezTo>
                    <a:pt x="497" y="292"/>
                    <a:pt x="533" y="339"/>
                    <a:pt x="536" y="379"/>
                  </a:cubicBezTo>
                  <a:cubicBezTo>
                    <a:pt x="537" y="381"/>
                    <a:pt x="541" y="383"/>
                    <a:pt x="549" y="384"/>
                  </a:cubicBezTo>
                  <a:cubicBezTo>
                    <a:pt x="557" y="411"/>
                    <a:pt x="572" y="446"/>
                    <a:pt x="597" y="479"/>
                  </a:cubicBezTo>
                  <a:cubicBezTo>
                    <a:pt x="605" y="489"/>
                    <a:pt x="612" y="500"/>
                    <a:pt x="620" y="512"/>
                  </a:cubicBezTo>
                  <a:cubicBezTo>
                    <a:pt x="649" y="557"/>
                    <a:pt x="675" y="609"/>
                    <a:pt x="681" y="624"/>
                  </a:cubicBezTo>
                  <a:cubicBezTo>
                    <a:pt x="688" y="644"/>
                    <a:pt x="684" y="658"/>
                    <a:pt x="684" y="658"/>
                  </a:cubicBezTo>
                  <a:cubicBezTo>
                    <a:pt x="684" y="658"/>
                    <a:pt x="685" y="658"/>
                    <a:pt x="688" y="659"/>
                  </a:cubicBezTo>
                  <a:cubicBezTo>
                    <a:pt x="685" y="659"/>
                    <a:pt x="684" y="660"/>
                    <a:pt x="682" y="660"/>
                  </a:cubicBezTo>
                  <a:cubicBezTo>
                    <a:pt x="670" y="663"/>
                    <a:pt x="635" y="670"/>
                    <a:pt x="620" y="672"/>
                  </a:cubicBezTo>
                  <a:cubicBezTo>
                    <a:pt x="617" y="673"/>
                    <a:pt x="615" y="673"/>
                    <a:pt x="614" y="673"/>
                  </a:cubicBezTo>
                  <a:cubicBezTo>
                    <a:pt x="608" y="674"/>
                    <a:pt x="609" y="677"/>
                    <a:pt x="620" y="679"/>
                  </a:cubicBezTo>
                  <a:cubicBezTo>
                    <a:pt x="627" y="680"/>
                    <a:pt x="637" y="681"/>
                    <a:pt x="652" y="681"/>
                  </a:cubicBezTo>
                  <a:cubicBezTo>
                    <a:pt x="677" y="681"/>
                    <a:pt x="727" y="678"/>
                    <a:pt x="760" y="674"/>
                  </a:cubicBezTo>
                  <a:cubicBezTo>
                    <a:pt x="779" y="671"/>
                    <a:pt x="792" y="668"/>
                    <a:pt x="793" y="664"/>
                  </a:cubicBezTo>
                  <a:cubicBezTo>
                    <a:pt x="793" y="663"/>
                    <a:pt x="792" y="663"/>
                    <a:pt x="792" y="662"/>
                  </a:cubicBezTo>
                  <a:cubicBezTo>
                    <a:pt x="793" y="662"/>
                    <a:pt x="794" y="662"/>
                    <a:pt x="794" y="662"/>
                  </a:cubicBezTo>
                  <a:cubicBezTo>
                    <a:pt x="794" y="662"/>
                    <a:pt x="784" y="648"/>
                    <a:pt x="774" y="627"/>
                  </a:cubicBezTo>
                  <a:cubicBezTo>
                    <a:pt x="764" y="605"/>
                    <a:pt x="716" y="510"/>
                    <a:pt x="705" y="477"/>
                  </a:cubicBezTo>
                  <a:cubicBezTo>
                    <a:pt x="694" y="444"/>
                    <a:pt x="678" y="418"/>
                    <a:pt x="691" y="419"/>
                  </a:cubicBezTo>
                  <a:cubicBezTo>
                    <a:pt x="698" y="419"/>
                    <a:pt x="707" y="419"/>
                    <a:pt x="714" y="419"/>
                  </a:cubicBezTo>
                  <a:cubicBezTo>
                    <a:pt x="726" y="418"/>
                    <a:pt x="735" y="444"/>
                    <a:pt x="756" y="477"/>
                  </a:cubicBezTo>
                  <a:cubicBezTo>
                    <a:pt x="777" y="510"/>
                    <a:pt x="819" y="605"/>
                    <a:pt x="829" y="627"/>
                  </a:cubicBezTo>
                  <a:cubicBezTo>
                    <a:pt x="840" y="648"/>
                    <a:pt x="844" y="662"/>
                    <a:pt x="844" y="662"/>
                  </a:cubicBezTo>
                  <a:cubicBezTo>
                    <a:pt x="844" y="662"/>
                    <a:pt x="845" y="662"/>
                    <a:pt x="847" y="662"/>
                  </a:cubicBezTo>
                  <a:cubicBezTo>
                    <a:pt x="847" y="663"/>
                    <a:pt x="847" y="663"/>
                    <a:pt x="847" y="664"/>
                  </a:cubicBezTo>
                  <a:cubicBezTo>
                    <a:pt x="847" y="664"/>
                    <a:pt x="848" y="664"/>
                    <a:pt x="848" y="665"/>
                  </a:cubicBezTo>
                  <a:cubicBezTo>
                    <a:pt x="852" y="668"/>
                    <a:pt x="867" y="671"/>
                    <a:pt x="887" y="674"/>
                  </a:cubicBezTo>
                  <a:cubicBezTo>
                    <a:pt x="923" y="678"/>
                    <a:pt x="975" y="681"/>
                    <a:pt x="1000" y="681"/>
                  </a:cubicBezTo>
                  <a:cubicBezTo>
                    <a:pt x="1040" y="680"/>
                    <a:pt x="1043" y="675"/>
                    <a:pt x="1033" y="673"/>
                  </a:cubicBezTo>
                  <a:close/>
                  <a:moveTo>
                    <a:pt x="44" y="211"/>
                  </a:moveTo>
                  <a:cubicBezTo>
                    <a:pt x="43" y="211"/>
                    <a:pt x="43" y="211"/>
                    <a:pt x="43" y="211"/>
                  </a:cubicBezTo>
                  <a:cubicBezTo>
                    <a:pt x="42" y="210"/>
                    <a:pt x="42" y="210"/>
                    <a:pt x="43" y="210"/>
                  </a:cubicBezTo>
                  <a:cubicBezTo>
                    <a:pt x="44" y="211"/>
                    <a:pt x="44" y="211"/>
                    <a:pt x="44" y="211"/>
                  </a:cubicBezTo>
                  <a:cubicBezTo>
                    <a:pt x="45" y="212"/>
                    <a:pt x="45" y="212"/>
                    <a:pt x="45" y="212"/>
                  </a:cubicBezTo>
                  <a:cubicBezTo>
                    <a:pt x="45" y="211"/>
                    <a:pt x="44" y="211"/>
                    <a:pt x="44" y="211"/>
                  </a:cubicBezTo>
                  <a:close/>
                  <a:moveTo>
                    <a:pt x="620" y="244"/>
                  </a:moveTo>
                  <a:cubicBezTo>
                    <a:pt x="618" y="244"/>
                    <a:pt x="618" y="244"/>
                    <a:pt x="618" y="244"/>
                  </a:cubicBezTo>
                  <a:cubicBezTo>
                    <a:pt x="620" y="244"/>
                    <a:pt x="620" y="244"/>
                    <a:pt x="620" y="244"/>
                  </a:cubicBezTo>
                  <a:cubicBezTo>
                    <a:pt x="622" y="245"/>
                    <a:pt x="622" y="245"/>
                    <a:pt x="622" y="245"/>
                  </a:cubicBezTo>
                  <a:cubicBezTo>
                    <a:pt x="622" y="245"/>
                    <a:pt x="622" y="245"/>
                    <a:pt x="622" y="245"/>
                  </a:cubicBezTo>
                  <a:lnTo>
                    <a:pt x="620" y="244"/>
                  </a:lnTo>
                  <a:close/>
                  <a:moveTo>
                    <a:pt x="840" y="408"/>
                  </a:moveTo>
                  <a:cubicBezTo>
                    <a:pt x="839" y="408"/>
                    <a:pt x="839" y="408"/>
                    <a:pt x="839" y="408"/>
                  </a:cubicBezTo>
                  <a:cubicBezTo>
                    <a:pt x="835" y="400"/>
                    <a:pt x="831" y="392"/>
                    <a:pt x="826" y="384"/>
                  </a:cubicBezTo>
                  <a:cubicBezTo>
                    <a:pt x="834" y="383"/>
                    <a:pt x="837" y="381"/>
                    <a:pt x="835" y="379"/>
                  </a:cubicBezTo>
                  <a:cubicBezTo>
                    <a:pt x="805" y="332"/>
                    <a:pt x="797" y="299"/>
                    <a:pt x="797" y="275"/>
                  </a:cubicBezTo>
                  <a:cubicBezTo>
                    <a:pt x="811" y="283"/>
                    <a:pt x="830" y="294"/>
                    <a:pt x="848" y="305"/>
                  </a:cubicBezTo>
                  <a:cubicBezTo>
                    <a:pt x="867" y="316"/>
                    <a:pt x="885" y="326"/>
                    <a:pt x="899" y="332"/>
                  </a:cubicBezTo>
                  <a:cubicBezTo>
                    <a:pt x="898" y="340"/>
                    <a:pt x="856" y="392"/>
                    <a:pt x="856" y="392"/>
                  </a:cubicBezTo>
                  <a:cubicBezTo>
                    <a:pt x="869" y="394"/>
                    <a:pt x="869" y="394"/>
                    <a:pt x="869" y="394"/>
                  </a:cubicBezTo>
                  <a:cubicBezTo>
                    <a:pt x="869" y="394"/>
                    <a:pt x="869" y="394"/>
                    <a:pt x="869" y="394"/>
                  </a:cubicBezTo>
                  <a:cubicBezTo>
                    <a:pt x="864" y="401"/>
                    <a:pt x="858" y="404"/>
                    <a:pt x="848" y="406"/>
                  </a:cubicBezTo>
                  <a:cubicBezTo>
                    <a:pt x="845" y="407"/>
                    <a:pt x="843" y="407"/>
                    <a:pt x="840" y="408"/>
                  </a:cubicBezTo>
                  <a:close/>
                </a:path>
              </a:pathLst>
            </a:custGeom>
            <a:solidFill>
              <a:schemeClr val="bg1">
                <a:lumMod val="75000"/>
                <a:lumOff val="2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58" name="Freeform 471"/>
            <p:cNvSpPr/>
            <p:nvPr/>
          </p:nvSpPr>
          <p:spPr bwMode="auto">
            <a:xfrm>
              <a:off x="3043" y="1134"/>
              <a:ext cx="402" cy="444"/>
            </a:xfrm>
            <a:custGeom>
              <a:avLst/>
              <a:gdLst>
                <a:gd name="T0" fmla="*/ 25 w 170"/>
                <a:gd name="T1" fmla="*/ 119 h 188"/>
                <a:gd name="T2" fmla="*/ 80 w 170"/>
                <a:gd name="T3" fmla="*/ 143 h 188"/>
                <a:gd name="T4" fmla="*/ 117 w 170"/>
                <a:gd name="T5" fmla="*/ 174 h 188"/>
                <a:gd name="T6" fmla="*/ 152 w 170"/>
                <a:gd name="T7" fmla="*/ 148 h 188"/>
                <a:gd name="T8" fmla="*/ 124 w 170"/>
                <a:gd name="T9" fmla="*/ 68 h 188"/>
                <a:gd name="T10" fmla="*/ 94 w 170"/>
                <a:gd name="T11" fmla="*/ 22 h 188"/>
                <a:gd name="T12" fmla="*/ 25 w 170"/>
                <a:gd name="T13" fmla="*/ 119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0" h="188">
                  <a:moveTo>
                    <a:pt x="25" y="119"/>
                  </a:moveTo>
                  <a:cubicBezTo>
                    <a:pt x="46" y="135"/>
                    <a:pt x="62" y="145"/>
                    <a:pt x="80" y="143"/>
                  </a:cubicBezTo>
                  <a:cubicBezTo>
                    <a:pt x="99" y="141"/>
                    <a:pt x="108" y="160"/>
                    <a:pt x="117" y="174"/>
                  </a:cubicBezTo>
                  <a:cubicBezTo>
                    <a:pt x="126" y="188"/>
                    <a:pt x="170" y="171"/>
                    <a:pt x="152" y="148"/>
                  </a:cubicBezTo>
                  <a:cubicBezTo>
                    <a:pt x="134" y="124"/>
                    <a:pt x="134" y="92"/>
                    <a:pt x="124" y="68"/>
                  </a:cubicBezTo>
                  <a:cubicBezTo>
                    <a:pt x="115" y="45"/>
                    <a:pt x="110" y="40"/>
                    <a:pt x="94" y="22"/>
                  </a:cubicBezTo>
                  <a:cubicBezTo>
                    <a:pt x="78" y="5"/>
                    <a:pt x="0" y="0"/>
                    <a:pt x="25" y="119"/>
                  </a:cubicBezTo>
                  <a:close/>
                </a:path>
              </a:pathLst>
            </a:custGeom>
            <a:solidFill>
              <a:srgbClr val="F2AC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59" name="Freeform 472"/>
            <p:cNvSpPr/>
            <p:nvPr/>
          </p:nvSpPr>
          <p:spPr bwMode="auto">
            <a:xfrm>
              <a:off x="2995" y="980"/>
              <a:ext cx="344" cy="430"/>
            </a:xfrm>
            <a:custGeom>
              <a:avLst/>
              <a:gdLst>
                <a:gd name="T0" fmla="*/ 65 w 145"/>
                <a:gd name="T1" fmla="*/ 1 h 182"/>
                <a:gd name="T2" fmla="*/ 29 w 145"/>
                <a:gd name="T3" fmla="*/ 4 h 182"/>
                <a:gd name="T4" fmla="*/ 6 w 145"/>
                <a:gd name="T5" fmla="*/ 36 h 182"/>
                <a:gd name="T6" fmla="*/ 45 w 145"/>
                <a:gd name="T7" fmla="*/ 154 h 182"/>
                <a:gd name="T8" fmla="*/ 81 w 145"/>
                <a:gd name="T9" fmla="*/ 181 h 182"/>
                <a:gd name="T10" fmla="*/ 116 w 145"/>
                <a:gd name="T11" fmla="*/ 178 h 182"/>
                <a:gd name="T12" fmla="*/ 140 w 145"/>
                <a:gd name="T13" fmla="*/ 146 h 182"/>
                <a:gd name="T14" fmla="*/ 100 w 145"/>
                <a:gd name="T15" fmla="*/ 28 h 182"/>
                <a:gd name="T16" fmla="*/ 65 w 145"/>
                <a:gd name="T17" fmla="*/ 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5" h="182">
                  <a:moveTo>
                    <a:pt x="65" y="1"/>
                  </a:moveTo>
                  <a:cubicBezTo>
                    <a:pt x="29" y="4"/>
                    <a:pt x="29" y="4"/>
                    <a:pt x="29" y="4"/>
                  </a:cubicBezTo>
                  <a:cubicBezTo>
                    <a:pt x="13" y="5"/>
                    <a:pt x="0" y="20"/>
                    <a:pt x="6" y="36"/>
                  </a:cubicBezTo>
                  <a:cubicBezTo>
                    <a:pt x="45" y="154"/>
                    <a:pt x="45" y="154"/>
                    <a:pt x="45" y="154"/>
                  </a:cubicBezTo>
                  <a:cubicBezTo>
                    <a:pt x="51" y="170"/>
                    <a:pt x="65" y="182"/>
                    <a:pt x="81" y="181"/>
                  </a:cubicBezTo>
                  <a:cubicBezTo>
                    <a:pt x="116" y="178"/>
                    <a:pt x="116" y="178"/>
                    <a:pt x="116" y="178"/>
                  </a:cubicBezTo>
                  <a:cubicBezTo>
                    <a:pt x="133" y="176"/>
                    <a:pt x="145" y="162"/>
                    <a:pt x="140" y="146"/>
                  </a:cubicBezTo>
                  <a:cubicBezTo>
                    <a:pt x="100" y="28"/>
                    <a:pt x="100" y="28"/>
                    <a:pt x="100" y="28"/>
                  </a:cubicBezTo>
                  <a:cubicBezTo>
                    <a:pt x="95" y="12"/>
                    <a:pt x="81" y="0"/>
                    <a:pt x="65" y="1"/>
                  </a:cubicBezTo>
                  <a:close/>
                </a:path>
              </a:pathLst>
            </a:custGeom>
            <a:solidFill>
              <a:srgbClr val="5360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60" name="Freeform 473"/>
            <p:cNvSpPr/>
            <p:nvPr/>
          </p:nvSpPr>
          <p:spPr bwMode="auto">
            <a:xfrm>
              <a:off x="4163" y="1084"/>
              <a:ext cx="316" cy="466"/>
            </a:xfrm>
            <a:custGeom>
              <a:avLst/>
              <a:gdLst>
                <a:gd name="T0" fmla="*/ 73 w 133"/>
                <a:gd name="T1" fmla="*/ 29 h 197"/>
                <a:gd name="T2" fmla="*/ 20 w 133"/>
                <a:gd name="T3" fmla="*/ 87 h 197"/>
                <a:gd name="T4" fmla="*/ 133 w 133"/>
                <a:gd name="T5" fmla="*/ 191 h 197"/>
                <a:gd name="T6" fmla="*/ 123 w 133"/>
                <a:gd name="T7" fmla="*/ 0 h 197"/>
                <a:gd name="T8" fmla="*/ 73 w 133"/>
                <a:gd name="T9" fmla="*/ 29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97">
                  <a:moveTo>
                    <a:pt x="73" y="29"/>
                  </a:moveTo>
                  <a:cubicBezTo>
                    <a:pt x="73" y="68"/>
                    <a:pt x="40" y="82"/>
                    <a:pt x="20" y="87"/>
                  </a:cubicBezTo>
                  <a:cubicBezTo>
                    <a:pt x="0" y="92"/>
                    <a:pt x="133" y="197"/>
                    <a:pt x="133" y="191"/>
                  </a:cubicBezTo>
                  <a:cubicBezTo>
                    <a:pt x="133" y="185"/>
                    <a:pt x="123" y="0"/>
                    <a:pt x="123" y="0"/>
                  </a:cubicBezTo>
                  <a:cubicBezTo>
                    <a:pt x="123" y="0"/>
                    <a:pt x="94" y="2"/>
                    <a:pt x="73" y="29"/>
                  </a:cubicBezTo>
                  <a:close/>
                </a:path>
              </a:pathLst>
            </a:custGeom>
            <a:solidFill>
              <a:srgbClr val="F2AC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61" name="Freeform 474"/>
            <p:cNvSpPr/>
            <p:nvPr/>
          </p:nvSpPr>
          <p:spPr bwMode="auto">
            <a:xfrm>
              <a:off x="4410" y="1084"/>
              <a:ext cx="313" cy="466"/>
            </a:xfrm>
            <a:custGeom>
              <a:avLst/>
              <a:gdLst>
                <a:gd name="T0" fmla="*/ 59 w 132"/>
                <a:gd name="T1" fmla="*/ 29 h 197"/>
                <a:gd name="T2" fmla="*/ 112 w 132"/>
                <a:gd name="T3" fmla="*/ 87 h 197"/>
                <a:gd name="T4" fmla="*/ 0 w 132"/>
                <a:gd name="T5" fmla="*/ 191 h 197"/>
                <a:gd name="T6" fmla="*/ 9 w 132"/>
                <a:gd name="T7" fmla="*/ 0 h 197"/>
                <a:gd name="T8" fmla="*/ 59 w 132"/>
                <a:gd name="T9" fmla="*/ 29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97">
                  <a:moveTo>
                    <a:pt x="59" y="29"/>
                  </a:moveTo>
                  <a:cubicBezTo>
                    <a:pt x="59" y="68"/>
                    <a:pt x="92" y="82"/>
                    <a:pt x="112" y="87"/>
                  </a:cubicBezTo>
                  <a:cubicBezTo>
                    <a:pt x="132" y="92"/>
                    <a:pt x="0" y="197"/>
                    <a:pt x="0" y="191"/>
                  </a:cubicBezTo>
                  <a:cubicBezTo>
                    <a:pt x="0" y="185"/>
                    <a:pt x="9" y="0"/>
                    <a:pt x="9" y="0"/>
                  </a:cubicBezTo>
                  <a:cubicBezTo>
                    <a:pt x="9" y="0"/>
                    <a:pt x="38" y="2"/>
                    <a:pt x="59" y="29"/>
                  </a:cubicBezTo>
                  <a:close/>
                </a:path>
              </a:pathLst>
            </a:custGeom>
            <a:solidFill>
              <a:srgbClr val="F2AC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62" name="Rectangle 475"/>
            <p:cNvSpPr>
              <a:spLocks noChangeArrowheads="1"/>
            </p:cNvSpPr>
            <p:nvPr/>
          </p:nvSpPr>
          <p:spPr bwMode="auto">
            <a:xfrm>
              <a:off x="4336" y="715"/>
              <a:ext cx="214" cy="655"/>
            </a:xfrm>
            <a:prstGeom prst="rect">
              <a:avLst/>
            </a:prstGeom>
            <a:solidFill>
              <a:srgbClr val="F2AC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63" name="Freeform 476"/>
            <p:cNvSpPr/>
            <p:nvPr/>
          </p:nvSpPr>
          <p:spPr bwMode="auto">
            <a:xfrm>
              <a:off x="4336" y="949"/>
              <a:ext cx="214" cy="234"/>
            </a:xfrm>
            <a:custGeom>
              <a:avLst/>
              <a:gdLst>
                <a:gd name="T0" fmla="*/ 0 w 214"/>
                <a:gd name="T1" fmla="*/ 0 h 234"/>
                <a:gd name="T2" fmla="*/ 214 w 214"/>
                <a:gd name="T3" fmla="*/ 0 h 234"/>
                <a:gd name="T4" fmla="*/ 214 w 214"/>
                <a:gd name="T5" fmla="*/ 128 h 234"/>
                <a:gd name="T6" fmla="*/ 0 w 214"/>
                <a:gd name="T7" fmla="*/ 234 h 234"/>
                <a:gd name="T8" fmla="*/ 0 w 214"/>
                <a:gd name="T9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234">
                  <a:moveTo>
                    <a:pt x="0" y="0"/>
                  </a:moveTo>
                  <a:lnTo>
                    <a:pt x="214" y="0"/>
                  </a:lnTo>
                  <a:lnTo>
                    <a:pt x="214" y="128"/>
                  </a:lnTo>
                  <a:lnTo>
                    <a:pt x="0" y="2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8C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64" name="Freeform 477"/>
            <p:cNvSpPr/>
            <p:nvPr/>
          </p:nvSpPr>
          <p:spPr bwMode="auto">
            <a:xfrm>
              <a:off x="3851" y="405"/>
              <a:ext cx="206" cy="270"/>
            </a:xfrm>
            <a:custGeom>
              <a:avLst/>
              <a:gdLst>
                <a:gd name="T0" fmla="*/ 28 w 87"/>
                <a:gd name="T1" fmla="*/ 6 h 114"/>
                <a:gd name="T2" fmla="*/ 78 w 87"/>
                <a:gd name="T3" fmla="*/ 48 h 114"/>
                <a:gd name="T4" fmla="*/ 60 w 87"/>
                <a:gd name="T5" fmla="*/ 109 h 114"/>
                <a:gd name="T6" fmla="*/ 9 w 87"/>
                <a:gd name="T7" fmla="*/ 67 h 114"/>
                <a:gd name="T8" fmla="*/ 28 w 87"/>
                <a:gd name="T9" fmla="*/ 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114">
                  <a:moveTo>
                    <a:pt x="28" y="6"/>
                  </a:moveTo>
                  <a:cubicBezTo>
                    <a:pt x="47" y="0"/>
                    <a:pt x="70" y="19"/>
                    <a:pt x="78" y="48"/>
                  </a:cubicBezTo>
                  <a:cubicBezTo>
                    <a:pt x="87" y="76"/>
                    <a:pt x="79" y="104"/>
                    <a:pt x="60" y="109"/>
                  </a:cubicBezTo>
                  <a:cubicBezTo>
                    <a:pt x="40" y="114"/>
                    <a:pt x="18" y="95"/>
                    <a:pt x="9" y="67"/>
                  </a:cubicBezTo>
                  <a:cubicBezTo>
                    <a:pt x="0" y="38"/>
                    <a:pt x="8" y="11"/>
                    <a:pt x="28" y="6"/>
                  </a:cubicBezTo>
                  <a:close/>
                </a:path>
              </a:pathLst>
            </a:custGeom>
            <a:solidFill>
              <a:srgbClr val="F2AC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65" name="Freeform 478"/>
            <p:cNvSpPr/>
            <p:nvPr/>
          </p:nvSpPr>
          <p:spPr bwMode="auto">
            <a:xfrm>
              <a:off x="4829" y="405"/>
              <a:ext cx="206" cy="270"/>
            </a:xfrm>
            <a:custGeom>
              <a:avLst/>
              <a:gdLst>
                <a:gd name="T0" fmla="*/ 60 w 87"/>
                <a:gd name="T1" fmla="*/ 6 h 114"/>
                <a:gd name="T2" fmla="*/ 9 w 87"/>
                <a:gd name="T3" fmla="*/ 48 h 114"/>
                <a:gd name="T4" fmla="*/ 28 w 87"/>
                <a:gd name="T5" fmla="*/ 109 h 114"/>
                <a:gd name="T6" fmla="*/ 79 w 87"/>
                <a:gd name="T7" fmla="*/ 67 h 114"/>
                <a:gd name="T8" fmla="*/ 60 w 87"/>
                <a:gd name="T9" fmla="*/ 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114">
                  <a:moveTo>
                    <a:pt x="60" y="6"/>
                  </a:moveTo>
                  <a:cubicBezTo>
                    <a:pt x="40" y="0"/>
                    <a:pt x="18" y="19"/>
                    <a:pt x="9" y="48"/>
                  </a:cubicBezTo>
                  <a:cubicBezTo>
                    <a:pt x="0" y="76"/>
                    <a:pt x="8" y="104"/>
                    <a:pt x="28" y="109"/>
                  </a:cubicBezTo>
                  <a:cubicBezTo>
                    <a:pt x="47" y="114"/>
                    <a:pt x="70" y="95"/>
                    <a:pt x="79" y="67"/>
                  </a:cubicBezTo>
                  <a:cubicBezTo>
                    <a:pt x="87" y="38"/>
                    <a:pt x="79" y="11"/>
                    <a:pt x="60" y="6"/>
                  </a:cubicBezTo>
                  <a:close/>
                </a:path>
              </a:pathLst>
            </a:custGeom>
            <a:solidFill>
              <a:srgbClr val="F2AC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66" name="Freeform 479"/>
            <p:cNvSpPr/>
            <p:nvPr/>
          </p:nvSpPr>
          <p:spPr bwMode="auto">
            <a:xfrm>
              <a:off x="3922" y="-174"/>
              <a:ext cx="1042" cy="1260"/>
            </a:xfrm>
            <a:custGeom>
              <a:avLst/>
              <a:gdLst>
                <a:gd name="T0" fmla="*/ 223 w 440"/>
                <a:gd name="T1" fmla="*/ 533 h 533"/>
                <a:gd name="T2" fmla="*/ 43 w 440"/>
                <a:gd name="T3" fmla="*/ 435 h 533"/>
                <a:gd name="T4" fmla="*/ 7 w 440"/>
                <a:gd name="T5" fmla="*/ 184 h 533"/>
                <a:gd name="T6" fmla="*/ 220 w 440"/>
                <a:gd name="T7" fmla="*/ 0 h 533"/>
                <a:gd name="T8" fmla="*/ 433 w 440"/>
                <a:gd name="T9" fmla="*/ 184 h 533"/>
                <a:gd name="T10" fmla="*/ 398 w 440"/>
                <a:gd name="T11" fmla="*/ 435 h 533"/>
                <a:gd name="T12" fmla="*/ 223 w 440"/>
                <a:gd name="T13" fmla="*/ 533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0" h="533">
                  <a:moveTo>
                    <a:pt x="223" y="533"/>
                  </a:moveTo>
                  <a:cubicBezTo>
                    <a:pt x="184" y="533"/>
                    <a:pt x="73" y="476"/>
                    <a:pt x="43" y="435"/>
                  </a:cubicBezTo>
                  <a:cubicBezTo>
                    <a:pt x="12" y="394"/>
                    <a:pt x="0" y="248"/>
                    <a:pt x="7" y="184"/>
                  </a:cubicBezTo>
                  <a:cubicBezTo>
                    <a:pt x="15" y="119"/>
                    <a:pt x="87" y="0"/>
                    <a:pt x="220" y="0"/>
                  </a:cubicBezTo>
                  <a:cubicBezTo>
                    <a:pt x="353" y="0"/>
                    <a:pt x="426" y="119"/>
                    <a:pt x="433" y="184"/>
                  </a:cubicBezTo>
                  <a:cubicBezTo>
                    <a:pt x="440" y="248"/>
                    <a:pt x="428" y="394"/>
                    <a:pt x="398" y="435"/>
                  </a:cubicBezTo>
                  <a:cubicBezTo>
                    <a:pt x="367" y="476"/>
                    <a:pt x="262" y="533"/>
                    <a:pt x="223" y="533"/>
                  </a:cubicBezTo>
                  <a:close/>
                </a:path>
              </a:pathLst>
            </a:custGeom>
            <a:solidFill>
              <a:srgbClr val="F2AC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67" name="Freeform 480"/>
            <p:cNvSpPr/>
            <p:nvPr/>
          </p:nvSpPr>
          <p:spPr bwMode="auto">
            <a:xfrm>
              <a:off x="3912" y="-212"/>
              <a:ext cx="1069" cy="951"/>
            </a:xfrm>
            <a:custGeom>
              <a:avLst/>
              <a:gdLst>
                <a:gd name="T0" fmla="*/ 51 w 451"/>
                <a:gd name="T1" fmla="*/ 164 h 402"/>
                <a:gd name="T2" fmla="*/ 196 w 451"/>
                <a:gd name="T3" fmla="*/ 167 h 402"/>
                <a:gd name="T4" fmla="*/ 251 w 451"/>
                <a:gd name="T5" fmla="*/ 170 h 402"/>
                <a:gd name="T6" fmla="*/ 383 w 451"/>
                <a:gd name="T7" fmla="*/ 160 h 402"/>
                <a:gd name="T8" fmla="*/ 419 w 451"/>
                <a:gd name="T9" fmla="*/ 271 h 402"/>
                <a:gd name="T10" fmla="*/ 423 w 451"/>
                <a:gd name="T11" fmla="*/ 386 h 402"/>
                <a:gd name="T12" fmla="*/ 442 w 451"/>
                <a:gd name="T13" fmla="*/ 218 h 402"/>
                <a:gd name="T14" fmla="*/ 226 w 451"/>
                <a:gd name="T15" fmla="*/ 1 h 402"/>
                <a:gd name="T16" fmla="*/ 5 w 451"/>
                <a:gd name="T17" fmla="*/ 186 h 402"/>
                <a:gd name="T18" fmla="*/ 20 w 451"/>
                <a:gd name="T19" fmla="*/ 375 h 402"/>
                <a:gd name="T20" fmla="*/ 51 w 451"/>
                <a:gd name="T21" fmla="*/ 164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51" h="402">
                  <a:moveTo>
                    <a:pt x="51" y="164"/>
                  </a:moveTo>
                  <a:cubicBezTo>
                    <a:pt x="76" y="143"/>
                    <a:pt x="174" y="150"/>
                    <a:pt x="196" y="167"/>
                  </a:cubicBezTo>
                  <a:cubicBezTo>
                    <a:pt x="219" y="185"/>
                    <a:pt x="231" y="185"/>
                    <a:pt x="251" y="170"/>
                  </a:cubicBezTo>
                  <a:cubicBezTo>
                    <a:pt x="271" y="155"/>
                    <a:pt x="346" y="147"/>
                    <a:pt x="383" y="160"/>
                  </a:cubicBezTo>
                  <a:cubicBezTo>
                    <a:pt x="421" y="172"/>
                    <a:pt x="421" y="216"/>
                    <a:pt x="419" y="271"/>
                  </a:cubicBezTo>
                  <a:cubicBezTo>
                    <a:pt x="416" y="326"/>
                    <a:pt x="409" y="358"/>
                    <a:pt x="423" y="386"/>
                  </a:cubicBezTo>
                  <a:cubicBezTo>
                    <a:pt x="431" y="402"/>
                    <a:pt x="439" y="271"/>
                    <a:pt x="442" y="218"/>
                  </a:cubicBezTo>
                  <a:cubicBezTo>
                    <a:pt x="451" y="88"/>
                    <a:pt x="352" y="1"/>
                    <a:pt x="226" y="1"/>
                  </a:cubicBezTo>
                  <a:cubicBezTo>
                    <a:pt x="133" y="0"/>
                    <a:pt x="0" y="55"/>
                    <a:pt x="5" y="186"/>
                  </a:cubicBezTo>
                  <a:cubicBezTo>
                    <a:pt x="8" y="246"/>
                    <a:pt x="5" y="391"/>
                    <a:pt x="20" y="375"/>
                  </a:cubicBezTo>
                  <a:cubicBezTo>
                    <a:pt x="38" y="357"/>
                    <a:pt x="15" y="194"/>
                    <a:pt x="51" y="164"/>
                  </a:cubicBezTo>
                  <a:close/>
                </a:path>
              </a:pathLst>
            </a:custGeom>
            <a:solidFill>
              <a:srgbClr val="381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68" name="Freeform 481"/>
            <p:cNvSpPr/>
            <p:nvPr/>
          </p:nvSpPr>
          <p:spPr bwMode="auto">
            <a:xfrm>
              <a:off x="4351" y="490"/>
              <a:ext cx="165" cy="308"/>
            </a:xfrm>
            <a:custGeom>
              <a:avLst/>
              <a:gdLst>
                <a:gd name="T0" fmla="*/ 21 w 70"/>
                <a:gd name="T1" fmla="*/ 15 h 130"/>
                <a:gd name="T2" fmla="*/ 15 w 70"/>
                <a:gd name="T3" fmla="*/ 69 h 130"/>
                <a:gd name="T4" fmla="*/ 19 w 70"/>
                <a:gd name="T5" fmla="*/ 113 h 130"/>
                <a:gd name="T6" fmla="*/ 58 w 70"/>
                <a:gd name="T7" fmla="*/ 110 h 130"/>
                <a:gd name="T8" fmla="*/ 60 w 70"/>
                <a:gd name="T9" fmla="*/ 117 h 130"/>
                <a:gd name="T10" fmla="*/ 16 w 70"/>
                <a:gd name="T11" fmla="*/ 120 h 130"/>
                <a:gd name="T12" fmla="*/ 9 w 70"/>
                <a:gd name="T13" fmla="*/ 74 h 130"/>
                <a:gd name="T14" fmla="*/ 21 w 70"/>
                <a:gd name="T15" fmla="*/ 15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130">
                  <a:moveTo>
                    <a:pt x="21" y="15"/>
                  </a:moveTo>
                  <a:cubicBezTo>
                    <a:pt x="21" y="36"/>
                    <a:pt x="19" y="51"/>
                    <a:pt x="15" y="69"/>
                  </a:cubicBezTo>
                  <a:cubicBezTo>
                    <a:pt x="12" y="88"/>
                    <a:pt x="2" y="105"/>
                    <a:pt x="19" y="113"/>
                  </a:cubicBezTo>
                  <a:cubicBezTo>
                    <a:pt x="37" y="120"/>
                    <a:pt x="46" y="120"/>
                    <a:pt x="58" y="110"/>
                  </a:cubicBezTo>
                  <a:cubicBezTo>
                    <a:pt x="70" y="100"/>
                    <a:pt x="68" y="110"/>
                    <a:pt x="60" y="117"/>
                  </a:cubicBezTo>
                  <a:cubicBezTo>
                    <a:pt x="51" y="123"/>
                    <a:pt x="31" y="130"/>
                    <a:pt x="16" y="120"/>
                  </a:cubicBezTo>
                  <a:cubicBezTo>
                    <a:pt x="2" y="111"/>
                    <a:pt x="0" y="119"/>
                    <a:pt x="9" y="74"/>
                  </a:cubicBezTo>
                  <a:cubicBezTo>
                    <a:pt x="17" y="30"/>
                    <a:pt x="19" y="0"/>
                    <a:pt x="21" y="15"/>
                  </a:cubicBezTo>
                  <a:close/>
                </a:path>
              </a:pathLst>
            </a:custGeom>
            <a:solidFill>
              <a:srgbClr val="CC8C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69" name="Freeform 482"/>
            <p:cNvSpPr/>
            <p:nvPr/>
          </p:nvSpPr>
          <p:spPr bwMode="auto">
            <a:xfrm>
              <a:off x="4220" y="805"/>
              <a:ext cx="467" cy="71"/>
            </a:xfrm>
            <a:custGeom>
              <a:avLst/>
              <a:gdLst>
                <a:gd name="T0" fmla="*/ 13 w 197"/>
                <a:gd name="T1" fmla="*/ 7 h 30"/>
                <a:gd name="T2" fmla="*/ 62 w 197"/>
                <a:gd name="T3" fmla="*/ 20 h 30"/>
                <a:gd name="T4" fmla="*/ 151 w 197"/>
                <a:gd name="T5" fmla="*/ 16 h 30"/>
                <a:gd name="T6" fmla="*/ 179 w 197"/>
                <a:gd name="T7" fmla="*/ 4 h 30"/>
                <a:gd name="T8" fmla="*/ 177 w 197"/>
                <a:gd name="T9" fmla="*/ 15 h 30"/>
                <a:gd name="T10" fmla="*/ 152 w 197"/>
                <a:gd name="T11" fmla="*/ 23 h 30"/>
                <a:gd name="T12" fmla="*/ 61 w 197"/>
                <a:gd name="T13" fmla="*/ 27 h 30"/>
                <a:gd name="T14" fmla="*/ 15 w 197"/>
                <a:gd name="T15" fmla="*/ 17 h 30"/>
                <a:gd name="T16" fmla="*/ 13 w 197"/>
                <a:gd name="T17" fmla="*/ 7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7" h="30">
                  <a:moveTo>
                    <a:pt x="13" y="7"/>
                  </a:moveTo>
                  <a:cubicBezTo>
                    <a:pt x="24" y="7"/>
                    <a:pt x="27" y="20"/>
                    <a:pt x="62" y="20"/>
                  </a:cubicBezTo>
                  <a:cubicBezTo>
                    <a:pt x="97" y="21"/>
                    <a:pt x="137" y="24"/>
                    <a:pt x="151" y="16"/>
                  </a:cubicBezTo>
                  <a:cubicBezTo>
                    <a:pt x="165" y="7"/>
                    <a:pt x="165" y="8"/>
                    <a:pt x="179" y="4"/>
                  </a:cubicBezTo>
                  <a:cubicBezTo>
                    <a:pt x="193" y="0"/>
                    <a:pt x="197" y="12"/>
                    <a:pt x="177" y="15"/>
                  </a:cubicBezTo>
                  <a:cubicBezTo>
                    <a:pt x="158" y="19"/>
                    <a:pt x="165" y="17"/>
                    <a:pt x="152" y="23"/>
                  </a:cubicBezTo>
                  <a:cubicBezTo>
                    <a:pt x="138" y="30"/>
                    <a:pt x="80" y="29"/>
                    <a:pt x="61" y="27"/>
                  </a:cubicBezTo>
                  <a:cubicBezTo>
                    <a:pt x="43" y="24"/>
                    <a:pt x="27" y="19"/>
                    <a:pt x="15" y="17"/>
                  </a:cubicBezTo>
                  <a:cubicBezTo>
                    <a:pt x="3" y="15"/>
                    <a:pt x="0" y="5"/>
                    <a:pt x="13" y="7"/>
                  </a:cubicBezTo>
                  <a:close/>
                </a:path>
              </a:pathLst>
            </a:custGeom>
            <a:solidFill>
              <a:srgbClr val="CC8C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70" name="Freeform 483"/>
            <p:cNvSpPr/>
            <p:nvPr/>
          </p:nvSpPr>
          <p:spPr bwMode="auto">
            <a:xfrm>
              <a:off x="4329" y="907"/>
              <a:ext cx="209" cy="54"/>
            </a:xfrm>
            <a:custGeom>
              <a:avLst/>
              <a:gdLst>
                <a:gd name="T0" fmla="*/ 14 w 88"/>
                <a:gd name="T1" fmla="*/ 5 h 23"/>
                <a:gd name="T2" fmla="*/ 71 w 88"/>
                <a:gd name="T3" fmla="*/ 6 h 23"/>
                <a:gd name="T4" fmla="*/ 69 w 88"/>
                <a:gd name="T5" fmla="*/ 14 h 23"/>
                <a:gd name="T6" fmla="*/ 18 w 88"/>
                <a:gd name="T7" fmla="*/ 13 h 23"/>
                <a:gd name="T8" fmla="*/ 14 w 88"/>
                <a:gd name="T9" fmla="*/ 5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23">
                  <a:moveTo>
                    <a:pt x="14" y="5"/>
                  </a:moveTo>
                  <a:cubicBezTo>
                    <a:pt x="37" y="14"/>
                    <a:pt x="55" y="13"/>
                    <a:pt x="71" y="6"/>
                  </a:cubicBezTo>
                  <a:cubicBezTo>
                    <a:pt x="87" y="0"/>
                    <a:pt x="88" y="5"/>
                    <a:pt x="69" y="14"/>
                  </a:cubicBezTo>
                  <a:cubicBezTo>
                    <a:pt x="53" y="23"/>
                    <a:pt x="36" y="23"/>
                    <a:pt x="18" y="13"/>
                  </a:cubicBezTo>
                  <a:cubicBezTo>
                    <a:pt x="0" y="4"/>
                    <a:pt x="5" y="0"/>
                    <a:pt x="14" y="5"/>
                  </a:cubicBezTo>
                  <a:close/>
                </a:path>
              </a:pathLst>
            </a:custGeom>
            <a:solidFill>
              <a:srgbClr val="CC8C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71" name="Freeform 484"/>
            <p:cNvSpPr/>
            <p:nvPr/>
          </p:nvSpPr>
          <p:spPr bwMode="auto">
            <a:xfrm>
              <a:off x="3988" y="4324"/>
              <a:ext cx="467" cy="204"/>
            </a:xfrm>
            <a:custGeom>
              <a:avLst/>
              <a:gdLst>
                <a:gd name="T0" fmla="*/ 83 w 197"/>
                <a:gd name="T1" fmla="*/ 25 h 86"/>
                <a:gd name="T2" fmla="*/ 10 w 197"/>
                <a:gd name="T3" fmla="*/ 64 h 86"/>
                <a:gd name="T4" fmla="*/ 45 w 197"/>
                <a:gd name="T5" fmla="*/ 86 h 86"/>
                <a:gd name="T6" fmla="*/ 156 w 197"/>
                <a:gd name="T7" fmla="*/ 65 h 86"/>
                <a:gd name="T8" fmla="*/ 192 w 197"/>
                <a:gd name="T9" fmla="*/ 37 h 86"/>
                <a:gd name="T10" fmla="*/ 83 w 197"/>
                <a:gd name="T11" fmla="*/ 25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7" h="86">
                  <a:moveTo>
                    <a:pt x="83" y="25"/>
                  </a:moveTo>
                  <a:cubicBezTo>
                    <a:pt x="67" y="36"/>
                    <a:pt x="20" y="60"/>
                    <a:pt x="10" y="64"/>
                  </a:cubicBezTo>
                  <a:cubicBezTo>
                    <a:pt x="0" y="68"/>
                    <a:pt x="6" y="85"/>
                    <a:pt x="45" y="86"/>
                  </a:cubicBezTo>
                  <a:cubicBezTo>
                    <a:pt x="70" y="86"/>
                    <a:pt x="121" y="79"/>
                    <a:pt x="156" y="65"/>
                  </a:cubicBezTo>
                  <a:cubicBezTo>
                    <a:pt x="176" y="57"/>
                    <a:pt x="190" y="48"/>
                    <a:pt x="192" y="37"/>
                  </a:cubicBezTo>
                  <a:cubicBezTo>
                    <a:pt x="197" y="6"/>
                    <a:pt x="116" y="0"/>
                    <a:pt x="83" y="25"/>
                  </a:cubicBezTo>
                  <a:close/>
                </a:path>
              </a:pathLst>
            </a:custGeom>
            <a:solidFill>
              <a:srgbClr val="4E27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72" name="Freeform 485"/>
            <p:cNvSpPr/>
            <p:nvPr/>
          </p:nvSpPr>
          <p:spPr bwMode="auto">
            <a:xfrm>
              <a:off x="4559" y="4324"/>
              <a:ext cx="467" cy="204"/>
            </a:xfrm>
            <a:custGeom>
              <a:avLst/>
              <a:gdLst>
                <a:gd name="T0" fmla="*/ 115 w 197"/>
                <a:gd name="T1" fmla="*/ 25 h 86"/>
                <a:gd name="T2" fmla="*/ 188 w 197"/>
                <a:gd name="T3" fmla="*/ 64 h 86"/>
                <a:gd name="T4" fmla="*/ 152 w 197"/>
                <a:gd name="T5" fmla="*/ 86 h 86"/>
                <a:gd name="T6" fmla="*/ 41 w 197"/>
                <a:gd name="T7" fmla="*/ 65 h 86"/>
                <a:gd name="T8" fmla="*/ 6 w 197"/>
                <a:gd name="T9" fmla="*/ 37 h 86"/>
                <a:gd name="T10" fmla="*/ 115 w 197"/>
                <a:gd name="T11" fmla="*/ 25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7" h="86">
                  <a:moveTo>
                    <a:pt x="115" y="25"/>
                  </a:moveTo>
                  <a:cubicBezTo>
                    <a:pt x="130" y="36"/>
                    <a:pt x="178" y="60"/>
                    <a:pt x="188" y="64"/>
                  </a:cubicBezTo>
                  <a:cubicBezTo>
                    <a:pt x="197" y="68"/>
                    <a:pt x="192" y="85"/>
                    <a:pt x="152" y="86"/>
                  </a:cubicBezTo>
                  <a:cubicBezTo>
                    <a:pt x="127" y="86"/>
                    <a:pt x="76" y="79"/>
                    <a:pt x="41" y="65"/>
                  </a:cubicBezTo>
                  <a:cubicBezTo>
                    <a:pt x="22" y="57"/>
                    <a:pt x="7" y="48"/>
                    <a:pt x="6" y="37"/>
                  </a:cubicBezTo>
                  <a:cubicBezTo>
                    <a:pt x="0" y="6"/>
                    <a:pt x="82" y="0"/>
                    <a:pt x="115" y="25"/>
                  </a:cubicBezTo>
                  <a:close/>
                </a:path>
              </a:pathLst>
            </a:custGeom>
            <a:solidFill>
              <a:srgbClr val="4E27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73" name="Freeform 486"/>
            <p:cNvSpPr/>
            <p:nvPr/>
          </p:nvSpPr>
          <p:spPr bwMode="auto">
            <a:xfrm>
              <a:off x="4097" y="2229"/>
              <a:ext cx="723" cy="2169"/>
            </a:xfrm>
            <a:custGeom>
              <a:avLst/>
              <a:gdLst>
                <a:gd name="T0" fmla="*/ 15 w 305"/>
                <a:gd name="T1" fmla="*/ 0 h 917"/>
                <a:gd name="T2" fmla="*/ 20 w 305"/>
                <a:gd name="T3" fmla="*/ 378 h 917"/>
                <a:gd name="T4" fmla="*/ 49 w 305"/>
                <a:gd name="T5" fmla="*/ 806 h 917"/>
                <a:gd name="T6" fmla="*/ 39 w 305"/>
                <a:gd name="T7" fmla="*/ 905 h 917"/>
                <a:gd name="T8" fmla="*/ 89 w 305"/>
                <a:gd name="T9" fmla="*/ 916 h 917"/>
                <a:gd name="T10" fmla="*/ 148 w 305"/>
                <a:gd name="T11" fmla="*/ 917 h 917"/>
                <a:gd name="T12" fmla="*/ 141 w 305"/>
                <a:gd name="T13" fmla="*/ 812 h 917"/>
                <a:gd name="T14" fmla="*/ 128 w 305"/>
                <a:gd name="T15" fmla="*/ 373 h 917"/>
                <a:gd name="T16" fmla="*/ 136 w 305"/>
                <a:gd name="T17" fmla="*/ 199 h 917"/>
                <a:gd name="T18" fmla="*/ 159 w 305"/>
                <a:gd name="T19" fmla="*/ 199 h 917"/>
                <a:gd name="T20" fmla="*/ 179 w 305"/>
                <a:gd name="T21" fmla="*/ 373 h 917"/>
                <a:gd name="T22" fmla="*/ 197 w 305"/>
                <a:gd name="T23" fmla="*/ 812 h 917"/>
                <a:gd name="T24" fmla="*/ 198 w 305"/>
                <a:gd name="T25" fmla="*/ 917 h 917"/>
                <a:gd name="T26" fmla="*/ 256 w 305"/>
                <a:gd name="T27" fmla="*/ 916 h 917"/>
                <a:gd name="T28" fmla="*/ 305 w 305"/>
                <a:gd name="T29" fmla="*/ 905 h 917"/>
                <a:gd name="T30" fmla="*/ 289 w 305"/>
                <a:gd name="T31" fmla="*/ 806 h 917"/>
                <a:gd name="T32" fmla="*/ 288 w 305"/>
                <a:gd name="T33" fmla="*/ 378 h 917"/>
                <a:gd name="T34" fmla="*/ 271 w 305"/>
                <a:gd name="T35" fmla="*/ 0 h 917"/>
                <a:gd name="T36" fmla="*/ 15 w 305"/>
                <a:gd name="T37" fmla="*/ 0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05" h="917">
                  <a:moveTo>
                    <a:pt x="15" y="0"/>
                  </a:moveTo>
                  <a:cubicBezTo>
                    <a:pt x="5" y="78"/>
                    <a:pt x="0" y="232"/>
                    <a:pt x="20" y="378"/>
                  </a:cubicBezTo>
                  <a:cubicBezTo>
                    <a:pt x="39" y="524"/>
                    <a:pt x="49" y="749"/>
                    <a:pt x="49" y="806"/>
                  </a:cubicBezTo>
                  <a:cubicBezTo>
                    <a:pt x="49" y="862"/>
                    <a:pt x="39" y="905"/>
                    <a:pt x="39" y="905"/>
                  </a:cubicBezTo>
                  <a:cubicBezTo>
                    <a:pt x="39" y="905"/>
                    <a:pt x="50" y="916"/>
                    <a:pt x="89" y="916"/>
                  </a:cubicBezTo>
                  <a:cubicBezTo>
                    <a:pt x="128" y="916"/>
                    <a:pt x="148" y="917"/>
                    <a:pt x="148" y="917"/>
                  </a:cubicBezTo>
                  <a:cubicBezTo>
                    <a:pt x="148" y="917"/>
                    <a:pt x="143" y="875"/>
                    <a:pt x="141" y="812"/>
                  </a:cubicBezTo>
                  <a:cubicBezTo>
                    <a:pt x="140" y="749"/>
                    <a:pt x="127" y="470"/>
                    <a:pt x="128" y="373"/>
                  </a:cubicBezTo>
                  <a:cubicBezTo>
                    <a:pt x="130" y="276"/>
                    <a:pt x="124" y="199"/>
                    <a:pt x="136" y="199"/>
                  </a:cubicBezTo>
                  <a:cubicBezTo>
                    <a:pt x="143" y="200"/>
                    <a:pt x="152" y="200"/>
                    <a:pt x="159" y="199"/>
                  </a:cubicBezTo>
                  <a:cubicBezTo>
                    <a:pt x="171" y="199"/>
                    <a:pt x="171" y="276"/>
                    <a:pt x="179" y="373"/>
                  </a:cubicBezTo>
                  <a:cubicBezTo>
                    <a:pt x="187" y="470"/>
                    <a:pt x="194" y="749"/>
                    <a:pt x="197" y="812"/>
                  </a:cubicBezTo>
                  <a:cubicBezTo>
                    <a:pt x="200" y="875"/>
                    <a:pt x="198" y="917"/>
                    <a:pt x="198" y="917"/>
                  </a:cubicBezTo>
                  <a:cubicBezTo>
                    <a:pt x="198" y="917"/>
                    <a:pt x="217" y="916"/>
                    <a:pt x="256" y="916"/>
                  </a:cubicBezTo>
                  <a:cubicBezTo>
                    <a:pt x="295" y="916"/>
                    <a:pt x="305" y="905"/>
                    <a:pt x="305" y="905"/>
                  </a:cubicBezTo>
                  <a:cubicBezTo>
                    <a:pt x="305" y="905"/>
                    <a:pt x="293" y="862"/>
                    <a:pt x="289" y="806"/>
                  </a:cubicBezTo>
                  <a:cubicBezTo>
                    <a:pt x="285" y="749"/>
                    <a:pt x="279" y="524"/>
                    <a:pt x="288" y="378"/>
                  </a:cubicBezTo>
                  <a:cubicBezTo>
                    <a:pt x="297" y="232"/>
                    <a:pt x="286" y="78"/>
                    <a:pt x="271" y="0"/>
                  </a:cubicBezTo>
                  <a:cubicBezTo>
                    <a:pt x="260" y="5"/>
                    <a:pt x="25" y="5"/>
                    <a:pt x="15" y="0"/>
                  </a:cubicBezTo>
                  <a:close/>
                </a:path>
              </a:pathLst>
            </a:custGeom>
            <a:solidFill>
              <a:srgbClr val="53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74" name="Freeform 487"/>
            <p:cNvSpPr/>
            <p:nvPr/>
          </p:nvSpPr>
          <p:spPr bwMode="auto">
            <a:xfrm>
              <a:off x="3990" y="1245"/>
              <a:ext cx="906" cy="1270"/>
            </a:xfrm>
            <a:custGeom>
              <a:avLst/>
              <a:gdLst>
                <a:gd name="T0" fmla="*/ 28 w 382"/>
                <a:gd name="T1" fmla="*/ 45 h 537"/>
                <a:gd name="T2" fmla="*/ 42 w 382"/>
                <a:gd name="T3" fmla="*/ 499 h 537"/>
                <a:gd name="T4" fmla="*/ 191 w 382"/>
                <a:gd name="T5" fmla="*/ 535 h 537"/>
                <a:gd name="T6" fmla="*/ 341 w 382"/>
                <a:gd name="T7" fmla="*/ 499 h 537"/>
                <a:gd name="T8" fmla="*/ 355 w 382"/>
                <a:gd name="T9" fmla="*/ 45 h 537"/>
                <a:gd name="T10" fmla="*/ 253 w 382"/>
                <a:gd name="T11" fmla="*/ 0 h 537"/>
                <a:gd name="T12" fmla="*/ 191 w 382"/>
                <a:gd name="T13" fmla="*/ 116 h 537"/>
                <a:gd name="T14" fmla="*/ 129 w 382"/>
                <a:gd name="T15" fmla="*/ 0 h 537"/>
                <a:gd name="T16" fmla="*/ 28 w 382"/>
                <a:gd name="T17" fmla="*/ 45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2" h="537">
                  <a:moveTo>
                    <a:pt x="28" y="45"/>
                  </a:moveTo>
                  <a:cubicBezTo>
                    <a:pt x="0" y="62"/>
                    <a:pt x="60" y="307"/>
                    <a:pt x="42" y="499"/>
                  </a:cubicBezTo>
                  <a:cubicBezTo>
                    <a:pt x="40" y="518"/>
                    <a:pt x="88" y="537"/>
                    <a:pt x="191" y="535"/>
                  </a:cubicBezTo>
                  <a:cubicBezTo>
                    <a:pt x="294" y="537"/>
                    <a:pt x="342" y="518"/>
                    <a:pt x="341" y="499"/>
                  </a:cubicBezTo>
                  <a:cubicBezTo>
                    <a:pt x="310" y="167"/>
                    <a:pt x="382" y="62"/>
                    <a:pt x="355" y="45"/>
                  </a:cubicBezTo>
                  <a:cubicBezTo>
                    <a:pt x="329" y="28"/>
                    <a:pt x="290" y="11"/>
                    <a:pt x="253" y="0"/>
                  </a:cubicBezTo>
                  <a:cubicBezTo>
                    <a:pt x="251" y="40"/>
                    <a:pt x="231" y="84"/>
                    <a:pt x="191" y="116"/>
                  </a:cubicBezTo>
                  <a:cubicBezTo>
                    <a:pt x="145" y="82"/>
                    <a:pt x="131" y="37"/>
                    <a:pt x="129" y="0"/>
                  </a:cubicBezTo>
                  <a:cubicBezTo>
                    <a:pt x="92" y="11"/>
                    <a:pt x="53" y="28"/>
                    <a:pt x="28" y="45"/>
                  </a:cubicBezTo>
                  <a:close/>
                </a:path>
              </a:pathLst>
            </a:custGeom>
            <a:solidFill>
              <a:srgbClr val="AE2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75" name="Freeform 488"/>
            <p:cNvSpPr/>
            <p:nvPr/>
          </p:nvSpPr>
          <p:spPr bwMode="auto">
            <a:xfrm>
              <a:off x="3488" y="1323"/>
              <a:ext cx="656" cy="534"/>
            </a:xfrm>
            <a:custGeom>
              <a:avLst/>
              <a:gdLst>
                <a:gd name="T0" fmla="*/ 240 w 277"/>
                <a:gd name="T1" fmla="*/ 12 h 226"/>
                <a:gd name="T2" fmla="*/ 21 w 277"/>
                <a:gd name="T3" fmla="*/ 162 h 226"/>
                <a:gd name="T4" fmla="*/ 36 w 277"/>
                <a:gd name="T5" fmla="*/ 213 h 226"/>
                <a:gd name="T6" fmla="*/ 237 w 277"/>
                <a:gd name="T7" fmla="*/ 118 h 226"/>
                <a:gd name="T8" fmla="*/ 240 w 277"/>
                <a:gd name="T9" fmla="*/ 12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7" h="226">
                  <a:moveTo>
                    <a:pt x="240" y="12"/>
                  </a:moveTo>
                  <a:cubicBezTo>
                    <a:pt x="215" y="25"/>
                    <a:pt x="41" y="147"/>
                    <a:pt x="21" y="162"/>
                  </a:cubicBezTo>
                  <a:cubicBezTo>
                    <a:pt x="0" y="177"/>
                    <a:pt x="4" y="226"/>
                    <a:pt x="36" y="213"/>
                  </a:cubicBezTo>
                  <a:cubicBezTo>
                    <a:pt x="69" y="200"/>
                    <a:pt x="198" y="143"/>
                    <a:pt x="237" y="118"/>
                  </a:cubicBezTo>
                  <a:cubicBezTo>
                    <a:pt x="277" y="94"/>
                    <a:pt x="262" y="0"/>
                    <a:pt x="240" y="12"/>
                  </a:cubicBezTo>
                  <a:close/>
                </a:path>
              </a:pathLst>
            </a:custGeom>
            <a:solidFill>
              <a:srgbClr val="AE2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76" name="Freeform 489"/>
            <p:cNvSpPr/>
            <p:nvPr/>
          </p:nvSpPr>
          <p:spPr bwMode="auto">
            <a:xfrm>
              <a:off x="4713" y="1320"/>
              <a:ext cx="412" cy="873"/>
            </a:xfrm>
            <a:custGeom>
              <a:avLst/>
              <a:gdLst>
                <a:gd name="T0" fmla="*/ 53 w 174"/>
                <a:gd name="T1" fmla="*/ 17 h 369"/>
                <a:gd name="T2" fmla="*/ 163 w 174"/>
                <a:gd name="T3" fmla="*/ 304 h 369"/>
                <a:gd name="T4" fmla="*/ 126 w 174"/>
                <a:gd name="T5" fmla="*/ 343 h 369"/>
                <a:gd name="T6" fmla="*/ 24 w 174"/>
                <a:gd name="T7" fmla="*/ 138 h 369"/>
                <a:gd name="T8" fmla="*/ 53 w 174"/>
                <a:gd name="T9" fmla="*/ 17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" h="369">
                  <a:moveTo>
                    <a:pt x="53" y="17"/>
                  </a:moveTo>
                  <a:cubicBezTo>
                    <a:pt x="72" y="35"/>
                    <a:pt x="151" y="282"/>
                    <a:pt x="163" y="304"/>
                  </a:cubicBezTo>
                  <a:cubicBezTo>
                    <a:pt x="174" y="327"/>
                    <a:pt x="149" y="369"/>
                    <a:pt x="126" y="343"/>
                  </a:cubicBezTo>
                  <a:cubicBezTo>
                    <a:pt x="102" y="317"/>
                    <a:pt x="48" y="178"/>
                    <a:pt x="24" y="138"/>
                  </a:cubicBezTo>
                  <a:cubicBezTo>
                    <a:pt x="0" y="98"/>
                    <a:pt x="35" y="0"/>
                    <a:pt x="53" y="17"/>
                  </a:cubicBezTo>
                  <a:close/>
                </a:path>
              </a:pathLst>
            </a:custGeom>
            <a:solidFill>
              <a:srgbClr val="AE2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77" name="Freeform 490"/>
            <p:cNvSpPr/>
            <p:nvPr/>
          </p:nvSpPr>
          <p:spPr bwMode="auto">
            <a:xfrm>
              <a:off x="4699" y="2477"/>
              <a:ext cx="246" cy="499"/>
            </a:xfrm>
            <a:custGeom>
              <a:avLst/>
              <a:gdLst>
                <a:gd name="T0" fmla="*/ 95 w 104"/>
                <a:gd name="T1" fmla="*/ 28 h 211"/>
                <a:gd name="T2" fmla="*/ 92 w 104"/>
                <a:gd name="T3" fmla="*/ 93 h 211"/>
                <a:gd name="T4" fmla="*/ 88 w 104"/>
                <a:gd name="T5" fmla="*/ 168 h 211"/>
                <a:gd name="T6" fmla="*/ 71 w 104"/>
                <a:gd name="T7" fmla="*/ 187 h 211"/>
                <a:gd name="T8" fmla="*/ 51 w 104"/>
                <a:gd name="T9" fmla="*/ 197 h 211"/>
                <a:gd name="T10" fmla="*/ 33 w 104"/>
                <a:gd name="T11" fmla="*/ 191 h 211"/>
                <a:gd name="T12" fmla="*/ 24 w 104"/>
                <a:gd name="T13" fmla="*/ 167 h 211"/>
                <a:gd name="T14" fmla="*/ 33 w 104"/>
                <a:gd name="T15" fmla="*/ 100 h 211"/>
                <a:gd name="T16" fmla="*/ 10 w 104"/>
                <a:gd name="T17" fmla="*/ 138 h 211"/>
                <a:gd name="T18" fmla="*/ 11 w 104"/>
                <a:gd name="T19" fmla="*/ 98 h 211"/>
                <a:gd name="T20" fmla="*/ 35 w 104"/>
                <a:gd name="T21" fmla="*/ 63 h 211"/>
                <a:gd name="T22" fmla="*/ 69 w 104"/>
                <a:gd name="T23" fmla="*/ 23 h 211"/>
                <a:gd name="T24" fmla="*/ 95 w 104"/>
                <a:gd name="T25" fmla="*/ 28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4" h="211">
                  <a:moveTo>
                    <a:pt x="95" y="28"/>
                  </a:moveTo>
                  <a:cubicBezTo>
                    <a:pt x="87" y="46"/>
                    <a:pt x="84" y="73"/>
                    <a:pt x="92" y="93"/>
                  </a:cubicBezTo>
                  <a:cubicBezTo>
                    <a:pt x="101" y="113"/>
                    <a:pt x="92" y="152"/>
                    <a:pt x="88" y="168"/>
                  </a:cubicBezTo>
                  <a:cubicBezTo>
                    <a:pt x="84" y="184"/>
                    <a:pt x="73" y="191"/>
                    <a:pt x="71" y="187"/>
                  </a:cubicBezTo>
                  <a:cubicBezTo>
                    <a:pt x="70" y="205"/>
                    <a:pt x="53" y="210"/>
                    <a:pt x="51" y="197"/>
                  </a:cubicBezTo>
                  <a:cubicBezTo>
                    <a:pt x="43" y="209"/>
                    <a:pt x="27" y="211"/>
                    <a:pt x="33" y="191"/>
                  </a:cubicBezTo>
                  <a:cubicBezTo>
                    <a:pt x="15" y="202"/>
                    <a:pt x="21" y="175"/>
                    <a:pt x="24" y="167"/>
                  </a:cubicBezTo>
                  <a:cubicBezTo>
                    <a:pt x="30" y="150"/>
                    <a:pt x="41" y="106"/>
                    <a:pt x="33" y="100"/>
                  </a:cubicBezTo>
                  <a:cubicBezTo>
                    <a:pt x="24" y="92"/>
                    <a:pt x="20" y="141"/>
                    <a:pt x="10" y="138"/>
                  </a:cubicBezTo>
                  <a:cubicBezTo>
                    <a:pt x="0" y="135"/>
                    <a:pt x="4" y="112"/>
                    <a:pt x="11" y="98"/>
                  </a:cubicBezTo>
                  <a:cubicBezTo>
                    <a:pt x="17" y="83"/>
                    <a:pt x="20" y="69"/>
                    <a:pt x="35" y="63"/>
                  </a:cubicBezTo>
                  <a:cubicBezTo>
                    <a:pt x="51" y="57"/>
                    <a:pt x="60" y="47"/>
                    <a:pt x="69" y="23"/>
                  </a:cubicBezTo>
                  <a:cubicBezTo>
                    <a:pt x="79" y="0"/>
                    <a:pt x="104" y="11"/>
                    <a:pt x="95" y="28"/>
                  </a:cubicBezTo>
                  <a:close/>
                </a:path>
              </a:pathLst>
            </a:custGeom>
            <a:solidFill>
              <a:srgbClr val="F2AC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78" name="Freeform 491"/>
            <p:cNvSpPr/>
            <p:nvPr/>
          </p:nvSpPr>
          <p:spPr bwMode="auto">
            <a:xfrm>
              <a:off x="4521" y="2572"/>
              <a:ext cx="258" cy="380"/>
            </a:xfrm>
            <a:custGeom>
              <a:avLst/>
              <a:gdLst>
                <a:gd name="T0" fmla="*/ 88 w 258"/>
                <a:gd name="T1" fmla="*/ 0 h 380"/>
                <a:gd name="T2" fmla="*/ 258 w 258"/>
                <a:gd name="T3" fmla="*/ 158 h 380"/>
                <a:gd name="T4" fmla="*/ 183 w 258"/>
                <a:gd name="T5" fmla="*/ 380 h 380"/>
                <a:gd name="T6" fmla="*/ 0 w 258"/>
                <a:gd name="T7" fmla="*/ 194 h 380"/>
                <a:gd name="T8" fmla="*/ 88 w 258"/>
                <a:gd name="T9" fmla="*/ 0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8" h="380">
                  <a:moveTo>
                    <a:pt x="88" y="0"/>
                  </a:moveTo>
                  <a:lnTo>
                    <a:pt x="258" y="158"/>
                  </a:lnTo>
                  <a:lnTo>
                    <a:pt x="183" y="380"/>
                  </a:lnTo>
                  <a:lnTo>
                    <a:pt x="0" y="194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53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79" name="Freeform 492"/>
            <p:cNvSpPr/>
            <p:nvPr/>
          </p:nvSpPr>
          <p:spPr bwMode="auto">
            <a:xfrm>
              <a:off x="4834" y="1947"/>
              <a:ext cx="308" cy="618"/>
            </a:xfrm>
            <a:custGeom>
              <a:avLst/>
              <a:gdLst>
                <a:gd name="T0" fmla="*/ 115 w 130"/>
                <a:gd name="T1" fmla="*/ 83 h 261"/>
                <a:gd name="T2" fmla="*/ 49 w 130"/>
                <a:gd name="T3" fmla="*/ 261 h 261"/>
                <a:gd name="T4" fmla="*/ 0 w 130"/>
                <a:gd name="T5" fmla="*/ 242 h 261"/>
                <a:gd name="T6" fmla="*/ 66 w 130"/>
                <a:gd name="T7" fmla="*/ 64 h 261"/>
                <a:gd name="T8" fmla="*/ 115 w 130"/>
                <a:gd name="T9" fmla="*/ 83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261">
                  <a:moveTo>
                    <a:pt x="115" y="83"/>
                  </a:moveTo>
                  <a:cubicBezTo>
                    <a:pt x="106" y="114"/>
                    <a:pt x="49" y="261"/>
                    <a:pt x="49" y="261"/>
                  </a:cubicBezTo>
                  <a:cubicBezTo>
                    <a:pt x="0" y="242"/>
                    <a:pt x="0" y="242"/>
                    <a:pt x="0" y="242"/>
                  </a:cubicBezTo>
                  <a:cubicBezTo>
                    <a:pt x="0" y="242"/>
                    <a:pt x="63" y="85"/>
                    <a:pt x="66" y="64"/>
                  </a:cubicBezTo>
                  <a:cubicBezTo>
                    <a:pt x="75" y="0"/>
                    <a:pt x="130" y="30"/>
                    <a:pt x="115" y="83"/>
                  </a:cubicBezTo>
                  <a:close/>
                </a:path>
              </a:pathLst>
            </a:custGeom>
            <a:solidFill>
              <a:srgbClr val="AE2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80" name="Oval 493"/>
            <p:cNvSpPr>
              <a:spLocks noChangeArrowheads="1"/>
            </p:cNvSpPr>
            <p:nvPr/>
          </p:nvSpPr>
          <p:spPr bwMode="auto">
            <a:xfrm>
              <a:off x="4590" y="481"/>
              <a:ext cx="92" cy="132"/>
            </a:xfrm>
            <a:prstGeom prst="ellipse">
              <a:avLst/>
            </a:prstGeom>
            <a:solidFill>
              <a:srgbClr val="222A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81" name="Oval 494"/>
            <p:cNvSpPr>
              <a:spLocks noChangeArrowheads="1"/>
            </p:cNvSpPr>
            <p:nvPr/>
          </p:nvSpPr>
          <p:spPr bwMode="auto">
            <a:xfrm>
              <a:off x="4630" y="495"/>
              <a:ext cx="40" cy="5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82" name="Freeform 495"/>
            <p:cNvSpPr/>
            <p:nvPr/>
          </p:nvSpPr>
          <p:spPr bwMode="auto">
            <a:xfrm>
              <a:off x="4533" y="407"/>
              <a:ext cx="227" cy="55"/>
            </a:xfrm>
            <a:custGeom>
              <a:avLst/>
              <a:gdLst>
                <a:gd name="T0" fmla="*/ 17 w 96"/>
                <a:gd name="T1" fmla="*/ 21 h 23"/>
                <a:gd name="T2" fmla="*/ 73 w 96"/>
                <a:gd name="T3" fmla="*/ 18 h 23"/>
                <a:gd name="T4" fmla="*/ 75 w 96"/>
                <a:gd name="T5" fmla="*/ 9 h 23"/>
                <a:gd name="T6" fmla="*/ 18 w 96"/>
                <a:gd name="T7" fmla="*/ 1 h 23"/>
                <a:gd name="T8" fmla="*/ 17 w 96"/>
                <a:gd name="T9" fmla="*/ 2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23">
                  <a:moveTo>
                    <a:pt x="17" y="21"/>
                  </a:moveTo>
                  <a:cubicBezTo>
                    <a:pt x="34" y="20"/>
                    <a:pt x="55" y="15"/>
                    <a:pt x="73" y="18"/>
                  </a:cubicBezTo>
                  <a:cubicBezTo>
                    <a:pt x="91" y="22"/>
                    <a:pt x="96" y="17"/>
                    <a:pt x="75" y="9"/>
                  </a:cubicBezTo>
                  <a:cubicBezTo>
                    <a:pt x="56" y="2"/>
                    <a:pt x="38" y="0"/>
                    <a:pt x="18" y="1"/>
                  </a:cubicBezTo>
                  <a:cubicBezTo>
                    <a:pt x="0" y="2"/>
                    <a:pt x="2" y="23"/>
                    <a:pt x="17" y="21"/>
                  </a:cubicBezTo>
                  <a:close/>
                </a:path>
              </a:pathLst>
            </a:custGeom>
            <a:solidFill>
              <a:srgbClr val="381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83" name="Oval 496"/>
            <p:cNvSpPr>
              <a:spLocks noChangeArrowheads="1"/>
            </p:cNvSpPr>
            <p:nvPr/>
          </p:nvSpPr>
          <p:spPr bwMode="auto">
            <a:xfrm>
              <a:off x="4201" y="481"/>
              <a:ext cx="93" cy="132"/>
            </a:xfrm>
            <a:prstGeom prst="ellipse">
              <a:avLst/>
            </a:prstGeom>
            <a:solidFill>
              <a:srgbClr val="222A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84" name="Oval 497"/>
            <p:cNvSpPr>
              <a:spLocks noChangeArrowheads="1"/>
            </p:cNvSpPr>
            <p:nvPr/>
          </p:nvSpPr>
          <p:spPr bwMode="auto">
            <a:xfrm>
              <a:off x="4242" y="495"/>
              <a:ext cx="37" cy="5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85" name="Freeform 498"/>
            <p:cNvSpPr/>
            <p:nvPr/>
          </p:nvSpPr>
          <p:spPr bwMode="auto">
            <a:xfrm>
              <a:off x="4123" y="407"/>
              <a:ext cx="228" cy="55"/>
            </a:xfrm>
            <a:custGeom>
              <a:avLst/>
              <a:gdLst>
                <a:gd name="T0" fmla="*/ 79 w 96"/>
                <a:gd name="T1" fmla="*/ 21 h 23"/>
                <a:gd name="T2" fmla="*/ 23 w 96"/>
                <a:gd name="T3" fmla="*/ 18 h 23"/>
                <a:gd name="T4" fmla="*/ 21 w 96"/>
                <a:gd name="T5" fmla="*/ 9 h 23"/>
                <a:gd name="T6" fmla="*/ 78 w 96"/>
                <a:gd name="T7" fmla="*/ 1 h 23"/>
                <a:gd name="T8" fmla="*/ 79 w 96"/>
                <a:gd name="T9" fmla="*/ 2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23">
                  <a:moveTo>
                    <a:pt x="79" y="21"/>
                  </a:moveTo>
                  <a:cubicBezTo>
                    <a:pt x="62" y="20"/>
                    <a:pt x="41" y="15"/>
                    <a:pt x="23" y="18"/>
                  </a:cubicBezTo>
                  <a:cubicBezTo>
                    <a:pt x="5" y="22"/>
                    <a:pt x="0" y="17"/>
                    <a:pt x="21" y="9"/>
                  </a:cubicBezTo>
                  <a:cubicBezTo>
                    <a:pt x="39" y="2"/>
                    <a:pt x="58" y="0"/>
                    <a:pt x="78" y="1"/>
                  </a:cubicBezTo>
                  <a:cubicBezTo>
                    <a:pt x="96" y="2"/>
                    <a:pt x="94" y="23"/>
                    <a:pt x="79" y="21"/>
                  </a:cubicBezTo>
                  <a:close/>
                </a:path>
              </a:pathLst>
            </a:custGeom>
            <a:solidFill>
              <a:srgbClr val="381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86" name="Freeform 499"/>
            <p:cNvSpPr/>
            <p:nvPr/>
          </p:nvSpPr>
          <p:spPr bwMode="auto">
            <a:xfrm>
              <a:off x="4054" y="1342"/>
              <a:ext cx="761" cy="1173"/>
            </a:xfrm>
            <a:custGeom>
              <a:avLst/>
              <a:gdLst>
                <a:gd name="T0" fmla="*/ 0 w 321"/>
                <a:gd name="T1" fmla="*/ 117 h 496"/>
                <a:gd name="T2" fmla="*/ 15 w 321"/>
                <a:gd name="T3" fmla="*/ 458 h 496"/>
                <a:gd name="T4" fmla="*/ 165 w 321"/>
                <a:gd name="T5" fmla="*/ 494 h 496"/>
                <a:gd name="T6" fmla="*/ 314 w 321"/>
                <a:gd name="T7" fmla="*/ 458 h 496"/>
                <a:gd name="T8" fmla="*/ 309 w 321"/>
                <a:gd name="T9" fmla="*/ 200 h 496"/>
                <a:gd name="T10" fmla="*/ 313 w 321"/>
                <a:gd name="T11" fmla="*/ 168 h 496"/>
                <a:gd name="T12" fmla="*/ 314 w 321"/>
                <a:gd name="T13" fmla="*/ 34 h 496"/>
                <a:gd name="T14" fmla="*/ 298 w 321"/>
                <a:gd name="T15" fmla="*/ 99 h 496"/>
                <a:gd name="T16" fmla="*/ 291 w 321"/>
                <a:gd name="T17" fmla="*/ 274 h 496"/>
                <a:gd name="T18" fmla="*/ 293 w 321"/>
                <a:gd name="T19" fmla="*/ 455 h 496"/>
                <a:gd name="T20" fmla="*/ 160 w 321"/>
                <a:gd name="T21" fmla="*/ 484 h 496"/>
                <a:gd name="T22" fmla="*/ 63 w 321"/>
                <a:gd name="T23" fmla="*/ 476 h 496"/>
                <a:gd name="T24" fmla="*/ 37 w 321"/>
                <a:gd name="T25" fmla="*/ 403 h 496"/>
                <a:gd name="T26" fmla="*/ 22 w 321"/>
                <a:gd name="T27" fmla="*/ 214 h 496"/>
                <a:gd name="T28" fmla="*/ 8 w 321"/>
                <a:gd name="T29" fmla="*/ 32 h 496"/>
                <a:gd name="T30" fmla="*/ 1 w 321"/>
                <a:gd name="T31" fmla="*/ 70 h 496"/>
                <a:gd name="T32" fmla="*/ 0 w 321"/>
                <a:gd name="T33" fmla="*/ 117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1" h="496">
                  <a:moveTo>
                    <a:pt x="0" y="117"/>
                  </a:moveTo>
                  <a:cubicBezTo>
                    <a:pt x="9" y="210"/>
                    <a:pt x="26" y="343"/>
                    <a:pt x="15" y="458"/>
                  </a:cubicBezTo>
                  <a:cubicBezTo>
                    <a:pt x="13" y="477"/>
                    <a:pt x="61" y="496"/>
                    <a:pt x="165" y="494"/>
                  </a:cubicBezTo>
                  <a:cubicBezTo>
                    <a:pt x="268" y="496"/>
                    <a:pt x="316" y="477"/>
                    <a:pt x="314" y="458"/>
                  </a:cubicBezTo>
                  <a:cubicBezTo>
                    <a:pt x="307" y="384"/>
                    <a:pt x="302" y="273"/>
                    <a:pt x="309" y="200"/>
                  </a:cubicBezTo>
                  <a:cubicBezTo>
                    <a:pt x="310" y="189"/>
                    <a:pt x="312" y="178"/>
                    <a:pt x="313" y="168"/>
                  </a:cubicBezTo>
                  <a:cubicBezTo>
                    <a:pt x="311" y="129"/>
                    <a:pt x="308" y="68"/>
                    <a:pt x="314" y="34"/>
                  </a:cubicBezTo>
                  <a:cubicBezTo>
                    <a:pt x="321" y="0"/>
                    <a:pt x="299" y="56"/>
                    <a:pt x="298" y="99"/>
                  </a:cubicBezTo>
                  <a:cubicBezTo>
                    <a:pt x="296" y="142"/>
                    <a:pt x="290" y="221"/>
                    <a:pt x="291" y="274"/>
                  </a:cubicBezTo>
                  <a:cubicBezTo>
                    <a:pt x="293" y="328"/>
                    <a:pt x="300" y="425"/>
                    <a:pt x="293" y="455"/>
                  </a:cubicBezTo>
                  <a:cubicBezTo>
                    <a:pt x="285" y="486"/>
                    <a:pt x="188" y="484"/>
                    <a:pt x="160" y="484"/>
                  </a:cubicBezTo>
                  <a:cubicBezTo>
                    <a:pt x="133" y="484"/>
                    <a:pt x="89" y="487"/>
                    <a:pt x="63" y="476"/>
                  </a:cubicBezTo>
                  <a:cubicBezTo>
                    <a:pt x="37" y="465"/>
                    <a:pt x="34" y="447"/>
                    <a:pt x="37" y="403"/>
                  </a:cubicBezTo>
                  <a:cubicBezTo>
                    <a:pt x="40" y="359"/>
                    <a:pt x="26" y="269"/>
                    <a:pt x="22" y="214"/>
                  </a:cubicBezTo>
                  <a:cubicBezTo>
                    <a:pt x="17" y="159"/>
                    <a:pt x="8" y="69"/>
                    <a:pt x="8" y="32"/>
                  </a:cubicBezTo>
                  <a:cubicBezTo>
                    <a:pt x="5" y="16"/>
                    <a:pt x="1" y="45"/>
                    <a:pt x="1" y="70"/>
                  </a:cubicBezTo>
                  <a:cubicBezTo>
                    <a:pt x="1" y="81"/>
                    <a:pt x="1" y="99"/>
                    <a:pt x="0" y="117"/>
                  </a:cubicBezTo>
                  <a:close/>
                </a:path>
              </a:pathLst>
            </a:custGeom>
            <a:solidFill>
              <a:srgbClr val="7A1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87" name="Freeform 500"/>
            <p:cNvSpPr/>
            <p:nvPr/>
          </p:nvSpPr>
          <p:spPr bwMode="auto">
            <a:xfrm>
              <a:off x="3500" y="1415"/>
              <a:ext cx="569" cy="433"/>
            </a:xfrm>
            <a:custGeom>
              <a:avLst/>
              <a:gdLst>
                <a:gd name="T0" fmla="*/ 4 w 240"/>
                <a:gd name="T1" fmla="*/ 142 h 183"/>
                <a:gd name="T2" fmla="*/ 31 w 240"/>
                <a:gd name="T3" fmla="*/ 174 h 183"/>
                <a:gd name="T4" fmla="*/ 232 w 240"/>
                <a:gd name="T5" fmla="*/ 79 h 183"/>
                <a:gd name="T6" fmla="*/ 237 w 240"/>
                <a:gd name="T7" fmla="*/ 76 h 183"/>
                <a:gd name="T8" fmla="*/ 238 w 240"/>
                <a:gd name="T9" fmla="*/ 11 h 183"/>
                <a:gd name="T10" fmla="*/ 218 w 240"/>
                <a:gd name="T11" fmla="*/ 77 h 183"/>
                <a:gd name="T12" fmla="*/ 96 w 240"/>
                <a:gd name="T13" fmla="*/ 138 h 183"/>
                <a:gd name="T14" fmla="*/ 12 w 240"/>
                <a:gd name="T15" fmla="*/ 155 h 183"/>
                <a:gd name="T16" fmla="*/ 4 w 240"/>
                <a:gd name="T17" fmla="*/ 142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0" h="183">
                  <a:moveTo>
                    <a:pt x="4" y="142"/>
                  </a:moveTo>
                  <a:cubicBezTo>
                    <a:pt x="0" y="161"/>
                    <a:pt x="8" y="183"/>
                    <a:pt x="31" y="174"/>
                  </a:cubicBezTo>
                  <a:cubicBezTo>
                    <a:pt x="64" y="161"/>
                    <a:pt x="193" y="104"/>
                    <a:pt x="232" y="79"/>
                  </a:cubicBezTo>
                  <a:cubicBezTo>
                    <a:pt x="234" y="78"/>
                    <a:pt x="236" y="77"/>
                    <a:pt x="237" y="76"/>
                  </a:cubicBezTo>
                  <a:cubicBezTo>
                    <a:pt x="240" y="35"/>
                    <a:pt x="240" y="0"/>
                    <a:pt x="238" y="11"/>
                  </a:cubicBezTo>
                  <a:cubicBezTo>
                    <a:pt x="234" y="30"/>
                    <a:pt x="232" y="67"/>
                    <a:pt x="218" y="77"/>
                  </a:cubicBezTo>
                  <a:cubicBezTo>
                    <a:pt x="204" y="87"/>
                    <a:pt x="131" y="120"/>
                    <a:pt x="96" y="138"/>
                  </a:cubicBezTo>
                  <a:cubicBezTo>
                    <a:pt x="61" y="155"/>
                    <a:pt x="25" y="170"/>
                    <a:pt x="12" y="155"/>
                  </a:cubicBezTo>
                  <a:cubicBezTo>
                    <a:pt x="10" y="153"/>
                    <a:pt x="7" y="148"/>
                    <a:pt x="4" y="142"/>
                  </a:cubicBezTo>
                  <a:close/>
                </a:path>
              </a:pathLst>
            </a:custGeom>
            <a:solidFill>
              <a:srgbClr val="7A1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88" name="Freeform 501"/>
            <p:cNvSpPr/>
            <p:nvPr/>
          </p:nvSpPr>
          <p:spPr bwMode="auto">
            <a:xfrm>
              <a:off x="4834" y="2025"/>
              <a:ext cx="187" cy="540"/>
            </a:xfrm>
            <a:custGeom>
              <a:avLst/>
              <a:gdLst>
                <a:gd name="T0" fmla="*/ 49 w 79"/>
                <a:gd name="T1" fmla="*/ 227 h 228"/>
                <a:gd name="T2" fmla="*/ 49 w 79"/>
                <a:gd name="T3" fmla="*/ 228 h 228"/>
                <a:gd name="T4" fmla="*/ 0 w 79"/>
                <a:gd name="T5" fmla="*/ 209 h 228"/>
                <a:gd name="T6" fmla="*/ 66 w 79"/>
                <a:gd name="T7" fmla="*/ 31 h 228"/>
                <a:gd name="T8" fmla="*/ 65 w 79"/>
                <a:gd name="T9" fmla="*/ 0 h 228"/>
                <a:gd name="T10" fmla="*/ 78 w 79"/>
                <a:gd name="T11" fmla="*/ 33 h 228"/>
                <a:gd name="T12" fmla="*/ 52 w 79"/>
                <a:gd name="T13" fmla="*/ 102 h 228"/>
                <a:gd name="T14" fmla="*/ 24 w 79"/>
                <a:gd name="T15" fmla="*/ 204 h 228"/>
                <a:gd name="T16" fmla="*/ 49 w 79"/>
                <a:gd name="T17" fmla="*/ 227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228">
                  <a:moveTo>
                    <a:pt x="49" y="227"/>
                  </a:moveTo>
                  <a:cubicBezTo>
                    <a:pt x="49" y="228"/>
                    <a:pt x="49" y="228"/>
                    <a:pt x="49" y="228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0" y="209"/>
                    <a:pt x="63" y="52"/>
                    <a:pt x="66" y="31"/>
                  </a:cubicBezTo>
                  <a:cubicBezTo>
                    <a:pt x="68" y="13"/>
                    <a:pt x="58" y="4"/>
                    <a:pt x="65" y="0"/>
                  </a:cubicBezTo>
                  <a:cubicBezTo>
                    <a:pt x="65" y="10"/>
                    <a:pt x="77" y="21"/>
                    <a:pt x="78" y="33"/>
                  </a:cubicBezTo>
                  <a:cubicBezTo>
                    <a:pt x="79" y="45"/>
                    <a:pt x="62" y="73"/>
                    <a:pt x="52" y="102"/>
                  </a:cubicBezTo>
                  <a:cubicBezTo>
                    <a:pt x="42" y="132"/>
                    <a:pt x="11" y="200"/>
                    <a:pt x="24" y="204"/>
                  </a:cubicBezTo>
                  <a:cubicBezTo>
                    <a:pt x="35" y="208"/>
                    <a:pt x="39" y="220"/>
                    <a:pt x="49" y="227"/>
                  </a:cubicBezTo>
                  <a:close/>
                </a:path>
              </a:pathLst>
            </a:custGeom>
            <a:solidFill>
              <a:srgbClr val="7A1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89" name="Freeform 502"/>
            <p:cNvSpPr/>
            <p:nvPr/>
          </p:nvSpPr>
          <p:spPr bwMode="auto">
            <a:xfrm>
              <a:off x="4768" y="1604"/>
              <a:ext cx="237" cy="504"/>
            </a:xfrm>
            <a:custGeom>
              <a:avLst/>
              <a:gdLst>
                <a:gd name="T0" fmla="*/ 100 w 100"/>
                <a:gd name="T1" fmla="*/ 213 h 213"/>
                <a:gd name="T2" fmla="*/ 96 w 100"/>
                <a:gd name="T3" fmla="*/ 209 h 213"/>
                <a:gd name="T4" fmla="*/ 0 w 100"/>
                <a:gd name="T5" fmla="*/ 13 h 213"/>
                <a:gd name="T6" fmla="*/ 9 w 100"/>
                <a:gd name="T7" fmla="*/ 0 h 213"/>
                <a:gd name="T8" fmla="*/ 92 w 100"/>
                <a:gd name="T9" fmla="*/ 177 h 213"/>
                <a:gd name="T10" fmla="*/ 100 w 100"/>
                <a:gd name="T11" fmla="*/ 213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0" h="213">
                  <a:moveTo>
                    <a:pt x="100" y="213"/>
                  </a:moveTo>
                  <a:cubicBezTo>
                    <a:pt x="99" y="212"/>
                    <a:pt x="97" y="211"/>
                    <a:pt x="96" y="209"/>
                  </a:cubicBezTo>
                  <a:cubicBezTo>
                    <a:pt x="78" y="189"/>
                    <a:pt x="27" y="70"/>
                    <a:pt x="0" y="13"/>
                  </a:cubicBezTo>
                  <a:cubicBezTo>
                    <a:pt x="2" y="8"/>
                    <a:pt x="5" y="4"/>
                    <a:pt x="9" y="0"/>
                  </a:cubicBezTo>
                  <a:cubicBezTo>
                    <a:pt x="28" y="52"/>
                    <a:pt x="84" y="164"/>
                    <a:pt x="92" y="177"/>
                  </a:cubicBezTo>
                  <a:cubicBezTo>
                    <a:pt x="100" y="190"/>
                    <a:pt x="99" y="198"/>
                    <a:pt x="100" y="213"/>
                  </a:cubicBezTo>
                  <a:close/>
                </a:path>
              </a:pathLst>
            </a:custGeom>
            <a:solidFill>
              <a:srgbClr val="7A1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90" name="Freeform 503"/>
            <p:cNvSpPr/>
            <p:nvPr/>
          </p:nvSpPr>
          <p:spPr bwMode="auto">
            <a:xfrm>
              <a:off x="3280" y="1441"/>
              <a:ext cx="367" cy="466"/>
            </a:xfrm>
            <a:custGeom>
              <a:avLst/>
              <a:gdLst>
                <a:gd name="T0" fmla="*/ 126 w 155"/>
                <a:gd name="T1" fmla="*/ 108 h 197"/>
                <a:gd name="T2" fmla="*/ 40 w 155"/>
                <a:gd name="T3" fmla="*/ 0 h 197"/>
                <a:gd name="T4" fmla="*/ 0 w 155"/>
                <a:gd name="T5" fmla="*/ 32 h 197"/>
                <a:gd name="T6" fmla="*/ 78 w 155"/>
                <a:gd name="T7" fmla="*/ 144 h 197"/>
                <a:gd name="T8" fmla="*/ 126 w 155"/>
                <a:gd name="T9" fmla="*/ 108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5" h="197">
                  <a:moveTo>
                    <a:pt x="126" y="108"/>
                  </a:moveTo>
                  <a:cubicBezTo>
                    <a:pt x="104" y="84"/>
                    <a:pt x="40" y="0"/>
                    <a:pt x="40" y="0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2"/>
                    <a:pt x="61" y="120"/>
                    <a:pt x="78" y="144"/>
                  </a:cubicBezTo>
                  <a:cubicBezTo>
                    <a:pt x="116" y="197"/>
                    <a:pt x="155" y="139"/>
                    <a:pt x="126" y="108"/>
                  </a:cubicBezTo>
                  <a:close/>
                </a:path>
              </a:pathLst>
            </a:custGeom>
            <a:solidFill>
              <a:srgbClr val="AE2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91" name="Freeform 504"/>
            <p:cNvSpPr/>
            <p:nvPr/>
          </p:nvSpPr>
          <p:spPr bwMode="auto">
            <a:xfrm>
              <a:off x="3282" y="1519"/>
              <a:ext cx="353" cy="348"/>
            </a:xfrm>
            <a:custGeom>
              <a:avLst/>
              <a:gdLst>
                <a:gd name="T0" fmla="*/ 0 w 149"/>
                <a:gd name="T1" fmla="*/ 0 h 147"/>
                <a:gd name="T2" fmla="*/ 77 w 149"/>
                <a:gd name="T3" fmla="*/ 111 h 147"/>
                <a:gd name="T4" fmla="*/ 149 w 149"/>
                <a:gd name="T5" fmla="*/ 112 h 147"/>
                <a:gd name="T6" fmla="*/ 101 w 149"/>
                <a:gd name="T7" fmla="*/ 113 h 147"/>
                <a:gd name="T8" fmla="*/ 0 w 149"/>
                <a:gd name="T9" fmla="*/ 0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7">
                  <a:moveTo>
                    <a:pt x="0" y="0"/>
                  </a:moveTo>
                  <a:cubicBezTo>
                    <a:pt x="6" y="9"/>
                    <a:pt x="61" y="88"/>
                    <a:pt x="77" y="111"/>
                  </a:cubicBezTo>
                  <a:cubicBezTo>
                    <a:pt x="103" y="147"/>
                    <a:pt x="133" y="130"/>
                    <a:pt x="149" y="112"/>
                  </a:cubicBezTo>
                  <a:cubicBezTo>
                    <a:pt x="135" y="118"/>
                    <a:pt x="113" y="122"/>
                    <a:pt x="101" y="113"/>
                  </a:cubicBezTo>
                  <a:cubicBezTo>
                    <a:pt x="88" y="105"/>
                    <a:pt x="26" y="29"/>
                    <a:pt x="0" y="0"/>
                  </a:cubicBezTo>
                  <a:close/>
                </a:path>
              </a:pathLst>
            </a:custGeom>
            <a:solidFill>
              <a:srgbClr val="7A1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92" name="Freeform 505"/>
            <p:cNvSpPr/>
            <p:nvPr/>
          </p:nvSpPr>
          <p:spPr bwMode="auto">
            <a:xfrm>
              <a:off x="3936" y="-406"/>
              <a:ext cx="950" cy="903"/>
            </a:xfrm>
            <a:custGeom>
              <a:avLst/>
              <a:gdLst>
                <a:gd name="T0" fmla="*/ 401 w 401"/>
                <a:gd name="T1" fmla="*/ 237 h 382"/>
                <a:gd name="T2" fmla="*/ 76 w 401"/>
                <a:gd name="T3" fmla="*/ 381 h 382"/>
                <a:gd name="T4" fmla="*/ 253 w 401"/>
                <a:gd name="T5" fmla="*/ 243 h 382"/>
                <a:gd name="T6" fmla="*/ 13 w 401"/>
                <a:gd name="T7" fmla="*/ 369 h 382"/>
                <a:gd name="T8" fmla="*/ 7 w 401"/>
                <a:gd name="T9" fmla="*/ 287 h 382"/>
                <a:gd name="T10" fmla="*/ 401 w 401"/>
                <a:gd name="T11" fmla="*/ 237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1" h="382">
                  <a:moveTo>
                    <a:pt x="401" y="237"/>
                  </a:moveTo>
                  <a:cubicBezTo>
                    <a:pt x="332" y="243"/>
                    <a:pt x="261" y="362"/>
                    <a:pt x="76" y="381"/>
                  </a:cubicBezTo>
                  <a:cubicBezTo>
                    <a:pt x="70" y="382"/>
                    <a:pt x="220" y="316"/>
                    <a:pt x="253" y="243"/>
                  </a:cubicBezTo>
                  <a:cubicBezTo>
                    <a:pt x="185" y="309"/>
                    <a:pt x="78" y="367"/>
                    <a:pt x="13" y="369"/>
                  </a:cubicBezTo>
                  <a:cubicBezTo>
                    <a:pt x="0" y="369"/>
                    <a:pt x="7" y="330"/>
                    <a:pt x="7" y="287"/>
                  </a:cubicBezTo>
                  <a:cubicBezTo>
                    <a:pt x="7" y="234"/>
                    <a:pt x="134" y="0"/>
                    <a:pt x="401" y="237"/>
                  </a:cubicBezTo>
                  <a:close/>
                </a:path>
              </a:pathLst>
            </a:custGeom>
            <a:solidFill>
              <a:srgbClr val="381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93" name="Freeform 506"/>
            <p:cNvSpPr/>
            <p:nvPr/>
          </p:nvSpPr>
          <p:spPr bwMode="auto">
            <a:xfrm>
              <a:off x="4296" y="-18"/>
              <a:ext cx="664" cy="518"/>
            </a:xfrm>
            <a:custGeom>
              <a:avLst/>
              <a:gdLst>
                <a:gd name="T0" fmla="*/ 178 w 280"/>
                <a:gd name="T1" fmla="*/ 83 h 219"/>
                <a:gd name="T2" fmla="*/ 265 w 280"/>
                <a:gd name="T3" fmla="*/ 208 h 219"/>
                <a:gd name="T4" fmla="*/ 246 w 280"/>
                <a:gd name="T5" fmla="*/ 41 h 219"/>
                <a:gd name="T6" fmla="*/ 178 w 280"/>
                <a:gd name="T7" fmla="*/ 83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0" h="219">
                  <a:moveTo>
                    <a:pt x="178" y="83"/>
                  </a:moveTo>
                  <a:cubicBezTo>
                    <a:pt x="210" y="83"/>
                    <a:pt x="250" y="198"/>
                    <a:pt x="265" y="208"/>
                  </a:cubicBezTo>
                  <a:cubicBezTo>
                    <a:pt x="280" y="219"/>
                    <a:pt x="278" y="81"/>
                    <a:pt x="246" y="41"/>
                  </a:cubicBezTo>
                  <a:cubicBezTo>
                    <a:pt x="214" y="0"/>
                    <a:pt x="0" y="4"/>
                    <a:pt x="178" y="83"/>
                  </a:cubicBezTo>
                  <a:close/>
                </a:path>
              </a:pathLst>
            </a:custGeom>
            <a:solidFill>
              <a:srgbClr val="381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94" name="Freeform 507"/>
            <p:cNvSpPr/>
            <p:nvPr/>
          </p:nvSpPr>
          <p:spPr bwMode="auto">
            <a:xfrm>
              <a:off x="4109" y="2479"/>
              <a:ext cx="244" cy="1916"/>
            </a:xfrm>
            <a:custGeom>
              <a:avLst/>
              <a:gdLst>
                <a:gd name="T0" fmla="*/ 2 w 103"/>
                <a:gd name="T1" fmla="*/ 0 h 810"/>
                <a:gd name="T2" fmla="*/ 15 w 103"/>
                <a:gd name="T3" fmla="*/ 272 h 810"/>
                <a:gd name="T4" fmla="*/ 44 w 103"/>
                <a:gd name="T5" fmla="*/ 700 h 810"/>
                <a:gd name="T6" fmla="*/ 34 w 103"/>
                <a:gd name="T7" fmla="*/ 799 h 810"/>
                <a:gd name="T8" fmla="*/ 84 w 103"/>
                <a:gd name="T9" fmla="*/ 810 h 810"/>
                <a:gd name="T10" fmla="*/ 103 w 103"/>
                <a:gd name="T11" fmla="*/ 810 h 810"/>
                <a:gd name="T12" fmla="*/ 58 w 103"/>
                <a:gd name="T13" fmla="*/ 770 h 810"/>
                <a:gd name="T14" fmla="*/ 52 w 103"/>
                <a:gd name="T15" fmla="*/ 461 h 810"/>
                <a:gd name="T16" fmla="*/ 2 w 103"/>
                <a:gd name="T17" fmla="*/ 1 h 810"/>
                <a:gd name="T18" fmla="*/ 2 w 103"/>
                <a:gd name="T19" fmla="*/ 0 h 8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3" h="810">
                  <a:moveTo>
                    <a:pt x="2" y="0"/>
                  </a:moveTo>
                  <a:cubicBezTo>
                    <a:pt x="0" y="79"/>
                    <a:pt x="2" y="177"/>
                    <a:pt x="15" y="272"/>
                  </a:cubicBezTo>
                  <a:cubicBezTo>
                    <a:pt x="34" y="418"/>
                    <a:pt x="44" y="643"/>
                    <a:pt x="44" y="700"/>
                  </a:cubicBezTo>
                  <a:cubicBezTo>
                    <a:pt x="44" y="756"/>
                    <a:pt x="34" y="799"/>
                    <a:pt x="34" y="799"/>
                  </a:cubicBezTo>
                  <a:cubicBezTo>
                    <a:pt x="34" y="799"/>
                    <a:pt x="46" y="810"/>
                    <a:pt x="84" y="810"/>
                  </a:cubicBezTo>
                  <a:cubicBezTo>
                    <a:pt x="91" y="810"/>
                    <a:pt x="97" y="810"/>
                    <a:pt x="103" y="810"/>
                  </a:cubicBezTo>
                  <a:cubicBezTo>
                    <a:pt x="72" y="804"/>
                    <a:pt x="52" y="791"/>
                    <a:pt x="58" y="770"/>
                  </a:cubicBezTo>
                  <a:cubicBezTo>
                    <a:pt x="65" y="742"/>
                    <a:pt x="52" y="545"/>
                    <a:pt x="52" y="461"/>
                  </a:cubicBezTo>
                  <a:cubicBezTo>
                    <a:pt x="52" y="377"/>
                    <a:pt x="16" y="12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425B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95" name="Freeform 508"/>
            <p:cNvSpPr/>
            <p:nvPr/>
          </p:nvSpPr>
          <p:spPr bwMode="auto">
            <a:xfrm>
              <a:off x="4407" y="2638"/>
              <a:ext cx="387" cy="1769"/>
            </a:xfrm>
            <a:custGeom>
              <a:avLst/>
              <a:gdLst>
                <a:gd name="T0" fmla="*/ 2 w 163"/>
                <a:gd name="T1" fmla="*/ 29 h 748"/>
                <a:gd name="T2" fmla="*/ 5 w 163"/>
                <a:gd name="T3" fmla="*/ 26 h 748"/>
                <a:gd name="T4" fmla="*/ 28 w 163"/>
                <a:gd name="T5" fmla="*/ 26 h 748"/>
                <a:gd name="T6" fmla="*/ 48 w 163"/>
                <a:gd name="T7" fmla="*/ 200 h 748"/>
                <a:gd name="T8" fmla="*/ 66 w 163"/>
                <a:gd name="T9" fmla="*/ 639 h 748"/>
                <a:gd name="T10" fmla="*/ 67 w 163"/>
                <a:gd name="T11" fmla="*/ 744 h 748"/>
                <a:gd name="T12" fmla="*/ 125 w 163"/>
                <a:gd name="T13" fmla="*/ 743 h 748"/>
                <a:gd name="T14" fmla="*/ 163 w 163"/>
                <a:gd name="T15" fmla="*/ 737 h 748"/>
                <a:gd name="T16" fmla="*/ 86 w 163"/>
                <a:gd name="T17" fmla="*/ 713 h 748"/>
                <a:gd name="T18" fmla="*/ 75 w 163"/>
                <a:gd name="T19" fmla="*/ 384 h 748"/>
                <a:gd name="T20" fmla="*/ 54 w 163"/>
                <a:gd name="T21" fmla="*/ 73 h 748"/>
                <a:gd name="T22" fmla="*/ 0 w 163"/>
                <a:gd name="T23" fmla="*/ 21 h 748"/>
                <a:gd name="T24" fmla="*/ 2 w 163"/>
                <a:gd name="T25" fmla="*/ 29 h 7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3" h="748">
                  <a:moveTo>
                    <a:pt x="2" y="29"/>
                  </a:moveTo>
                  <a:cubicBezTo>
                    <a:pt x="3" y="27"/>
                    <a:pt x="4" y="26"/>
                    <a:pt x="5" y="26"/>
                  </a:cubicBezTo>
                  <a:cubicBezTo>
                    <a:pt x="12" y="27"/>
                    <a:pt x="21" y="27"/>
                    <a:pt x="28" y="26"/>
                  </a:cubicBezTo>
                  <a:cubicBezTo>
                    <a:pt x="40" y="26"/>
                    <a:pt x="40" y="103"/>
                    <a:pt x="48" y="200"/>
                  </a:cubicBezTo>
                  <a:cubicBezTo>
                    <a:pt x="56" y="297"/>
                    <a:pt x="63" y="576"/>
                    <a:pt x="66" y="639"/>
                  </a:cubicBezTo>
                  <a:cubicBezTo>
                    <a:pt x="69" y="702"/>
                    <a:pt x="67" y="744"/>
                    <a:pt x="67" y="744"/>
                  </a:cubicBezTo>
                  <a:cubicBezTo>
                    <a:pt x="67" y="744"/>
                    <a:pt x="86" y="743"/>
                    <a:pt x="125" y="743"/>
                  </a:cubicBezTo>
                  <a:cubicBezTo>
                    <a:pt x="144" y="743"/>
                    <a:pt x="156" y="740"/>
                    <a:pt x="163" y="737"/>
                  </a:cubicBezTo>
                  <a:cubicBezTo>
                    <a:pt x="114" y="748"/>
                    <a:pt x="85" y="737"/>
                    <a:pt x="86" y="713"/>
                  </a:cubicBezTo>
                  <a:cubicBezTo>
                    <a:pt x="88" y="688"/>
                    <a:pt x="75" y="455"/>
                    <a:pt x="75" y="384"/>
                  </a:cubicBezTo>
                  <a:cubicBezTo>
                    <a:pt x="75" y="314"/>
                    <a:pt x="62" y="146"/>
                    <a:pt x="54" y="73"/>
                  </a:cubicBezTo>
                  <a:cubicBezTo>
                    <a:pt x="46" y="0"/>
                    <a:pt x="29" y="16"/>
                    <a:pt x="0" y="21"/>
                  </a:cubicBezTo>
                  <a:cubicBezTo>
                    <a:pt x="1" y="24"/>
                    <a:pt x="1" y="26"/>
                    <a:pt x="2" y="29"/>
                  </a:cubicBezTo>
                  <a:close/>
                </a:path>
              </a:pathLst>
            </a:custGeom>
            <a:solidFill>
              <a:srgbClr val="425B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96" name="Freeform 509"/>
            <p:cNvSpPr/>
            <p:nvPr/>
          </p:nvSpPr>
          <p:spPr bwMode="auto">
            <a:xfrm>
              <a:off x="3993" y="4407"/>
              <a:ext cx="450" cy="121"/>
            </a:xfrm>
            <a:custGeom>
              <a:avLst/>
              <a:gdLst>
                <a:gd name="T0" fmla="*/ 5 w 190"/>
                <a:gd name="T1" fmla="*/ 31 h 51"/>
                <a:gd name="T2" fmla="*/ 43 w 190"/>
                <a:gd name="T3" fmla="*/ 51 h 51"/>
                <a:gd name="T4" fmla="*/ 154 w 190"/>
                <a:gd name="T5" fmla="*/ 30 h 51"/>
                <a:gd name="T6" fmla="*/ 190 w 190"/>
                <a:gd name="T7" fmla="*/ 2 h 51"/>
                <a:gd name="T8" fmla="*/ 190 w 190"/>
                <a:gd name="T9" fmla="*/ 0 h 51"/>
                <a:gd name="T10" fmla="*/ 5 w 190"/>
                <a:gd name="T11" fmla="*/ 3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0" h="51">
                  <a:moveTo>
                    <a:pt x="5" y="31"/>
                  </a:moveTo>
                  <a:cubicBezTo>
                    <a:pt x="0" y="37"/>
                    <a:pt x="9" y="50"/>
                    <a:pt x="43" y="51"/>
                  </a:cubicBezTo>
                  <a:cubicBezTo>
                    <a:pt x="68" y="51"/>
                    <a:pt x="119" y="44"/>
                    <a:pt x="154" y="30"/>
                  </a:cubicBezTo>
                  <a:cubicBezTo>
                    <a:pt x="174" y="22"/>
                    <a:pt x="188" y="13"/>
                    <a:pt x="190" y="2"/>
                  </a:cubicBezTo>
                  <a:cubicBezTo>
                    <a:pt x="190" y="1"/>
                    <a:pt x="190" y="0"/>
                    <a:pt x="190" y="0"/>
                  </a:cubicBezTo>
                  <a:cubicBezTo>
                    <a:pt x="131" y="32"/>
                    <a:pt x="46" y="39"/>
                    <a:pt x="5" y="31"/>
                  </a:cubicBezTo>
                  <a:close/>
                </a:path>
              </a:pathLst>
            </a:custGeom>
            <a:solidFill>
              <a:srgbClr val="331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97" name="Freeform 510"/>
            <p:cNvSpPr/>
            <p:nvPr/>
          </p:nvSpPr>
          <p:spPr bwMode="auto">
            <a:xfrm>
              <a:off x="4573" y="4407"/>
              <a:ext cx="451" cy="121"/>
            </a:xfrm>
            <a:custGeom>
              <a:avLst/>
              <a:gdLst>
                <a:gd name="T0" fmla="*/ 186 w 190"/>
                <a:gd name="T1" fmla="*/ 31 h 51"/>
                <a:gd name="T2" fmla="*/ 147 w 190"/>
                <a:gd name="T3" fmla="*/ 51 h 51"/>
                <a:gd name="T4" fmla="*/ 36 w 190"/>
                <a:gd name="T5" fmla="*/ 30 h 51"/>
                <a:gd name="T6" fmla="*/ 0 w 190"/>
                <a:gd name="T7" fmla="*/ 2 h 51"/>
                <a:gd name="T8" fmla="*/ 0 w 190"/>
                <a:gd name="T9" fmla="*/ 0 h 51"/>
                <a:gd name="T10" fmla="*/ 186 w 190"/>
                <a:gd name="T11" fmla="*/ 3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0" h="51">
                  <a:moveTo>
                    <a:pt x="186" y="31"/>
                  </a:moveTo>
                  <a:cubicBezTo>
                    <a:pt x="190" y="37"/>
                    <a:pt x="181" y="50"/>
                    <a:pt x="147" y="51"/>
                  </a:cubicBezTo>
                  <a:cubicBezTo>
                    <a:pt x="122" y="51"/>
                    <a:pt x="71" y="44"/>
                    <a:pt x="36" y="30"/>
                  </a:cubicBezTo>
                  <a:cubicBezTo>
                    <a:pt x="17" y="22"/>
                    <a:pt x="2" y="13"/>
                    <a:pt x="0" y="2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60" y="32"/>
                    <a:pt x="144" y="39"/>
                    <a:pt x="186" y="31"/>
                  </a:cubicBezTo>
                  <a:close/>
                </a:path>
              </a:pathLst>
            </a:custGeom>
            <a:solidFill>
              <a:srgbClr val="331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98" name="Freeform 511"/>
            <p:cNvSpPr/>
            <p:nvPr/>
          </p:nvSpPr>
          <p:spPr bwMode="auto">
            <a:xfrm>
              <a:off x="2995" y="1115"/>
              <a:ext cx="261" cy="317"/>
            </a:xfrm>
            <a:custGeom>
              <a:avLst/>
              <a:gdLst>
                <a:gd name="T0" fmla="*/ 25 w 110"/>
                <a:gd name="T1" fmla="*/ 13 h 134"/>
                <a:gd name="T2" fmla="*/ 57 w 110"/>
                <a:gd name="T3" fmla="*/ 9 h 134"/>
                <a:gd name="T4" fmla="*/ 24 w 110"/>
                <a:gd name="T5" fmla="*/ 33 h 134"/>
                <a:gd name="T6" fmla="*/ 59 w 110"/>
                <a:gd name="T7" fmla="*/ 30 h 134"/>
                <a:gd name="T8" fmla="*/ 69 w 110"/>
                <a:gd name="T9" fmla="*/ 45 h 134"/>
                <a:gd name="T10" fmla="*/ 31 w 110"/>
                <a:gd name="T11" fmla="*/ 59 h 134"/>
                <a:gd name="T12" fmla="*/ 80 w 110"/>
                <a:gd name="T13" fmla="*/ 62 h 134"/>
                <a:gd name="T14" fmla="*/ 82 w 110"/>
                <a:gd name="T15" fmla="*/ 78 h 134"/>
                <a:gd name="T16" fmla="*/ 41 w 110"/>
                <a:gd name="T17" fmla="*/ 88 h 134"/>
                <a:gd name="T18" fmla="*/ 85 w 110"/>
                <a:gd name="T19" fmla="*/ 91 h 134"/>
                <a:gd name="T20" fmla="*/ 84 w 110"/>
                <a:gd name="T21" fmla="*/ 105 h 134"/>
                <a:gd name="T22" fmla="*/ 56 w 110"/>
                <a:gd name="T23" fmla="*/ 113 h 134"/>
                <a:gd name="T24" fmla="*/ 52 w 110"/>
                <a:gd name="T25" fmla="*/ 131 h 134"/>
                <a:gd name="T26" fmla="*/ 39 w 110"/>
                <a:gd name="T27" fmla="*/ 116 h 134"/>
                <a:gd name="T28" fmla="*/ 26 w 110"/>
                <a:gd name="T29" fmla="*/ 100 h 134"/>
                <a:gd name="T30" fmla="*/ 25 w 110"/>
                <a:gd name="T31" fmla="*/ 82 h 134"/>
                <a:gd name="T32" fmla="*/ 21 w 110"/>
                <a:gd name="T33" fmla="*/ 71 h 134"/>
                <a:gd name="T34" fmla="*/ 16 w 110"/>
                <a:gd name="T35" fmla="*/ 52 h 134"/>
                <a:gd name="T36" fmla="*/ 16 w 110"/>
                <a:gd name="T37" fmla="*/ 39 h 134"/>
                <a:gd name="T38" fmla="*/ 25 w 110"/>
                <a:gd name="T39" fmla="*/ 13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0" h="134">
                  <a:moveTo>
                    <a:pt x="25" y="13"/>
                  </a:moveTo>
                  <a:cubicBezTo>
                    <a:pt x="38" y="8"/>
                    <a:pt x="55" y="0"/>
                    <a:pt x="57" y="9"/>
                  </a:cubicBezTo>
                  <a:cubicBezTo>
                    <a:pt x="60" y="19"/>
                    <a:pt x="23" y="27"/>
                    <a:pt x="24" y="33"/>
                  </a:cubicBezTo>
                  <a:cubicBezTo>
                    <a:pt x="25" y="39"/>
                    <a:pt x="38" y="36"/>
                    <a:pt x="59" y="30"/>
                  </a:cubicBezTo>
                  <a:cubicBezTo>
                    <a:pt x="81" y="25"/>
                    <a:pt x="96" y="40"/>
                    <a:pt x="69" y="45"/>
                  </a:cubicBezTo>
                  <a:cubicBezTo>
                    <a:pt x="41" y="51"/>
                    <a:pt x="29" y="53"/>
                    <a:pt x="31" y="59"/>
                  </a:cubicBezTo>
                  <a:cubicBezTo>
                    <a:pt x="33" y="65"/>
                    <a:pt x="58" y="63"/>
                    <a:pt x="80" y="62"/>
                  </a:cubicBezTo>
                  <a:cubicBezTo>
                    <a:pt x="102" y="60"/>
                    <a:pt x="110" y="75"/>
                    <a:pt x="82" y="78"/>
                  </a:cubicBezTo>
                  <a:cubicBezTo>
                    <a:pt x="53" y="81"/>
                    <a:pt x="38" y="80"/>
                    <a:pt x="41" y="88"/>
                  </a:cubicBezTo>
                  <a:cubicBezTo>
                    <a:pt x="44" y="96"/>
                    <a:pt x="66" y="90"/>
                    <a:pt x="85" y="91"/>
                  </a:cubicBezTo>
                  <a:cubicBezTo>
                    <a:pt x="104" y="91"/>
                    <a:pt x="105" y="102"/>
                    <a:pt x="84" y="105"/>
                  </a:cubicBezTo>
                  <a:cubicBezTo>
                    <a:pt x="63" y="107"/>
                    <a:pt x="50" y="106"/>
                    <a:pt x="56" y="113"/>
                  </a:cubicBezTo>
                  <a:cubicBezTo>
                    <a:pt x="61" y="121"/>
                    <a:pt x="65" y="134"/>
                    <a:pt x="52" y="131"/>
                  </a:cubicBezTo>
                  <a:cubicBezTo>
                    <a:pt x="40" y="129"/>
                    <a:pt x="39" y="124"/>
                    <a:pt x="39" y="116"/>
                  </a:cubicBezTo>
                  <a:cubicBezTo>
                    <a:pt x="38" y="108"/>
                    <a:pt x="29" y="101"/>
                    <a:pt x="26" y="100"/>
                  </a:cubicBezTo>
                  <a:cubicBezTo>
                    <a:pt x="22" y="99"/>
                    <a:pt x="21" y="89"/>
                    <a:pt x="25" y="82"/>
                  </a:cubicBezTo>
                  <a:cubicBezTo>
                    <a:pt x="30" y="76"/>
                    <a:pt x="27" y="73"/>
                    <a:pt x="21" y="71"/>
                  </a:cubicBezTo>
                  <a:cubicBezTo>
                    <a:pt x="16" y="68"/>
                    <a:pt x="13" y="56"/>
                    <a:pt x="16" y="52"/>
                  </a:cubicBezTo>
                  <a:cubicBezTo>
                    <a:pt x="20" y="48"/>
                    <a:pt x="23" y="42"/>
                    <a:pt x="16" y="39"/>
                  </a:cubicBezTo>
                  <a:cubicBezTo>
                    <a:pt x="8" y="36"/>
                    <a:pt x="0" y="16"/>
                    <a:pt x="25" y="13"/>
                  </a:cubicBezTo>
                  <a:close/>
                </a:path>
              </a:pathLst>
            </a:custGeom>
            <a:solidFill>
              <a:srgbClr val="F2AC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4" name="Group 213"/>
          <p:cNvGrpSpPr/>
          <p:nvPr/>
        </p:nvGrpSpPr>
        <p:grpSpPr>
          <a:xfrm>
            <a:off x="9078595" y="1962150"/>
            <a:ext cx="2284095" cy="1976755"/>
            <a:chOff x="7946676" y="2261879"/>
            <a:chExt cx="2798394" cy="2421717"/>
          </a:xfrm>
        </p:grpSpPr>
        <p:sp>
          <p:nvSpPr>
            <p:cNvPr id="5" name="Rounded Rectangle 200"/>
            <p:cNvSpPr/>
            <p:nvPr/>
          </p:nvSpPr>
          <p:spPr>
            <a:xfrm>
              <a:off x="7946676" y="2261879"/>
              <a:ext cx="2798394" cy="2421717"/>
            </a:xfrm>
            <a:prstGeom prst="roundRect">
              <a:avLst>
                <a:gd name="adj" fmla="val 6328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7" name="Text Placeholder 2"/>
            <p:cNvSpPr txBox="1"/>
            <p:nvPr/>
          </p:nvSpPr>
          <p:spPr>
            <a:xfrm>
              <a:off x="8070418" y="2433635"/>
              <a:ext cx="2551774" cy="1016763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6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b="0" i="0" kern="1200">
                  <a:solidFill>
                    <a:schemeClr val="tx1"/>
                  </a:solidFill>
                  <a:latin typeface="SF UI Display Thin" charset="0"/>
                  <a:ea typeface="SF UI Display Thin" charset="0"/>
                  <a:cs typeface="SF UI Display Thin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400" dirty="0">
                  <a:solidFill>
                    <a:srgbClr val="FE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 Condensed Light" charset="0"/>
                </a:rPr>
                <a:t>个人闲置浪费</a:t>
              </a:r>
              <a:endParaRPr lang="zh-CN" altLang="en-US" sz="2400" dirty="0">
                <a:solidFill>
                  <a:srgbClr val="FE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Condensed Light" charset="0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400" dirty="0">
                  <a:solidFill>
                    <a:srgbClr val="FE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 Condensed Light" charset="0"/>
                </a:rPr>
                <a:t>缺乏共享平台</a:t>
              </a:r>
              <a:endParaRPr lang="zh-CN" altLang="en-US" sz="2400" dirty="0">
                <a:solidFill>
                  <a:srgbClr val="FE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Condensed Light" charset="0"/>
              </a:endParaRPr>
            </a:p>
          </p:txBody>
        </p:sp>
      </p:grpSp>
      <p:pic>
        <p:nvPicPr>
          <p:cNvPr id="217" name="图片 216" descr="女人站姿演讲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9255" y="3415030"/>
            <a:ext cx="1012190" cy="1887220"/>
          </a:xfrm>
          <a:prstGeom prst="rect">
            <a:avLst/>
          </a:prstGeom>
        </p:spPr>
      </p:pic>
      <p:sp>
        <p:nvSpPr>
          <p:cNvPr id="234" name="Title 1"/>
          <p:cNvSpPr txBox="1"/>
          <p:nvPr/>
        </p:nvSpPr>
        <p:spPr>
          <a:xfrm>
            <a:off x="10390189" y="3021466"/>
            <a:ext cx="972328" cy="76169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0" i="0" kern="1200">
                <a:solidFill>
                  <a:schemeClr val="tx1"/>
                </a:solidFill>
                <a:latin typeface="SF UI Display Thin" charset="0"/>
                <a:ea typeface="SF UI Display Thin" charset="0"/>
                <a:cs typeface="SF UI Display Thin" charset="0"/>
              </a:defRPr>
            </a:lvl1pPr>
          </a:lstStyle>
          <a:p>
            <a:r>
              <a:rPr lang="en-US" sz="5400" dirty="0">
                <a:solidFill>
                  <a:srgbClr val="FEFFFF"/>
                </a:solidFill>
                <a:latin typeface="linea-arrows-10" charset="0"/>
                <a:ea typeface="linea-arrows-10" charset="0"/>
                <a:cs typeface="linea-arrows-10" charset="0"/>
              </a:rPr>
              <a:t>n</a:t>
            </a:r>
            <a:endParaRPr lang="en-US" sz="5400" dirty="0">
              <a:solidFill>
                <a:srgbClr val="FE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Roboto Condensed Light" charset="0"/>
            </a:endParaRPr>
          </a:p>
        </p:txBody>
      </p:sp>
      <p:sp>
        <p:nvSpPr>
          <p:cNvPr id="235" name="Title 1"/>
          <p:cNvSpPr txBox="1"/>
          <p:nvPr/>
        </p:nvSpPr>
        <p:spPr>
          <a:xfrm>
            <a:off x="7633019" y="3043691"/>
            <a:ext cx="972328" cy="76169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0" i="0" kern="1200">
                <a:solidFill>
                  <a:schemeClr val="tx1"/>
                </a:solidFill>
                <a:latin typeface="SF UI Display Thin" charset="0"/>
                <a:ea typeface="SF UI Display Thin" charset="0"/>
                <a:cs typeface="SF UI Display Thin" charset="0"/>
              </a:defRPr>
            </a:lvl1pPr>
          </a:lstStyle>
          <a:p>
            <a:r>
              <a:rPr lang="en-US" sz="5400" dirty="0">
                <a:solidFill>
                  <a:srgbClr val="FEFFFF"/>
                </a:solidFill>
                <a:latin typeface="linea-arrows-10" charset="0"/>
                <a:ea typeface="linea-arrows-10" charset="0"/>
                <a:cs typeface="linea-arrows-10" charset="0"/>
              </a:rPr>
              <a:t>i</a:t>
            </a:r>
            <a:endParaRPr lang="en-US" sz="5400" dirty="0">
              <a:solidFill>
                <a:srgbClr val="FE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Roboto Condensed Light" charset="0"/>
            </a:endParaRPr>
          </a:p>
        </p:txBody>
      </p:sp>
      <p:sp>
        <p:nvSpPr>
          <p:cNvPr id="236" name="Title 1"/>
          <p:cNvSpPr txBox="1"/>
          <p:nvPr/>
        </p:nvSpPr>
        <p:spPr>
          <a:xfrm>
            <a:off x="4875214" y="3077981"/>
            <a:ext cx="972328" cy="76169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0" i="0" kern="1200">
                <a:solidFill>
                  <a:schemeClr val="tx1"/>
                </a:solidFill>
                <a:latin typeface="SF UI Display Thin" charset="0"/>
                <a:ea typeface="SF UI Display Thin" charset="0"/>
                <a:cs typeface="SF UI Display Thin" charset="0"/>
              </a:defRPr>
            </a:lvl1pPr>
          </a:lstStyle>
          <a:p>
            <a:r>
              <a:rPr lang="en-US" sz="5400" dirty="0">
                <a:solidFill>
                  <a:srgbClr val="FEFFFF"/>
                </a:solidFill>
                <a:latin typeface="linea-arrows-10" charset="0"/>
                <a:ea typeface="linea-arrows-10" charset="0"/>
                <a:cs typeface="linea-arrows-10" charset="0"/>
              </a:rPr>
              <a:t>a</a:t>
            </a:r>
            <a:endParaRPr lang="en-US" sz="5400" dirty="0">
              <a:solidFill>
                <a:srgbClr val="FE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Roboto Condensed Light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78790" y="140335"/>
            <a:ext cx="2025015" cy="584835"/>
          </a:xfrm>
          <a:prstGeom prst="rect">
            <a:avLst/>
          </a:prstGeom>
          <a:solidFill>
            <a:srgbClr val="4CC1D0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478790" y="137795"/>
            <a:ext cx="20250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市场痛点</a:t>
            </a:r>
            <a:endParaRPr lang="zh-CN" altLang="en-US" sz="2800" dirty="0">
              <a:solidFill>
                <a:schemeClr val="bg1"/>
              </a:solidFill>
              <a:ea typeface="造字工房悦黑体验版细体" pitchFamily="2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 flipH="1" flipV="1">
            <a:off x="478790" y="853440"/>
            <a:ext cx="2072640" cy="5715"/>
          </a:xfrm>
          <a:prstGeom prst="line">
            <a:avLst/>
          </a:prstGeom>
          <a:ln w="15875">
            <a:solidFill>
              <a:srgbClr val="54C3D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_椭圆 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859115" y="2145316"/>
            <a:ext cx="1023512" cy="1025528"/>
          </a:xfrm>
          <a:prstGeom prst="ellipse">
            <a:avLst/>
          </a:prstGeom>
          <a:solidFill>
            <a:schemeClr val="bg1">
              <a:lumMod val="50000"/>
              <a:alpha val="1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defTabSz="1219200"/>
            <a:endParaRPr lang="zh-CN" altLang="en-US" sz="2400">
              <a:solidFill>
                <a:srgbClr val="333333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6" name="PA_椭圆 6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108749" y="2327291"/>
            <a:ext cx="790587" cy="790831"/>
          </a:xfrm>
          <a:prstGeom prst="ellipse">
            <a:avLst/>
          </a:prstGeom>
          <a:solidFill>
            <a:schemeClr val="bg1">
              <a:lumMod val="50000"/>
              <a:alpha val="1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defTabSz="1219200"/>
            <a:endParaRPr lang="zh-CN" altLang="en-US" sz="2400">
              <a:solidFill>
                <a:srgbClr val="333333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7" name="PA_椭圆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481381" y="2849409"/>
            <a:ext cx="1023512" cy="1023828"/>
          </a:xfrm>
          <a:prstGeom prst="ellipse">
            <a:avLst/>
          </a:prstGeom>
          <a:solidFill>
            <a:schemeClr val="bg1">
              <a:lumMod val="50000"/>
              <a:alpha val="1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defTabSz="1219200"/>
            <a:endParaRPr lang="zh-CN" altLang="en-US" sz="2400">
              <a:solidFill>
                <a:srgbClr val="333333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8" name="PA_椭圆 8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135952" y="2829001"/>
            <a:ext cx="964005" cy="964303"/>
          </a:xfrm>
          <a:prstGeom prst="ellipse">
            <a:avLst/>
          </a:prstGeom>
          <a:solidFill>
            <a:schemeClr val="bg1">
              <a:lumMod val="50000"/>
              <a:alpha val="1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defTabSz="1219200"/>
            <a:endParaRPr lang="zh-CN" altLang="en-US" sz="2400">
              <a:solidFill>
                <a:srgbClr val="333333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" name="PA_椭圆 9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521895" y="3215062"/>
            <a:ext cx="964005" cy="964303"/>
          </a:xfrm>
          <a:prstGeom prst="ellipse">
            <a:avLst/>
          </a:prstGeom>
          <a:solidFill>
            <a:schemeClr val="bg1">
              <a:lumMod val="50000"/>
              <a:alpha val="1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defTabSz="1219200"/>
            <a:endParaRPr lang="zh-CN" altLang="en-US" sz="2400">
              <a:solidFill>
                <a:srgbClr val="333333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0" name="PA_椭圆 10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092039" y="3524591"/>
            <a:ext cx="964005" cy="964303"/>
          </a:xfrm>
          <a:prstGeom prst="ellipse">
            <a:avLst/>
          </a:prstGeom>
          <a:solidFill>
            <a:schemeClr val="bg1">
              <a:lumMod val="50000"/>
              <a:alpha val="1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defTabSz="1219200"/>
            <a:endParaRPr lang="zh-CN" altLang="en-US" sz="2400">
              <a:solidFill>
                <a:srgbClr val="333333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1" name="PA_椭圆 11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264052" y="3259279"/>
            <a:ext cx="751481" cy="746612"/>
          </a:xfrm>
          <a:prstGeom prst="ellipse">
            <a:avLst/>
          </a:prstGeom>
          <a:solidFill>
            <a:schemeClr val="bg1">
              <a:lumMod val="50000"/>
              <a:alpha val="1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defTabSz="1219200"/>
            <a:endParaRPr lang="zh-CN" altLang="en-US" sz="2400">
              <a:solidFill>
                <a:srgbClr val="333333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2" name="PA_任意多边形 12"/>
          <p:cNvSpPr/>
          <p:nvPr>
            <p:custDataLst>
              <p:tags r:id="rId8"/>
            </p:custDataLst>
          </p:nvPr>
        </p:nvSpPr>
        <p:spPr bwMode="auto">
          <a:xfrm>
            <a:off x="4862517" y="2395319"/>
            <a:ext cx="2390460" cy="3214341"/>
          </a:xfrm>
          <a:custGeom>
            <a:avLst/>
            <a:gdLst>
              <a:gd name="T0" fmla="*/ 203 w 595"/>
              <a:gd name="T1" fmla="*/ 800 h 800"/>
              <a:gd name="T2" fmla="*/ 419 w 595"/>
              <a:gd name="T3" fmla="*/ 800 h 800"/>
              <a:gd name="T4" fmla="*/ 335 w 595"/>
              <a:gd name="T5" fmla="*/ 556 h 800"/>
              <a:gd name="T6" fmla="*/ 473 w 595"/>
              <a:gd name="T7" fmla="*/ 332 h 800"/>
              <a:gd name="T8" fmla="*/ 587 w 595"/>
              <a:gd name="T9" fmla="*/ 344 h 800"/>
              <a:gd name="T10" fmla="*/ 388 w 595"/>
              <a:gd name="T11" fmla="*/ 338 h 800"/>
              <a:gd name="T12" fmla="*/ 463 w 595"/>
              <a:gd name="T13" fmla="*/ 247 h 800"/>
              <a:gd name="T14" fmla="*/ 595 w 595"/>
              <a:gd name="T15" fmla="*/ 210 h 800"/>
              <a:gd name="T16" fmla="*/ 484 w 595"/>
              <a:gd name="T17" fmla="*/ 219 h 800"/>
              <a:gd name="T18" fmla="*/ 498 w 595"/>
              <a:gd name="T19" fmla="*/ 102 h 800"/>
              <a:gd name="T20" fmla="*/ 476 w 595"/>
              <a:gd name="T21" fmla="*/ 209 h 800"/>
              <a:gd name="T22" fmla="*/ 324 w 595"/>
              <a:gd name="T23" fmla="*/ 342 h 800"/>
              <a:gd name="T24" fmla="*/ 322 w 595"/>
              <a:gd name="T25" fmla="*/ 187 h 800"/>
              <a:gd name="T26" fmla="*/ 394 w 595"/>
              <a:gd name="T27" fmla="*/ 95 h 800"/>
              <a:gd name="T28" fmla="*/ 309 w 595"/>
              <a:gd name="T29" fmla="*/ 170 h 800"/>
              <a:gd name="T30" fmla="*/ 272 w 595"/>
              <a:gd name="T31" fmla="*/ 61 h 800"/>
              <a:gd name="T32" fmla="*/ 178 w 595"/>
              <a:gd name="T33" fmla="*/ 0 h 800"/>
              <a:gd name="T34" fmla="*/ 273 w 595"/>
              <a:gd name="T35" fmla="*/ 135 h 800"/>
              <a:gd name="T36" fmla="*/ 207 w 595"/>
              <a:gd name="T37" fmla="*/ 96 h 800"/>
              <a:gd name="T38" fmla="*/ 108 w 595"/>
              <a:gd name="T39" fmla="*/ 91 h 800"/>
              <a:gd name="T40" fmla="*/ 59 w 595"/>
              <a:gd name="T41" fmla="*/ 60 h 800"/>
              <a:gd name="T42" fmla="*/ 115 w 595"/>
              <a:gd name="T43" fmla="*/ 102 h 800"/>
              <a:gd name="T44" fmla="*/ 227 w 595"/>
              <a:gd name="T45" fmla="*/ 124 h 800"/>
              <a:gd name="T46" fmla="*/ 282 w 595"/>
              <a:gd name="T47" fmla="*/ 203 h 800"/>
              <a:gd name="T48" fmla="*/ 274 w 595"/>
              <a:gd name="T49" fmla="*/ 424 h 800"/>
              <a:gd name="T50" fmla="*/ 217 w 595"/>
              <a:gd name="T51" fmla="*/ 372 h 800"/>
              <a:gd name="T52" fmla="*/ 136 w 595"/>
              <a:gd name="T53" fmla="*/ 299 h 800"/>
              <a:gd name="T54" fmla="*/ 123 w 595"/>
              <a:gd name="T55" fmla="*/ 209 h 800"/>
              <a:gd name="T56" fmla="*/ 130 w 595"/>
              <a:gd name="T57" fmla="*/ 312 h 800"/>
              <a:gd name="T58" fmla="*/ 0 w 595"/>
              <a:gd name="T59" fmla="*/ 318 h 800"/>
              <a:gd name="T60" fmla="*/ 131 w 595"/>
              <a:gd name="T61" fmla="*/ 330 h 800"/>
              <a:gd name="T62" fmla="*/ 230 w 595"/>
              <a:gd name="T63" fmla="*/ 430 h 800"/>
              <a:gd name="T64" fmla="*/ 257 w 595"/>
              <a:gd name="T65" fmla="*/ 485 h 800"/>
              <a:gd name="T66" fmla="*/ 92 w 595"/>
              <a:gd name="T67" fmla="*/ 502 h 800"/>
              <a:gd name="T68" fmla="*/ 190 w 595"/>
              <a:gd name="T69" fmla="*/ 482 h 800"/>
              <a:gd name="T70" fmla="*/ 275 w 595"/>
              <a:gd name="T71" fmla="*/ 605 h 800"/>
              <a:gd name="T72" fmla="*/ 203 w 595"/>
              <a:gd name="T73" fmla="*/ 800 h 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595" h="800">
                <a:moveTo>
                  <a:pt x="203" y="800"/>
                </a:moveTo>
                <a:cubicBezTo>
                  <a:pt x="442" y="800"/>
                  <a:pt x="419" y="800"/>
                  <a:pt x="419" y="800"/>
                </a:cubicBezTo>
                <a:cubicBezTo>
                  <a:pt x="419" y="800"/>
                  <a:pt x="335" y="782"/>
                  <a:pt x="335" y="556"/>
                </a:cubicBezTo>
                <a:cubicBezTo>
                  <a:pt x="335" y="462"/>
                  <a:pt x="400" y="338"/>
                  <a:pt x="473" y="332"/>
                </a:cubicBezTo>
                <a:cubicBezTo>
                  <a:pt x="545" y="327"/>
                  <a:pt x="587" y="344"/>
                  <a:pt x="587" y="344"/>
                </a:cubicBezTo>
                <a:cubicBezTo>
                  <a:pt x="587" y="344"/>
                  <a:pt x="497" y="284"/>
                  <a:pt x="388" y="338"/>
                </a:cubicBezTo>
                <a:cubicBezTo>
                  <a:pt x="388" y="338"/>
                  <a:pt x="416" y="282"/>
                  <a:pt x="463" y="247"/>
                </a:cubicBezTo>
                <a:cubicBezTo>
                  <a:pt x="510" y="212"/>
                  <a:pt x="578" y="209"/>
                  <a:pt x="595" y="210"/>
                </a:cubicBezTo>
                <a:cubicBezTo>
                  <a:pt x="595" y="210"/>
                  <a:pt x="542" y="192"/>
                  <a:pt x="484" y="219"/>
                </a:cubicBezTo>
                <a:cubicBezTo>
                  <a:pt x="484" y="219"/>
                  <a:pt x="528" y="188"/>
                  <a:pt x="498" y="102"/>
                </a:cubicBezTo>
                <a:cubicBezTo>
                  <a:pt x="498" y="102"/>
                  <a:pt x="507" y="178"/>
                  <a:pt x="476" y="209"/>
                </a:cubicBezTo>
                <a:cubicBezTo>
                  <a:pt x="445" y="241"/>
                  <a:pt x="349" y="297"/>
                  <a:pt x="324" y="342"/>
                </a:cubicBezTo>
                <a:cubicBezTo>
                  <a:pt x="324" y="342"/>
                  <a:pt x="304" y="256"/>
                  <a:pt x="322" y="187"/>
                </a:cubicBezTo>
                <a:cubicBezTo>
                  <a:pt x="338" y="127"/>
                  <a:pt x="383" y="98"/>
                  <a:pt x="394" y="95"/>
                </a:cubicBezTo>
                <a:cubicBezTo>
                  <a:pt x="394" y="95"/>
                  <a:pt x="336" y="103"/>
                  <a:pt x="309" y="170"/>
                </a:cubicBezTo>
                <a:cubicBezTo>
                  <a:pt x="309" y="170"/>
                  <a:pt x="309" y="112"/>
                  <a:pt x="272" y="61"/>
                </a:cubicBezTo>
                <a:cubicBezTo>
                  <a:pt x="234" y="11"/>
                  <a:pt x="192" y="3"/>
                  <a:pt x="178" y="0"/>
                </a:cubicBezTo>
                <a:cubicBezTo>
                  <a:pt x="178" y="0"/>
                  <a:pt x="270" y="33"/>
                  <a:pt x="273" y="135"/>
                </a:cubicBezTo>
                <a:cubicBezTo>
                  <a:pt x="273" y="135"/>
                  <a:pt x="248" y="105"/>
                  <a:pt x="207" y="96"/>
                </a:cubicBezTo>
                <a:cubicBezTo>
                  <a:pt x="166" y="88"/>
                  <a:pt x="128" y="95"/>
                  <a:pt x="108" y="91"/>
                </a:cubicBezTo>
                <a:cubicBezTo>
                  <a:pt x="87" y="87"/>
                  <a:pt x="63" y="69"/>
                  <a:pt x="59" y="60"/>
                </a:cubicBezTo>
                <a:cubicBezTo>
                  <a:pt x="59" y="60"/>
                  <a:pt x="71" y="88"/>
                  <a:pt x="115" y="102"/>
                </a:cubicBezTo>
                <a:cubicBezTo>
                  <a:pt x="154" y="114"/>
                  <a:pt x="197" y="104"/>
                  <a:pt x="227" y="124"/>
                </a:cubicBezTo>
                <a:cubicBezTo>
                  <a:pt x="257" y="144"/>
                  <a:pt x="277" y="172"/>
                  <a:pt x="282" y="203"/>
                </a:cubicBezTo>
                <a:cubicBezTo>
                  <a:pt x="287" y="231"/>
                  <a:pt x="295" y="335"/>
                  <a:pt x="274" y="424"/>
                </a:cubicBezTo>
                <a:cubicBezTo>
                  <a:pt x="274" y="424"/>
                  <a:pt x="250" y="393"/>
                  <a:pt x="217" y="372"/>
                </a:cubicBezTo>
                <a:cubicBezTo>
                  <a:pt x="183" y="349"/>
                  <a:pt x="148" y="318"/>
                  <a:pt x="136" y="299"/>
                </a:cubicBezTo>
                <a:cubicBezTo>
                  <a:pt x="124" y="281"/>
                  <a:pt x="121" y="234"/>
                  <a:pt x="123" y="209"/>
                </a:cubicBezTo>
                <a:cubicBezTo>
                  <a:pt x="123" y="209"/>
                  <a:pt x="105" y="271"/>
                  <a:pt x="130" y="312"/>
                </a:cubicBezTo>
                <a:cubicBezTo>
                  <a:pt x="130" y="312"/>
                  <a:pt x="70" y="282"/>
                  <a:pt x="0" y="318"/>
                </a:cubicBezTo>
                <a:cubicBezTo>
                  <a:pt x="0" y="318"/>
                  <a:pt x="83" y="298"/>
                  <a:pt x="131" y="330"/>
                </a:cubicBezTo>
                <a:cubicBezTo>
                  <a:pt x="183" y="364"/>
                  <a:pt x="216" y="408"/>
                  <a:pt x="230" y="430"/>
                </a:cubicBezTo>
                <a:cubicBezTo>
                  <a:pt x="244" y="453"/>
                  <a:pt x="257" y="485"/>
                  <a:pt x="257" y="485"/>
                </a:cubicBezTo>
                <a:cubicBezTo>
                  <a:pt x="257" y="485"/>
                  <a:pt x="182" y="437"/>
                  <a:pt x="92" y="502"/>
                </a:cubicBezTo>
                <a:cubicBezTo>
                  <a:pt x="92" y="502"/>
                  <a:pt x="145" y="475"/>
                  <a:pt x="190" y="482"/>
                </a:cubicBezTo>
                <a:cubicBezTo>
                  <a:pt x="235" y="489"/>
                  <a:pt x="275" y="528"/>
                  <a:pt x="275" y="605"/>
                </a:cubicBezTo>
                <a:cubicBezTo>
                  <a:pt x="275" y="681"/>
                  <a:pt x="257" y="753"/>
                  <a:pt x="203" y="80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defTabSz="1219200"/>
            <a:endParaRPr lang="zh-CN" altLang="en-US" sz="2400">
              <a:solidFill>
                <a:srgbClr val="333333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3" name="PA_椭圆 13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4049828" y="2145316"/>
            <a:ext cx="1217332" cy="1217708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txBody>
          <a:bodyPr vert="horz" wrap="square" lIns="0" tIns="0" rIns="0" bIns="0" numCol="1" anchor="t" anchorCtr="0" compatLnSpc="1"/>
          <a:lstStyle/>
          <a:p>
            <a:pPr algn="ctr" defTabSz="1219200"/>
            <a:r>
              <a:rPr lang="en-US" altLang="zh-CN" sz="3600" b="1">
                <a:solidFill>
                  <a:srgbClr val="FFFFFF"/>
                </a:solidFill>
                <a:latin typeface="Calibri" panose="020F0502020204030204"/>
                <a:ea typeface="宋体" panose="02010600030101010101" pitchFamily="2" charset="-122"/>
              </a:rPr>
              <a:t>01</a:t>
            </a:r>
            <a:endParaRPr lang="en-US" altLang="zh-CN" sz="3600" b="1" dirty="0">
              <a:solidFill>
                <a:srgbClr val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" name="PA_任意多边形 17"/>
          <p:cNvSpPr>
            <a:spLocks noEditPoints="1"/>
          </p:cNvSpPr>
          <p:nvPr>
            <p:custDataLst>
              <p:tags r:id="rId10"/>
            </p:custDataLst>
          </p:nvPr>
        </p:nvSpPr>
        <p:spPr bwMode="auto">
          <a:xfrm>
            <a:off x="2207246" y="1347325"/>
            <a:ext cx="244432" cy="329203"/>
          </a:xfrm>
          <a:custGeom>
            <a:avLst/>
            <a:gdLst>
              <a:gd name="T0" fmla="*/ 47 w 65"/>
              <a:gd name="T1" fmla="*/ 6 h 87"/>
              <a:gd name="T2" fmla="*/ 53 w 65"/>
              <a:gd name="T3" fmla="*/ 40 h 87"/>
              <a:gd name="T4" fmla="*/ 47 w 65"/>
              <a:gd name="T5" fmla="*/ 55 h 87"/>
              <a:gd name="T6" fmla="*/ 17 w 65"/>
              <a:gd name="T7" fmla="*/ 55 h 87"/>
              <a:gd name="T8" fmla="*/ 11 w 65"/>
              <a:gd name="T9" fmla="*/ 40 h 87"/>
              <a:gd name="T10" fmla="*/ 17 w 65"/>
              <a:gd name="T11" fmla="*/ 6 h 87"/>
              <a:gd name="T12" fmla="*/ 18 w 65"/>
              <a:gd name="T13" fmla="*/ 28 h 87"/>
              <a:gd name="T14" fmla="*/ 47 w 65"/>
              <a:gd name="T15" fmla="*/ 28 h 87"/>
              <a:gd name="T16" fmla="*/ 42 w 65"/>
              <a:gd name="T17" fmla="*/ 11 h 87"/>
              <a:gd name="T18" fmla="*/ 22 w 65"/>
              <a:gd name="T19" fmla="*/ 11 h 87"/>
              <a:gd name="T20" fmla="*/ 18 w 65"/>
              <a:gd name="T21" fmla="*/ 28 h 87"/>
              <a:gd name="T22" fmla="*/ 47 w 65"/>
              <a:gd name="T23" fmla="*/ 32 h 87"/>
              <a:gd name="T24" fmla="*/ 18 w 65"/>
              <a:gd name="T25" fmla="*/ 40 h 87"/>
              <a:gd name="T26" fmla="*/ 22 w 65"/>
              <a:gd name="T27" fmla="*/ 50 h 87"/>
              <a:gd name="T28" fmla="*/ 42 w 65"/>
              <a:gd name="T29" fmla="*/ 50 h 87"/>
              <a:gd name="T30" fmla="*/ 47 w 65"/>
              <a:gd name="T31" fmla="*/ 32 h 87"/>
              <a:gd name="T32" fmla="*/ 12 w 65"/>
              <a:gd name="T33" fmla="*/ 87 h 87"/>
              <a:gd name="T34" fmla="*/ 32 w 65"/>
              <a:gd name="T35" fmla="*/ 87 h 87"/>
              <a:gd name="T36" fmla="*/ 52 w 65"/>
              <a:gd name="T37" fmla="*/ 87 h 87"/>
              <a:gd name="T38" fmla="*/ 52 w 65"/>
              <a:gd name="T39" fmla="*/ 80 h 87"/>
              <a:gd name="T40" fmla="*/ 35 w 65"/>
              <a:gd name="T41" fmla="*/ 72 h 87"/>
              <a:gd name="T42" fmla="*/ 62 w 65"/>
              <a:gd name="T43" fmla="*/ 52 h 87"/>
              <a:gd name="T44" fmla="*/ 65 w 65"/>
              <a:gd name="T45" fmla="*/ 30 h 87"/>
              <a:gd name="T46" fmla="*/ 58 w 65"/>
              <a:gd name="T47" fmla="*/ 30 h 87"/>
              <a:gd name="T48" fmla="*/ 56 w 65"/>
              <a:gd name="T49" fmla="*/ 50 h 87"/>
              <a:gd name="T50" fmla="*/ 32 w 65"/>
              <a:gd name="T51" fmla="*/ 66 h 87"/>
              <a:gd name="T52" fmla="*/ 14 w 65"/>
              <a:gd name="T53" fmla="*/ 58 h 87"/>
              <a:gd name="T54" fmla="*/ 6 w 65"/>
              <a:gd name="T55" fmla="*/ 40 h 87"/>
              <a:gd name="T56" fmla="*/ 3 w 65"/>
              <a:gd name="T57" fmla="*/ 27 h 87"/>
              <a:gd name="T58" fmla="*/ 0 w 65"/>
              <a:gd name="T59" fmla="*/ 40 h 87"/>
              <a:gd name="T60" fmla="*/ 9 w 65"/>
              <a:gd name="T61" fmla="*/ 63 h 87"/>
              <a:gd name="T62" fmla="*/ 29 w 65"/>
              <a:gd name="T63" fmla="*/ 72 h 87"/>
              <a:gd name="T64" fmla="*/ 12 w 65"/>
              <a:gd name="T65" fmla="*/ 80 h 87"/>
              <a:gd name="T66" fmla="*/ 12 w 65"/>
              <a:gd name="T67" fmla="*/ 87 h 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65" h="87">
                <a:moveTo>
                  <a:pt x="32" y="0"/>
                </a:moveTo>
                <a:cubicBezTo>
                  <a:pt x="38" y="0"/>
                  <a:pt x="43" y="2"/>
                  <a:pt x="47" y="6"/>
                </a:cubicBezTo>
                <a:cubicBezTo>
                  <a:pt x="51" y="10"/>
                  <a:pt x="53" y="15"/>
                  <a:pt x="53" y="21"/>
                </a:cubicBezTo>
                <a:cubicBezTo>
                  <a:pt x="53" y="40"/>
                  <a:pt x="53" y="40"/>
                  <a:pt x="53" y="40"/>
                </a:cubicBezTo>
                <a:cubicBezTo>
                  <a:pt x="53" y="46"/>
                  <a:pt x="51" y="51"/>
                  <a:pt x="47" y="55"/>
                </a:cubicBezTo>
                <a:cubicBezTo>
                  <a:pt x="47" y="55"/>
                  <a:pt x="47" y="55"/>
                  <a:pt x="47" y="55"/>
                </a:cubicBezTo>
                <a:cubicBezTo>
                  <a:pt x="43" y="59"/>
                  <a:pt x="38" y="61"/>
                  <a:pt x="32" y="61"/>
                </a:cubicBezTo>
                <a:cubicBezTo>
                  <a:pt x="26" y="61"/>
                  <a:pt x="21" y="59"/>
                  <a:pt x="17" y="55"/>
                </a:cubicBezTo>
                <a:cubicBezTo>
                  <a:pt x="17" y="55"/>
                  <a:pt x="17" y="55"/>
                  <a:pt x="17" y="55"/>
                </a:cubicBezTo>
                <a:cubicBezTo>
                  <a:pt x="13" y="51"/>
                  <a:pt x="11" y="46"/>
                  <a:pt x="11" y="40"/>
                </a:cubicBezTo>
                <a:cubicBezTo>
                  <a:pt x="11" y="21"/>
                  <a:pt x="11" y="21"/>
                  <a:pt x="11" y="21"/>
                </a:cubicBezTo>
                <a:cubicBezTo>
                  <a:pt x="11" y="15"/>
                  <a:pt x="13" y="10"/>
                  <a:pt x="17" y="6"/>
                </a:cubicBezTo>
                <a:cubicBezTo>
                  <a:pt x="21" y="2"/>
                  <a:pt x="26" y="0"/>
                  <a:pt x="32" y="0"/>
                </a:cubicBezTo>
                <a:close/>
                <a:moveTo>
                  <a:pt x="18" y="28"/>
                </a:moveTo>
                <a:cubicBezTo>
                  <a:pt x="18" y="28"/>
                  <a:pt x="18" y="28"/>
                  <a:pt x="18" y="28"/>
                </a:cubicBezTo>
                <a:cubicBezTo>
                  <a:pt x="47" y="28"/>
                  <a:pt x="47" y="28"/>
                  <a:pt x="47" y="28"/>
                </a:cubicBezTo>
                <a:cubicBezTo>
                  <a:pt x="47" y="21"/>
                  <a:pt x="47" y="21"/>
                  <a:pt x="47" y="21"/>
                </a:cubicBezTo>
                <a:cubicBezTo>
                  <a:pt x="47" y="17"/>
                  <a:pt x="45" y="13"/>
                  <a:pt x="42" y="11"/>
                </a:cubicBezTo>
                <a:cubicBezTo>
                  <a:pt x="40" y="8"/>
                  <a:pt x="36" y="6"/>
                  <a:pt x="32" y="6"/>
                </a:cubicBezTo>
                <a:cubicBezTo>
                  <a:pt x="28" y="6"/>
                  <a:pt x="25" y="8"/>
                  <a:pt x="22" y="11"/>
                </a:cubicBezTo>
                <a:cubicBezTo>
                  <a:pt x="19" y="13"/>
                  <a:pt x="18" y="17"/>
                  <a:pt x="18" y="21"/>
                </a:cubicBezTo>
                <a:cubicBezTo>
                  <a:pt x="18" y="28"/>
                  <a:pt x="18" y="28"/>
                  <a:pt x="18" y="28"/>
                </a:cubicBezTo>
                <a:close/>
                <a:moveTo>
                  <a:pt x="47" y="32"/>
                </a:moveTo>
                <a:cubicBezTo>
                  <a:pt x="47" y="32"/>
                  <a:pt x="47" y="32"/>
                  <a:pt x="47" y="32"/>
                </a:cubicBezTo>
                <a:cubicBezTo>
                  <a:pt x="18" y="32"/>
                  <a:pt x="18" y="32"/>
                  <a:pt x="18" y="32"/>
                </a:cubicBezTo>
                <a:cubicBezTo>
                  <a:pt x="18" y="40"/>
                  <a:pt x="18" y="40"/>
                  <a:pt x="18" y="40"/>
                </a:cubicBezTo>
                <a:cubicBezTo>
                  <a:pt x="18" y="44"/>
                  <a:pt x="19" y="47"/>
                  <a:pt x="22" y="50"/>
                </a:cubicBezTo>
                <a:cubicBezTo>
                  <a:pt x="22" y="50"/>
                  <a:pt x="22" y="50"/>
                  <a:pt x="22" y="50"/>
                </a:cubicBezTo>
                <a:cubicBezTo>
                  <a:pt x="25" y="53"/>
                  <a:pt x="28" y="54"/>
                  <a:pt x="32" y="54"/>
                </a:cubicBezTo>
                <a:cubicBezTo>
                  <a:pt x="36" y="54"/>
                  <a:pt x="40" y="53"/>
                  <a:pt x="42" y="50"/>
                </a:cubicBezTo>
                <a:cubicBezTo>
                  <a:pt x="45" y="48"/>
                  <a:pt x="47" y="44"/>
                  <a:pt x="47" y="40"/>
                </a:cubicBezTo>
                <a:cubicBezTo>
                  <a:pt x="47" y="32"/>
                  <a:pt x="47" y="32"/>
                  <a:pt x="47" y="32"/>
                </a:cubicBezTo>
                <a:close/>
                <a:moveTo>
                  <a:pt x="12" y="87"/>
                </a:moveTo>
                <a:cubicBezTo>
                  <a:pt x="12" y="87"/>
                  <a:pt x="12" y="87"/>
                  <a:pt x="12" y="87"/>
                </a:cubicBezTo>
                <a:cubicBezTo>
                  <a:pt x="32" y="87"/>
                  <a:pt x="32" y="87"/>
                  <a:pt x="32" y="87"/>
                </a:cubicBezTo>
                <a:cubicBezTo>
                  <a:pt x="32" y="87"/>
                  <a:pt x="32" y="87"/>
                  <a:pt x="32" y="87"/>
                </a:cubicBezTo>
                <a:cubicBezTo>
                  <a:pt x="32" y="87"/>
                  <a:pt x="32" y="87"/>
                  <a:pt x="32" y="87"/>
                </a:cubicBezTo>
                <a:cubicBezTo>
                  <a:pt x="52" y="87"/>
                  <a:pt x="52" y="87"/>
                  <a:pt x="52" y="87"/>
                </a:cubicBezTo>
                <a:cubicBezTo>
                  <a:pt x="54" y="87"/>
                  <a:pt x="55" y="86"/>
                  <a:pt x="55" y="84"/>
                </a:cubicBezTo>
                <a:cubicBezTo>
                  <a:pt x="55" y="82"/>
                  <a:pt x="54" y="80"/>
                  <a:pt x="52" y="80"/>
                </a:cubicBezTo>
                <a:cubicBezTo>
                  <a:pt x="35" y="80"/>
                  <a:pt x="35" y="80"/>
                  <a:pt x="35" y="80"/>
                </a:cubicBezTo>
                <a:cubicBezTo>
                  <a:pt x="35" y="72"/>
                  <a:pt x="35" y="72"/>
                  <a:pt x="35" y="72"/>
                </a:cubicBezTo>
                <a:cubicBezTo>
                  <a:pt x="43" y="71"/>
                  <a:pt x="50" y="68"/>
                  <a:pt x="55" y="63"/>
                </a:cubicBezTo>
                <a:cubicBezTo>
                  <a:pt x="58" y="60"/>
                  <a:pt x="60" y="56"/>
                  <a:pt x="62" y="52"/>
                </a:cubicBezTo>
                <a:cubicBezTo>
                  <a:pt x="64" y="49"/>
                  <a:pt x="65" y="44"/>
                  <a:pt x="65" y="40"/>
                </a:cubicBezTo>
                <a:cubicBezTo>
                  <a:pt x="65" y="30"/>
                  <a:pt x="65" y="30"/>
                  <a:pt x="65" y="30"/>
                </a:cubicBezTo>
                <a:cubicBezTo>
                  <a:pt x="65" y="28"/>
                  <a:pt x="63" y="27"/>
                  <a:pt x="61" y="27"/>
                </a:cubicBezTo>
                <a:cubicBezTo>
                  <a:pt x="59" y="27"/>
                  <a:pt x="58" y="28"/>
                  <a:pt x="58" y="30"/>
                </a:cubicBezTo>
                <a:cubicBezTo>
                  <a:pt x="58" y="40"/>
                  <a:pt x="58" y="40"/>
                  <a:pt x="58" y="40"/>
                </a:cubicBezTo>
                <a:cubicBezTo>
                  <a:pt x="58" y="43"/>
                  <a:pt x="57" y="47"/>
                  <a:pt x="56" y="50"/>
                </a:cubicBezTo>
                <a:cubicBezTo>
                  <a:pt x="55" y="53"/>
                  <a:pt x="53" y="56"/>
                  <a:pt x="50" y="58"/>
                </a:cubicBezTo>
                <a:cubicBezTo>
                  <a:pt x="46" y="63"/>
                  <a:pt x="39" y="66"/>
                  <a:pt x="32" y="66"/>
                </a:cubicBezTo>
                <a:cubicBezTo>
                  <a:pt x="29" y="66"/>
                  <a:pt x="25" y="65"/>
                  <a:pt x="22" y="64"/>
                </a:cubicBezTo>
                <a:cubicBezTo>
                  <a:pt x="19" y="62"/>
                  <a:pt x="16" y="61"/>
                  <a:pt x="14" y="58"/>
                </a:cubicBezTo>
                <a:cubicBezTo>
                  <a:pt x="12" y="56"/>
                  <a:pt x="10" y="53"/>
                  <a:pt x="8" y="50"/>
                </a:cubicBezTo>
                <a:cubicBezTo>
                  <a:pt x="7" y="47"/>
                  <a:pt x="6" y="43"/>
                  <a:pt x="6" y="40"/>
                </a:cubicBezTo>
                <a:cubicBezTo>
                  <a:pt x="6" y="30"/>
                  <a:pt x="6" y="30"/>
                  <a:pt x="6" y="30"/>
                </a:cubicBezTo>
                <a:cubicBezTo>
                  <a:pt x="6" y="28"/>
                  <a:pt x="5" y="27"/>
                  <a:pt x="3" y="27"/>
                </a:cubicBezTo>
                <a:cubicBezTo>
                  <a:pt x="1" y="27"/>
                  <a:pt x="0" y="28"/>
                  <a:pt x="0" y="30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44"/>
                  <a:pt x="1" y="49"/>
                  <a:pt x="2" y="52"/>
                </a:cubicBezTo>
                <a:cubicBezTo>
                  <a:pt x="4" y="56"/>
                  <a:pt x="6" y="60"/>
                  <a:pt x="9" y="63"/>
                </a:cubicBezTo>
                <a:cubicBezTo>
                  <a:pt x="12" y="66"/>
                  <a:pt x="16" y="68"/>
                  <a:pt x="20" y="70"/>
                </a:cubicBezTo>
                <a:cubicBezTo>
                  <a:pt x="23" y="71"/>
                  <a:pt x="26" y="72"/>
                  <a:pt x="29" y="72"/>
                </a:cubicBezTo>
                <a:cubicBezTo>
                  <a:pt x="29" y="80"/>
                  <a:pt x="29" y="80"/>
                  <a:pt x="29" y="80"/>
                </a:cubicBezTo>
                <a:cubicBezTo>
                  <a:pt x="12" y="80"/>
                  <a:pt x="12" y="80"/>
                  <a:pt x="12" y="80"/>
                </a:cubicBezTo>
                <a:cubicBezTo>
                  <a:pt x="10" y="80"/>
                  <a:pt x="9" y="82"/>
                  <a:pt x="9" y="84"/>
                </a:cubicBezTo>
                <a:cubicBezTo>
                  <a:pt x="9" y="86"/>
                  <a:pt x="10" y="87"/>
                  <a:pt x="12" y="8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defTabSz="1219200"/>
            <a:endParaRPr lang="zh-CN" altLang="en-US" sz="2400">
              <a:solidFill>
                <a:srgbClr val="333333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8" name="PA_任意多边形 18"/>
          <p:cNvSpPr>
            <a:spLocks noEditPoints="1"/>
          </p:cNvSpPr>
          <p:nvPr>
            <p:custDataLst>
              <p:tags r:id="rId11"/>
            </p:custDataLst>
          </p:nvPr>
        </p:nvSpPr>
        <p:spPr bwMode="auto">
          <a:xfrm>
            <a:off x="9509879" y="3838523"/>
            <a:ext cx="327507" cy="263490"/>
          </a:xfrm>
          <a:custGeom>
            <a:avLst/>
            <a:gdLst>
              <a:gd name="T0" fmla="*/ 76 w 87"/>
              <a:gd name="T1" fmla="*/ 27 h 71"/>
              <a:gd name="T2" fmla="*/ 69 w 87"/>
              <a:gd name="T3" fmla="*/ 27 h 71"/>
              <a:gd name="T4" fmla="*/ 21 w 87"/>
              <a:gd name="T5" fmla="*/ 11 h 71"/>
              <a:gd name="T6" fmla="*/ 10 w 87"/>
              <a:gd name="T7" fmla="*/ 11 h 71"/>
              <a:gd name="T8" fmla="*/ 20 w 87"/>
              <a:gd name="T9" fmla="*/ 12 h 71"/>
              <a:gd name="T10" fmla="*/ 6 w 87"/>
              <a:gd name="T11" fmla="*/ 12 h 71"/>
              <a:gd name="T12" fmla="*/ 6 w 87"/>
              <a:gd name="T13" fmla="*/ 9 h 71"/>
              <a:gd name="T14" fmla="*/ 8 w 87"/>
              <a:gd name="T15" fmla="*/ 7 h 71"/>
              <a:gd name="T16" fmla="*/ 24 w 87"/>
              <a:gd name="T17" fmla="*/ 2 h 71"/>
              <a:gd name="T18" fmla="*/ 60 w 87"/>
              <a:gd name="T19" fmla="*/ 0 h 71"/>
              <a:gd name="T20" fmla="*/ 67 w 87"/>
              <a:gd name="T21" fmla="*/ 12 h 71"/>
              <a:gd name="T22" fmla="*/ 87 w 87"/>
              <a:gd name="T23" fmla="*/ 16 h 71"/>
              <a:gd name="T24" fmla="*/ 87 w 87"/>
              <a:gd name="T25" fmla="*/ 68 h 71"/>
              <a:gd name="T26" fmla="*/ 84 w 87"/>
              <a:gd name="T27" fmla="*/ 71 h 71"/>
              <a:gd name="T28" fmla="*/ 0 w 87"/>
              <a:gd name="T29" fmla="*/ 68 h 71"/>
              <a:gd name="T30" fmla="*/ 0 w 87"/>
              <a:gd name="T31" fmla="*/ 16 h 71"/>
              <a:gd name="T32" fmla="*/ 3 w 87"/>
              <a:gd name="T33" fmla="*/ 12 h 71"/>
              <a:gd name="T34" fmla="*/ 44 w 87"/>
              <a:gd name="T35" fmla="*/ 26 h 71"/>
              <a:gd name="T36" fmla="*/ 52 w 87"/>
              <a:gd name="T37" fmla="*/ 29 h 71"/>
              <a:gd name="T38" fmla="*/ 44 w 87"/>
              <a:gd name="T39" fmla="*/ 48 h 71"/>
              <a:gd name="T40" fmla="*/ 44 w 87"/>
              <a:gd name="T41" fmla="*/ 26 h 71"/>
              <a:gd name="T42" fmla="*/ 49 w 87"/>
              <a:gd name="T43" fmla="*/ 32 h 71"/>
              <a:gd name="T44" fmla="*/ 36 w 87"/>
              <a:gd name="T45" fmla="*/ 37 h 71"/>
              <a:gd name="T46" fmla="*/ 51 w 87"/>
              <a:gd name="T47" fmla="*/ 37 h 71"/>
              <a:gd name="T48" fmla="*/ 49 w 87"/>
              <a:gd name="T49" fmla="*/ 32 h 71"/>
              <a:gd name="T50" fmla="*/ 23 w 87"/>
              <a:gd name="T51" fmla="*/ 19 h 71"/>
              <a:gd name="T52" fmla="*/ 7 w 87"/>
              <a:gd name="T53" fmla="*/ 64 h 71"/>
              <a:gd name="T54" fmla="*/ 81 w 87"/>
              <a:gd name="T55" fmla="*/ 19 h 71"/>
              <a:gd name="T56" fmla="*/ 65 w 87"/>
              <a:gd name="T57" fmla="*/ 19 h 71"/>
              <a:gd name="T58" fmla="*/ 58 w 87"/>
              <a:gd name="T59" fmla="*/ 7 h 71"/>
              <a:gd name="T60" fmla="*/ 26 w 87"/>
              <a:gd name="T61" fmla="*/ 17 h 71"/>
              <a:gd name="T62" fmla="*/ 44 w 87"/>
              <a:gd name="T63" fmla="*/ 14 h 71"/>
              <a:gd name="T64" fmla="*/ 67 w 87"/>
              <a:gd name="T65" fmla="*/ 37 h 71"/>
              <a:gd name="T66" fmla="*/ 20 w 87"/>
              <a:gd name="T67" fmla="*/ 37 h 71"/>
              <a:gd name="T68" fmla="*/ 44 w 87"/>
              <a:gd name="T69" fmla="*/ 21 h 71"/>
              <a:gd name="T70" fmla="*/ 27 w 87"/>
              <a:gd name="T71" fmla="*/ 37 h 71"/>
              <a:gd name="T72" fmla="*/ 60 w 87"/>
              <a:gd name="T73" fmla="*/ 37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87" h="71">
                <a:moveTo>
                  <a:pt x="72" y="24"/>
                </a:moveTo>
                <a:cubicBezTo>
                  <a:pt x="74" y="24"/>
                  <a:pt x="76" y="25"/>
                  <a:pt x="76" y="27"/>
                </a:cubicBezTo>
                <a:cubicBezTo>
                  <a:pt x="76" y="28"/>
                  <a:pt x="74" y="30"/>
                  <a:pt x="72" y="30"/>
                </a:cubicBezTo>
                <a:cubicBezTo>
                  <a:pt x="71" y="30"/>
                  <a:pt x="69" y="28"/>
                  <a:pt x="69" y="27"/>
                </a:cubicBezTo>
                <a:cubicBezTo>
                  <a:pt x="69" y="25"/>
                  <a:pt x="71" y="24"/>
                  <a:pt x="72" y="24"/>
                </a:cubicBezTo>
                <a:close/>
                <a:moveTo>
                  <a:pt x="21" y="11"/>
                </a:moveTo>
                <a:cubicBezTo>
                  <a:pt x="21" y="11"/>
                  <a:pt x="21" y="11"/>
                  <a:pt x="21" y="11"/>
                </a:cubicBezTo>
                <a:cubicBezTo>
                  <a:pt x="10" y="11"/>
                  <a:pt x="10" y="11"/>
                  <a:pt x="10" y="11"/>
                </a:cubicBezTo>
                <a:cubicBezTo>
                  <a:pt x="10" y="12"/>
                  <a:pt x="10" y="12"/>
                  <a:pt x="10" y="12"/>
                </a:cubicBezTo>
                <a:cubicBezTo>
                  <a:pt x="20" y="12"/>
                  <a:pt x="20" y="12"/>
                  <a:pt x="20" y="12"/>
                </a:cubicBezTo>
                <a:cubicBezTo>
                  <a:pt x="21" y="11"/>
                  <a:pt x="21" y="11"/>
                  <a:pt x="21" y="11"/>
                </a:cubicBezTo>
                <a:close/>
                <a:moveTo>
                  <a:pt x="6" y="12"/>
                </a:moveTo>
                <a:cubicBezTo>
                  <a:pt x="6" y="12"/>
                  <a:pt x="6" y="12"/>
                  <a:pt x="6" y="12"/>
                </a:cubicBezTo>
                <a:cubicBezTo>
                  <a:pt x="6" y="9"/>
                  <a:pt x="6" y="9"/>
                  <a:pt x="6" y="9"/>
                </a:cubicBezTo>
                <a:cubicBezTo>
                  <a:pt x="6" y="9"/>
                  <a:pt x="6" y="9"/>
                  <a:pt x="6" y="9"/>
                </a:cubicBezTo>
                <a:cubicBezTo>
                  <a:pt x="6" y="8"/>
                  <a:pt x="7" y="7"/>
                  <a:pt x="8" y="7"/>
                </a:cubicBezTo>
                <a:cubicBezTo>
                  <a:pt x="22" y="7"/>
                  <a:pt x="22" y="7"/>
                  <a:pt x="22" y="7"/>
                </a:cubicBezTo>
                <a:cubicBezTo>
                  <a:pt x="24" y="2"/>
                  <a:pt x="24" y="2"/>
                  <a:pt x="24" y="2"/>
                </a:cubicBezTo>
                <a:cubicBezTo>
                  <a:pt x="25" y="1"/>
                  <a:pt x="26" y="0"/>
                  <a:pt x="27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2" y="0"/>
                  <a:pt x="63" y="1"/>
                  <a:pt x="63" y="3"/>
                </a:cubicBezTo>
                <a:cubicBezTo>
                  <a:pt x="67" y="12"/>
                  <a:pt x="67" y="12"/>
                  <a:pt x="67" y="12"/>
                </a:cubicBezTo>
                <a:cubicBezTo>
                  <a:pt x="84" y="12"/>
                  <a:pt x="84" y="12"/>
                  <a:pt x="84" y="12"/>
                </a:cubicBezTo>
                <a:cubicBezTo>
                  <a:pt x="86" y="12"/>
                  <a:pt x="87" y="14"/>
                  <a:pt x="87" y="16"/>
                </a:cubicBezTo>
                <a:cubicBezTo>
                  <a:pt x="87" y="16"/>
                  <a:pt x="87" y="16"/>
                  <a:pt x="87" y="16"/>
                </a:cubicBezTo>
                <a:cubicBezTo>
                  <a:pt x="87" y="68"/>
                  <a:pt x="87" y="68"/>
                  <a:pt x="87" y="68"/>
                </a:cubicBezTo>
                <a:cubicBezTo>
                  <a:pt x="87" y="69"/>
                  <a:pt x="86" y="71"/>
                  <a:pt x="84" y="71"/>
                </a:cubicBezTo>
                <a:cubicBezTo>
                  <a:pt x="84" y="71"/>
                  <a:pt x="84" y="71"/>
                  <a:pt x="84" y="71"/>
                </a:cubicBezTo>
                <a:cubicBezTo>
                  <a:pt x="3" y="71"/>
                  <a:pt x="3" y="71"/>
                  <a:pt x="3" y="71"/>
                </a:cubicBezTo>
                <a:cubicBezTo>
                  <a:pt x="1" y="71"/>
                  <a:pt x="0" y="69"/>
                  <a:pt x="0" y="68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14"/>
                  <a:pt x="1" y="12"/>
                  <a:pt x="3" y="12"/>
                </a:cubicBezTo>
                <a:cubicBezTo>
                  <a:pt x="3" y="12"/>
                  <a:pt x="3" y="12"/>
                  <a:pt x="3" y="12"/>
                </a:cubicBezTo>
                <a:cubicBezTo>
                  <a:pt x="6" y="12"/>
                  <a:pt x="6" y="12"/>
                  <a:pt x="6" y="12"/>
                </a:cubicBezTo>
                <a:close/>
                <a:moveTo>
                  <a:pt x="44" y="26"/>
                </a:moveTo>
                <a:cubicBezTo>
                  <a:pt x="44" y="26"/>
                  <a:pt x="44" y="26"/>
                  <a:pt x="44" y="26"/>
                </a:cubicBezTo>
                <a:cubicBezTo>
                  <a:pt x="47" y="26"/>
                  <a:pt x="50" y="27"/>
                  <a:pt x="52" y="29"/>
                </a:cubicBezTo>
                <a:cubicBezTo>
                  <a:pt x="54" y="31"/>
                  <a:pt x="55" y="34"/>
                  <a:pt x="55" y="37"/>
                </a:cubicBezTo>
                <a:cubicBezTo>
                  <a:pt x="55" y="43"/>
                  <a:pt x="50" y="48"/>
                  <a:pt x="44" y="48"/>
                </a:cubicBezTo>
                <a:cubicBezTo>
                  <a:pt x="37" y="48"/>
                  <a:pt x="32" y="43"/>
                  <a:pt x="32" y="37"/>
                </a:cubicBezTo>
                <a:cubicBezTo>
                  <a:pt x="32" y="31"/>
                  <a:pt x="37" y="26"/>
                  <a:pt x="44" y="26"/>
                </a:cubicBezTo>
                <a:close/>
                <a:moveTo>
                  <a:pt x="49" y="32"/>
                </a:moveTo>
                <a:cubicBezTo>
                  <a:pt x="49" y="32"/>
                  <a:pt x="49" y="32"/>
                  <a:pt x="49" y="32"/>
                </a:cubicBezTo>
                <a:cubicBezTo>
                  <a:pt x="48" y="31"/>
                  <a:pt x="46" y="30"/>
                  <a:pt x="44" y="30"/>
                </a:cubicBezTo>
                <a:cubicBezTo>
                  <a:pt x="40" y="30"/>
                  <a:pt x="36" y="33"/>
                  <a:pt x="36" y="37"/>
                </a:cubicBezTo>
                <a:cubicBezTo>
                  <a:pt x="36" y="41"/>
                  <a:pt x="40" y="44"/>
                  <a:pt x="44" y="44"/>
                </a:cubicBezTo>
                <a:cubicBezTo>
                  <a:pt x="48" y="44"/>
                  <a:pt x="51" y="41"/>
                  <a:pt x="51" y="37"/>
                </a:cubicBezTo>
                <a:cubicBezTo>
                  <a:pt x="51" y="35"/>
                  <a:pt x="50" y="33"/>
                  <a:pt x="49" y="32"/>
                </a:cubicBezTo>
                <a:cubicBezTo>
                  <a:pt x="49" y="32"/>
                  <a:pt x="49" y="32"/>
                  <a:pt x="49" y="32"/>
                </a:cubicBezTo>
                <a:close/>
                <a:moveTo>
                  <a:pt x="23" y="19"/>
                </a:moveTo>
                <a:cubicBezTo>
                  <a:pt x="23" y="19"/>
                  <a:pt x="23" y="19"/>
                  <a:pt x="23" y="19"/>
                </a:cubicBezTo>
                <a:cubicBezTo>
                  <a:pt x="7" y="19"/>
                  <a:pt x="7" y="19"/>
                  <a:pt x="7" y="19"/>
                </a:cubicBezTo>
                <a:cubicBezTo>
                  <a:pt x="7" y="64"/>
                  <a:pt x="7" y="64"/>
                  <a:pt x="7" y="64"/>
                </a:cubicBezTo>
                <a:cubicBezTo>
                  <a:pt x="81" y="64"/>
                  <a:pt x="81" y="64"/>
                  <a:pt x="81" y="64"/>
                </a:cubicBezTo>
                <a:cubicBezTo>
                  <a:pt x="81" y="19"/>
                  <a:pt x="81" y="19"/>
                  <a:pt x="81" y="19"/>
                </a:cubicBezTo>
                <a:cubicBezTo>
                  <a:pt x="65" y="19"/>
                  <a:pt x="65" y="19"/>
                  <a:pt x="65" y="19"/>
                </a:cubicBezTo>
                <a:cubicBezTo>
                  <a:pt x="65" y="19"/>
                  <a:pt x="65" y="19"/>
                  <a:pt x="65" y="19"/>
                </a:cubicBezTo>
                <a:cubicBezTo>
                  <a:pt x="63" y="19"/>
                  <a:pt x="62" y="18"/>
                  <a:pt x="61" y="17"/>
                </a:cubicBezTo>
                <a:cubicBezTo>
                  <a:pt x="58" y="7"/>
                  <a:pt x="58" y="7"/>
                  <a:pt x="58" y="7"/>
                </a:cubicBezTo>
                <a:cubicBezTo>
                  <a:pt x="30" y="7"/>
                  <a:pt x="30" y="7"/>
                  <a:pt x="30" y="7"/>
                </a:cubicBezTo>
                <a:cubicBezTo>
                  <a:pt x="26" y="17"/>
                  <a:pt x="26" y="17"/>
                  <a:pt x="26" y="17"/>
                </a:cubicBezTo>
                <a:cubicBezTo>
                  <a:pt x="26" y="18"/>
                  <a:pt x="24" y="19"/>
                  <a:pt x="23" y="19"/>
                </a:cubicBezTo>
                <a:close/>
                <a:moveTo>
                  <a:pt x="44" y="14"/>
                </a:moveTo>
                <a:cubicBezTo>
                  <a:pt x="44" y="14"/>
                  <a:pt x="44" y="14"/>
                  <a:pt x="44" y="14"/>
                </a:cubicBezTo>
                <a:cubicBezTo>
                  <a:pt x="56" y="14"/>
                  <a:pt x="67" y="24"/>
                  <a:pt x="67" y="37"/>
                </a:cubicBezTo>
                <a:cubicBezTo>
                  <a:pt x="67" y="50"/>
                  <a:pt x="56" y="60"/>
                  <a:pt x="44" y="60"/>
                </a:cubicBezTo>
                <a:cubicBezTo>
                  <a:pt x="31" y="60"/>
                  <a:pt x="20" y="50"/>
                  <a:pt x="20" y="37"/>
                </a:cubicBezTo>
                <a:cubicBezTo>
                  <a:pt x="20" y="24"/>
                  <a:pt x="31" y="14"/>
                  <a:pt x="44" y="14"/>
                </a:cubicBezTo>
                <a:close/>
                <a:moveTo>
                  <a:pt x="44" y="21"/>
                </a:moveTo>
                <a:cubicBezTo>
                  <a:pt x="44" y="21"/>
                  <a:pt x="44" y="21"/>
                  <a:pt x="44" y="21"/>
                </a:cubicBezTo>
                <a:cubicBezTo>
                  <a:pt x="35" y="21"/>
                  <a:pt x="27" y="28"/>
                  <a:pt x="27" y="37"/>
                </a:cubicBezTo>
                <a:cubicBezTo>
                  <a:pt x="27" y="46"/>
                  <a:pt x="35" y="54"/>
                  <a:pt x="44" y="54"/>
                </a:cubicBezTo>
                <a:cubicBezTo>
                  <a:pt x="53" y="54"/>
                  <a:pt x="60" y="46"/>
                  <a:pt x="60" y="37"/>
                </a:cubicBezTo>
                <a:cubicBezTo>
                  <a:pt x="60" y="28"/>
                  <a:pt x="53" y="21"/>
                  <a:pt x="44" y="2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defTabSz="1219200"/>
            <a:endParaRPr lang="zh-CN" altLang="en-US" sz="2400">
              <a:solidFill>
                <a:srgbClr val="333333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9" name="PA_任意多边形 19"/>
          <p:cNvSpPr>
            <a:spLocks noEditPoints="1"/>
          </p:cNvSpPr>
          <p:nvPr>
            <p:custDataLst>
              <p:tags r:id="rId12"/>
            </p:custDataLst>
          </p:nvPr>
        </p:nvSpPr>
        <p:spPr bwMode="auto">
          <a:xfrm>
            <a:off x="9172324" y="535677"/>
            <a:ext cx="393008" cy="319616"/>
          </a:xfrm>
          <a:custGeom>
            <a:avLst/>
            <a:gdLst>
              <a:gd name="T0" fmla="*/ 80 w 104"/>
              <a:gd name="T1" fmla="*/ 19 h 85"/>
              <a:gd name="T2" fmla="*/ 93 w 104"/>
              <a:gd name="T3" fmla="*/ 50 h 85"/>
              <a:gd name="T4" fmla="*/ 104 w 104"/>
              <a:gd name="T5" fmla="*/ 68 h 85"/>
              <a:gd name="T6" fmla="*/ 98 w 104"/>
              <a:gd name="T7" fmla="*/ 80 h 85"/>
              <a:gd name="T8" fmla="*/ 94 w 104"/>
              <a:gd name="T9" fmla="*/ 82 h 85"/>
              <a:gd name="T10" fmla="*/ 13 w 104"/>
              <a:gd name="T11" fmla="*/ 85 h 85"/>
              <a:gd name="T12" fmla="*/ 10 w 104"/>
              <a:gd name="T13" fmla="*/ 80 h 85"/>
              <a:gd name="T14" fmla="*/ 1 w 104"/>
              <a:gd name="T15" fmla="*/ 78 h 85"/>
              <a:gd name="T16" fmla="*/ 1 w 104"/>
              <a:gd name="T17" fmla="*/ 60 h 85"/>
              <a:gd name="T18" fmla="*/ 5 w 104"/>
              <a:gd name="T19" fmla="*/ 37 h 85"/>
              <a:gd name="T20" fmla="*/ 29 w 104"/>
              <a:gd name="T21" fmla="*/ 20 h 85"/>
              <a:gd name="T22" fmla="*/ 62 w 104"/>
              <a:gd name="T23" fmla="*/ 78 h 85"/>
              <a:gd name="T24" fmla="*/ 62 w 104"/>
              <a:gd name="T25" fmla="*/ 75 h 85"/>
              <a:gd name="T26" fmla="*/ 66 w 104"/>
              <a:gd name="T27" fmla="*/ 63 h 85"/>
              <a:gd name="T28" fmla="*/ 75 w 104"/>
              <a:gd name="T29" fmla="*/ 71 h 85"/>
              <a:gd name="T30" fmla="*/ 74 w 104"/>
              <a:gd name="T31" fmla="*/ 57 h 85"/>
              <a:gd name="T32" fmla="*/ 72 w 104"/>
              <a:gd name="T33" fmla="*/ 53 h 85"/>
              <a:gd name="T34" fmla="*/ 71 w 104"/>
              <a:gd name="T35" fmla="*/ 53 h 85"/>
              <a:gd name="T36" fmla="*/ 70 w 104"/>
              <a:gd name="T37" fmla="*/ 51 h 85"/>
              <a:gd name="T38" fmla="*/ 41 w 104"/>
              <a:gd name="T39" fmla="*/ 44 h 85"/>
              <a:gd name="T40" fmla="*/ 32 w 104"/>
              <a:gd name="T41" fmla="*/ 53 h 85"/>
              <a:gd name="T42" fmla="*/ 32 w 104"/>
              <a:gd name="T43" fmla="*/ 53 h 85"/>
              <a:gd name="T44" fmla="*/ 29 w 104"/>
              <a:gd name="T45" fmla="*/ 64 h 85"/>
              <a:gd name="T46" fmla="*/ 37 w 104"/>
              <a:gd name="T47" fmla="*/ 72 h 85"/>
              <a:gd name="T48" fmla="*/ 41 w 104"/>
              <a:gd name="T49" fmla="*/ 63 h 85"/>
              <a:gd name="T50" fmla="*/ 41 w 104"/>
              <a:gd name="T51" fmla="*/ 75 h 85"/>
              <a:gd name="T52" fmla="*/ 52 w 104"/>
              <a:gd name="T53" fmla="*/ 40 h 85"/>
              <a:gd name="T54" fmla="*/ 52 w 104"/>
              <a:gd name="T55" fmla="*/ 7 h 85"/>
              <a:gd name="T56" fmla="*/ 17 w 104"/>
              <a:gd name="T57" fmla="*/ 78 h 85"/>
              <a:gd name="T58" fmla="*/ 23 w 104"/>
              <a:gd name="T59" fmla="*/ 76 h 85"/>
              <a:gd name="T60" fmla="*/ 23 w 104"/>
              <a:gd name="T61" fmla="*/ 56 h 85"/>
              <a:gd name="T62" fmla="*/ 8 w 104"/>
              <a:gd name="T63" fmla="*/ 63 h 85"/>
              <a:gd name="T64" fmla="*/ 7 w 104"/>
              <a:gd name="T65" fmla="*/ 73 h 85"/>
              <a:gd name="T66" fmla="*/ 15 w 104"/>
              <a:gd name="T67" fmla="*/ 65 h 85"/>
              <a:gd name="T68" fmla="*/ 29 w 104"/>
              <a:gd name="T69" fmla="*/ 27 h 85"/>
              <a:gd name="T70" fmla="*/ 24 w 104"/>
              <a:gd name="T71" fmla="*/ 25 h 85"/>
              <a:gd name="T72" fmla="*/ 15 w 104"/>
              <a:gd name="T73" fmla="*/ 45 h 85"/>
              <a:gd name="T74" fmla="*/ 26 w 104"/>
              <a:gd name="T75" fmla="*/ 49 h 85"/>
              <a:gd name="T76" fmla="*/ 36 w 104"/>
              <a:gd name="T77" fmla="*/ 40 h 85"/>
              <a:gd name="T78" fmla="*/ 35 w 104"/>
              <a:gd name="T79" fmla="*/ 39 h 85"/>
              <a:gd name="T80" fmla="*/ 29 w 104"/>
              <a:gd name="T81" fmla="*/ 27 h 85"/>
              <a:gd name="T82" fmla="*/ 87 w 104"/>
              <a:gd name="T83" fmla="*/ 78 h 85"/>
              <a:gd name="T84" fmla="*/ 89 w 104"/>
              <a:gd name="T85" fmla="*/ 65 h 85"/>
              <a:gd name="T86" fmla="*/ 97 w 104"/>
              <a:gd name="T87" fmla="*/ 73 h 85"/>
              <a:gd name="T88" fmla="*/ 96 w 104"/>
              <a:gd name="T89" fmla="*/ 63 h 85"/>
              <a:gd name="T90" fmla="*/ 88 w 104"/>
              <a:gd name="T91" fmla="*/ 54 h 85"/>
              <a:gd name="T92" fmla="*/ 82 w 104"/>
              <a:gd name="T93" fmla="*/ 71 h 85"/>
              <a:gd name="T94" fmla="*/ 87 w 104"/>
              <a:gd name="T95" fmla="*/ 78 h 85"/>
              <a:gd name="T96" fmla="*/ 75 w 104"/>
              <a:gd name="T97" fmla="*/ 27 h 85"/>
              <a:gd name="T98" fmla="*/ 75 w 104"/>
              <a:gd name="T99" fmla="*/ 27 h 85"/>
              <a:gd name="T100" fmla="*/ 68 w 104"/>
              <a:gd name="T101" fmla="*/ 39 h 85"/>
              <a:gd name="T102" fmla="*/ 74 w 104"/>
              <a:gd name="T103" fmla="*/ 46 h 85"/>
              <a:gd name="T104" fmla="*/ 78 w 104"/>
              <a:gd name="T105" fmla="*/ 49 h 85"/>
              <a:gd name="T106" fmla="*/ 88 w 104"/>
              <a:gd name="T107" fmla="*/ 45 h 85"/>
              <a:gd name="T108" fmla="*/ 80 w 104"/>
              <a:gd name="T109" fmla="*/ 25 h 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04" h="85">
                <a:moveTo>
                  <a:pt x="52" y="0"/>
                </a:moveTo>
                <a:cubicBezTo>
                  <a:pt x="63" y="0"/>
                  <a:pt x="73" y="8"/>
                  <a:pt x="75" y="20"/>
                </a:cubicBezTo>
                <a:cubicBezTo>
                  <a:pt x="76" y="19"/>
                  <a:pt x="78" y="19"/>
                  <a:pt x="80" y="19"/>
                </a:cubicBezTo>
                <a:cubicBezTo>
                  <a:pt x="85" y="19"/>
                  <a:pt x="90" y="21"/>
                  <a:pt x="93" y="24"/>
                </a:cubicBezTo>
                <a:cubicBezTo>
                  <a:pt x="96" y="27"/>
                  <a:pt x="98" y="32"/>
                  <a:pt x="98" y="37"/>
                </a:cubicBezTo>
                <a:cubicBezTo>
                  <a:pt x="98" y="42"/>
                  <a:pt x="97" y="46"/>
                  <a:pt x="93" y="50"/>
                </a:cubicBezTo>
                <a:cubicBezTo>
                  <a:pt x="98" y="54"/>
                  <a:pt x="98" y="54"/>
                  <a:pt x="98" y="54"/>
                </a:cubicBezTo>
                <a:cubicBezTo>
                  <a:pt x="100" y="56"/>
                  <a:pt x="101" y="58"/>
                  <a:pt x="102" y="60"/>
                </a:cubicBezTo>
                <a:cubicBezTo>
                  <a:pt x="103" y="63"/>
                  <a:pt x="104" y="65"/>
                  <a:pt x="104" y="68"/>
                </a:cubicBezTo>
                <a:cubicBezTo>
                  <a:pt x="104" y="74"/>
                  <a:pt x="104" y="74"/>
                  <a:pt x="104" y="74"/>
                </a:cubicBezTo>
                <a:cubicBezTo>
                  <a:pt x="104" y="75"/>
                  <a:pt x="103" y="77"/>
                  <a:pt x="102" y="78"/>
                </a:cubicBezTo>
                <a:cubicBezTo>
                  <a:pt x="102" y="79"/>
                  <a:pt x="100" y="80"/>
                  <a:pt x="98" y="80"/>
                </a:cubicBezTo>
                <a:cubicBezTo>
                  <a:pt x="98" y="80"/>
                  <a:pt x="98" y="80"/>
                  <a:pt x="98" y="80"/>
                </a:cubicBezTo>
                <a:cubicBezTo>
                  <a:pt x="94" y="80"/>
                  <a:pt x="94" y="80"/>
                  <a:pt x="94" y="80"/>
                </a:cubicBezTo>
                <a:cubicBezTo>
                  <a:pt x="94" y="82"/>
                  <a:pt x="94" y="82"/>
                  <a:pt x="94" y="82"/>
                </a:cubicBezTo>
                <a:cubicBezTo>
                  <a:pt x="94" y="84"/>
                  <a:pt x="92" y="85"/>
                  <a:pt x="90" y="85"/>
                </a:cubicBezTo>
                <a:cubicBezTo>
                  <a:pt x="90" y="85"/>
                  <a:pt x="90" y="85"/>
                  <a:pt x="90" y="85"/>
                </a:cubicBezTo>
                <a:cubicBezTo>
                  <a:pt x="13" y="85"/>
                  <a:pt x="13" y="85"/>
                  <a:pt x="13" y="85"/>
                </a:cubicBezTo>
                <a:cubicBezTo>
                  <a:pt x="13" y="85"/>
                  <a:pt x="13" y="85"/>
                  <a:pt x="13" y="85"/>
                </a:cubicBezTo>
                <a:cubicBezTo>
                  <a:pt x="11" y="85"/>
                  <a:pt x="10" y="84"/>
                  <a:pt x="10" y="82"/>
                </a:cubicBezTo>
                <a:cubicBezTo>
                  <a:pt x="10" y="80"/>
                  <a:pt x="10" y="80"/>
                  <a:pt x="10" y="80"/>
                </a:cubicBezTo>
                <a:cubicBezTo>
                  <a:pt x="6" y="80"/>
                  <a:pt x="6" y="80"/>
                  <a:pt x="6" y="80"/>
                </a:cubicBezTo>
                <a:cubicBezTo>
                  <a:pt x="5" y="80"/>
                  <a:pt x="5" y="80"/>
                  <a:pt x="5" y="80"/>
                </a:cubicBezTo>
                <a:cubicBezTo>
                  <a:pt x="3" y="80"/>
                  <a:pt x="2" y="79"/>
                  <a:pt x="1" y="78"/>
                </a:cubicBezTo>
                <a:cubicBezTo>
                  <a:pt x="0" y="77"/>
                  <a:pt x="0" y="75"/>
                  <a:pt x="0" y="74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65"/>
                  <a:pt x="0" y="63"/>
                  <a:pt x="1" y="60"/>
                </a:cubicBezTo>
                <a:cubicBezTo>
                  <a:pt x="2" y="58"/>
                  <a:pt x="4" y="56"/>
                  <a:pt x="6" y="54"/>
                </a:cubicBezTo>
                <a:cubicBezTo>
                  <a:pt x="10" y="50"/>
                  <a:pt x="10" y="50"/>
                  <a:pt x="10" y="50"/>
                </a:cubicBezTo>
                <a:cubicBezTo>
                  <a:pt x="7" y="46"/>
                  <a:pt x="5" y="42"/>
                  <a:pt x="5" y="37"/>
                </a:cubicBezTo>
                <a:cubicBezTo>
                  <a:pt x="5" y="32"/>
                  <a:pt x="7" y="27"/>
                  <a:pt x="11" y="24"/>
                </a:cubicBezTo>
                <a:cubicBezTo>
                  <a:pt x="14" y="21"/>
                  <a:pt x="19" y="19"/>
                  <a:pt x="24" y="19"/>
                </a:cubicBezTo>
                <a:cubicBezTo>
                  <a:pt x="25" y="19"/>
                  <a:pt x="27" y="19"/>
                  <a:pt x="29" y="20"/>
                </a:cubicBezTo>
                <a:cubicBezTo>
                  <a:pt x="31" y="8"/>
                  <a:pt x="40" y="0"/>
                  <a:pt x="52" y="0"/>
                </a:cubicBezTo>
                <a:close/>
                <a:moveTo>
                  <a:pt x="62" y="78"/>
                </a:moveTo>
                <a:cubicBezTo>
                  <a:pt x="62" y="78"/>
                  <a:pt x="62" y="78"/>
                  <a:pt x="62" y="78"/>
                </a:cubicBezTo>
                <a:cubicBezTo>
                  <a:pt x="62" y="75"/>
                  <a:pt x="62" y="75"/>
                  <a:pt x="62" y="75"/>
                </a:cubicBezTo>
                <a:cubicBezTo>
                  <a:pt x="62" y="75"/>
                  <a:pt x="62" y="75"/>
                  <a:pt x="62" y="75"/>
                </a:cubicBezTo>
                <a:cubicBezTo>
                  <a:pt x="62" y="75"/>
                  <a:pt x="62" y="75"/>
                  <a:pt x="62" y="75"/>
                </a:cubicBezTo>
                <a:cubicBezTo>
                  <a:pt x="62" y="63"/>
                  <a:pt x="62" y="63"/>
                  <a:pt x="62" y="63"/>
                </a:cubicBezTo>
                <a:cubicBezTo>
                  <a:pt x="62" y="62"/>
                  <a:pt x="63" y="61"/>
                  <a:pt x="64" y="61"/>
                </a:cubicBezTo>
                <a:cubicBezTo>
                  <a:pt x="65" y="61"/>
                  <a:pt x="66" y="62"/>
                  <a:pt x="66" y="63"/>
                </a:cubicBezTo>
                <a:cubicBezTo>
                  <a:pt x="66" y="72"/>
                  <a:pt x="66" y="72"/>
                  <a:pt x="66" y="72"/>
                </a:cubicBezTo>
                <a:cubicBezTo>
                  <a:pt x="75" y="72"/>
                  <a:pt x="75" y="72"/>
                  <a:pt x="75" y="72"/>
                </a:cubicBezTo>
                <a:cubicBezTo>
                  <a:pt x="75" y="72"/>
                  <a:pt x="75" y="71"/>
                  <a:pt x="75" y="71"/>
                </a:cubicBezTo>
                <a:cubicBezTo>
                  <a:pt x="75" y="64"/>
                  <a:pt x="75" y="64"/>
                  <a:pt x="75" y="64"/>
                </a:cubicBezTo>
                <a:cubicBezTo>
                  <a:pt x="75" y="61"/>
                  <a:pt x="75" y="59"/>
                  <a:pt x="74" y="57"/>
                </a:cubicBezTo>
                <a:cubicBezTo>
                  <a:pt x="74" y="57"/>
                  <a:pt x="74" y="57"/>
                  <a:pt x="74" y="57"/>
                </a:cubicBezTo>
                <a:cubicBezTo>
                  <a:pt x="74" y="57"/>
                  <a:pt x="74" y="57"/>
                  <a:pt x="74" y="57"/>
                </a:cubicBezTo>
                <a:cubicBezTo>
                  <a:pt x="73" y="56"/>
                  <a:pt x="72" y="54"/>
                  <a:pt x="72" y="53"/>
                </a:cubicBezTo>
                <a:cubicBezTo>
                  <a:pt x="72" y="53"/>
                  <a:pt x="72" y="53"/>
                  <a:pt x="72" y="53"/>
                </a:cubicBezTo>
                <a:cubicBezTo>
                  <a:pt x="72" y="53"/>
                  <a:pt x="72" y="53"/>
                  <a:pt x="72" y="53"/>
                </a:cubicBezTo>
                <a:cubicBezTo>
                  <a:pt x="72" y="53"/>
                  <a:pt x="72" y="53"/>
                  <a:pt x="72" y="53"/>
                </a:cubicBezTo>
                <a:cubicBezTo>
                  <a:pt x="71" y="53"/>
                  <a:pt x="71" y="53"/>
                  <a:pt x="71" y="53"/>
                </a:cubicBezTo>
                <a:cubicBezTo>
                  <a:pt x="71" y="53"/>
                  <a:pt x="71" y="53"/>
                  <a:pt x="71" y="53"/>
                </a:cubicBezTo>
                <a:cubicBezTo>
                  <a:pt x="71" y="52"/>
                  <a:pt x="70" y="51"/>
                  <a:pt x="70" y="51"/>
                </a:cubicBezTo>
                <a:cubicBezTo>
                  <a:pt x="70" y="51"/>
                  <a:pt x="70" y="51"/>
                  <a:pt x="70" y="51"/>
                </a:cubicBezTo>
                <a:cubicBezTo>
                  <a:pt x="62" y="44"/>
                  <a:pt x="62" y="44"/>
                  <a:pt x="62" y="44"/>
                </a:cubicBezTo>
                <a:cubicBezTo>
                  <a:pt x="59" y="45"/>
                  <a:pt x="56" y="46"/>
                  <a:pt x="52" y="46"/>
                </a:cubicBezTo>
                <a:cubicBezTo>
                  <a:pt x="48" y="46"/>
                  <a:pt x="44" y="45"/>
                  <a:pt x="41" y="44"/>
                </a:cubicBezTo>
                <a:cubicBezTo>
                  <a:pt x="34" y="51"/>
                  <a:pt x="34" y="51"/>
                  <a:pt x="34" y="51"/>
                </a:cubicBezTo>
                <a:cubicBezTo>
                  <a:pt x="34" y="51"/>
                  <a:pt x="34" y="51"/>
                  <a:pt x="34" y="51"/>
                </a:cubicBezTo>
                <a:cubicBezTo>
                  <a:pt x="33" y="51"/>
                  <a:pt x="33" y="52"/>
                  <a:pt x="32" y="53"/>
                </a:cubicBezTo>
                <a:cubicBezTo>
                  <a:pt x="32" y="53"/>
                  <a:pt x="32" y="53"/>
                  <a:pt x="32" y="53"/>
                </a:cubicBezTo>
                <a:cubicBezTo>
                  <a:pt x="32" y="53"/>
                  <a:pt x="32" y="53"/>
                  <a:pt x="32" y="53"/>
                </a:cubicBezTo>
                <a:cubicBezTo>
                  <a:pt x="32" y="53"/>
                  <a:pt x="32" y="53"/>
                  <a:pt x="32" y="53"/>
                </a:cubicBezTo>
                <a:cubicBezTo>
                  <a:pt x="32" y="53"/>
                  <a:pt x="32" y="53"/>
                  <a:pt x="32" y="53"/>
                </a:cubicBezTo>
                <a:cubicBezTo>
                  <a:pt x="31" y="54"/>
                  <a:pt x="30" y="56"/>
                  <a:pt x="30" y="57"/>
                </a:cubicBezTo>
                <a:cubicBezTo>
                  <a:pt x="29" y="59"/>
                  <a:pt x="29" y="61"/>
                  <a:pt x="29" y="64"/>
                </a:cubicBezTo>
                <a:cubicBezTo>
                  <a:pt x="29" y="71"/>
                  <a:pt x="29" y="71"/>
                  <a:pt x="29" y="71"/>
                </a:cubicBezTo>
                <a:cubicBezTo>
                  <a:pt x="29" y="71"/>
                  <a:pt x="29" y="72"/>
                  <a:pt x="29" y="72"/>
                </a:cubicBezTo>
                <a:cubicBezTo>
                  <a:pt x="37" y="72"/>
                  <a:pt x="37" y="72"/>
                  <a:pt x="37" y="72"/>
                </a:cubicBezTo>
                <a:cubicBezTo>
                  <a:pt x="37" y="63"/>
                  <a:pt x="37" y="63"/>
                  <a:pt x="37" y="63"/>
                </a:cubicBezTo>
                <a:cubicBezTo>
                  <a:pt x="37" y="62"/>
                  <a:pt x="38" y="61"/>
                  <a:pt x="39" y="61"/>
                </a:cubicBezTo>
                <a:cubicBezTo>
                  <a:pt x="41" y="61"/>
                  <a:pt x="41" y="62"/>
                  <a:pt x="41" y="63"/>
                </a:cubicBezTo>
                <a:cubicBezTo>
                  <a:pt x="41" y="75"/>
                  <a:pt x="41" y="75"/>
                  <a:pt x="41" y="75"/>
                </a:cubicBezTo>
                <a:cubicBezTo>
                  <a:pt x="41" y="75"/>
                  <a:pt x="41" y="75"/>
                  <a:pt x="41" y="75"/>
                </a:cubicBezTo>
                <a:cubicBezTo>
                  <a:pt x="41" y="75"/>
                  <a:pt x="41" y="75"/>
                  <a:pt x="41" y="75"/>
                </a:cubicBezTo>
                <a:cubicBezTo>
                  <a:pt x="41" y="78"/>
                  <a:pt x="41" y="78"/>
                  <a:pt x="41" y="78"/>
                </a:cubicBezTo>
                <a:cubicBezTo>
                  <a:pt x="62" y="78"/>
                  <a:pt x="62" y="78"/>
                  <a:pt x="62" y="78"/>
                </a:cubicBezTo>
                <a:close/>
                <a:moveTo>
                  <a:pt x="52" y="40"/>
                </a:moveTo>
                <a:cubicBezTo>
                  <a:pt x="52" y="40"/>
                  <a:pt x="52" y="40"/>
                  <a:pt x="52" y="40"/>
                </a:cubicBezTo>
                <a:cubicBezTo>
                  <a:pt x="61" y="40"/>
                  <a:pt x="68" y="32"/>
                  <a:pt x="68" y="23"/>
                </a:cubicBezTo>
                <a:cubicBezTo>
                  <a:pt x="68" y="14"/>
                  <a:pt x="61" y="7"/>
                  <a:pt x="52" y="7"/>
                </a:cubicBezTo>
                <a:cubicBezTo>
                  <a:pt x="43" y="7"/>
                  <a:pt x="35" y="14"/>
                  <a:pt x="35" y="23"/>
                </a:cubicBezTo>
                <a:cubicBezTo>
                  <a:pt x="35" y="32"/>
                  <a:pt x="43" y="40"/>
                  <a:pt x="52" y="40"/>
                </a:cubicBezTo>
                <a:close/>
                <a:moveTo>
                  <a:pt x="17" y="78"/>
                </a:moveTo>
                <a:cubicBezTo>
                  <a:pt x="17" y="78"/>
                  <a:pt x="17" y="78"/>
                  <a:pt x="17" y="78"/>
                </a:cubicBezTo>
                <a:cubicBezTo>
                  <a:pt x="26" y="78"/>
                  <a:pt x="26" y="78"/>
                  <a:pt x="26" y="78"/>
                </a:cubicBezTo>
                <a:cubicBezTo>
                  <a:pt x="25" y="78"/>
                  <a:pt x="24" y="77"/>
                  <a:pt x="23" y="76"/>
                </a:cubicBezTo>
                <a:cubicBezTo>
                  <a:pt x="22" y="75"/>
                  <a:pt x="22" y="73"/>
                  <a:pt x="22" y="71"/>
                </a:cubicBezTo>
                <a:cubicBezTo>
                  <a:pt x="22" y="64"/>
                  <a:pt x="22" y="64"/>
                  <a:pt x="22" y="64"/>
                </a:cubicBezTo>
                <a:cubicBezTo>
                  <a:pt x="22" y="61"/>
                  <a:pt x="22" y="58"/>
                  <a:pt x="23" y="56"/>
                </a:cubicBezTo>
                <a:cubicBezTo>
                  <a:pt x="21" y="55"/>
                  <a:pt x="18" y="55"/>
                  <a:pt x="16" y="54"/>
                </a:cubicBezTo>
                <a:cubicBezTo>
                  <a:pt x="11" y="59"/>
                  <a:pt x="11" y="59"/>
                  <a:pt x="11" y="59"/>
                </a:cubicBezTo>
                <a:cubicBezTo>
                  <a:pt x="9" y="60"/>
                  <a:pt x="8" y="61"/>
                  <a:pt x="8" y="63"/>
                </a:cubicBezTo>
                <a:cubicBezTo>
                  <a:pt x="8" y="63"/>
                  <a:pt x="8" y="63"/>
                  <a:pt x="8" y="63"/>
                </a:cubicBezTo>
                <a:cubicBezTo>
                  <a:pt x="7" y="65"/>
                  <a:pt x="7" y="66"/>
                  <a:pt x="7" y="68"/>
                </a:cubicBezTo>
                <a:cubicBezTo>
                  <a:pt x="7" y="73"/>
                  <a:pt x="7" y="73"/>
                  <a:pt x="7" y="73"/>
                </a:cubicBezTo>
                <a:cubicBezTo>
                  <a:pt x="13" y="73"/>
                  <a:pt x="13" y="73"/>
                  <a:pt x="13" y="73"/>
                </a:cubicBezTo>
                <a:cubicBezTo>
                  <a:pt x="13" y="67"/>
                  <a:pt x="13" y="67"/>
                  <a:pt x="13" y="67"/>
                </a:cubicBezTo>
                <a:cubicBezTo>
                  <a:pt x="13" y="66"/>
                  <a:pt x="13" y="65"/>
                  <a:pt x="15" y="65"/>
                </a:cubicBezTo>
                <a:cubicBezTo>
                  <a:pt x="16" y="65"/>
                  <a:pt x="17" y="66"/>
                  <a:pt x="17" y="67"/>
                </a:cubicBezTo>
                <a:cubicBezTo>
                  <a:pt x="17" y="78"/>
                  <a:pt x="17" y="78"/>
                  <a:pt x="17" y="78"/>
                </a:cubicBezTo>
                <a:close/>
                <a:moveTo>
                  <a:pt x="29" y="27"/>
                </a:moveTo>
                <a:cubicBezTo>
                  <a:pt x="29" y="27"/>
                  <a:pt x="29" y="27"/>
                  <a:pt x="29" y="27"/>
                </a:cubicBezTo>
                <a:cubicBezTo>
                  <a:pt x="28" y="27"/>
                  <a:pt x="28" y="26"/>
                  <a:pt x="27" y="26"/>
                </a:cubicBezTo>
                <a:cubicBezTo>
                  <a:pt x="26" y="26"/>
                  <a:pt x="25" y="25"/>
                  <a:pt x="24" y="25"/>
                </a:cubicBezTo>
                <a:cubicBezTo>
                  <a:pt x="20" y="25"/>
                  <a:pt x="17" y="27"/>
                  <a:pt x="15" y="29"/>
                </a:cubicBezTo>
                <a:cubicBezTo>
                  <a:pt x="13" y="31"/>
                  <a:pt x="12" y="34"/>
                  <a:pt x="12" y="37"/>
                </a:cubicBezTo>
                <a:cubicBezTo>
                  <a:pt x="12" y="40"/>
                  <a:pt x="13" y="43"/>
                  <a:pt x="15" y="45"/>
                </a:cubicBezTo>
                <a:cubicBezTo>
                  <a:pt x="15" y="45"/>
                  <a:pt x="15" y="45"/>
                  <a:pt x="15" y="45"/>
                </a:cubicBezTo>
                <a:cubicBezTo>
                  <a:pt x="17" y="47"/>
                  <a:pt x="20" y="49"/>
                  <a:pt x="24" y="49"/>
                </a:cubicBezTo>
                <a:cubicBezTo>
                  <a:pt x="24" y="49"/>
                  <a:pt x="25" y="49"/>
                  <a:pt x="26" y="49"/>
                </a:cubicBezTo>
                <a:cubicBezTo>
                  <a:pt x="26" y="48"/>
                  <a:pt x="27" y="48"/>
                  <a:pt x="27" y="48"/>
                </a:cubicBezTo>
                <a:cubicBezTo>
                  <a:pt x="28" y="47"/>
                  <a:pt x="29" y="47"/>
                  <a:pt x="29" y="46"/>
                </a:cubicBezTo>
                <a:cubicBezTo>
                  <a:pt x="36" y="40"/>
                  <a:pt x="36" y="40"/>
                  <a:pt x="36" y="40"/>
                </a:cubicBezTo>
                <a:cubicBezTo>
                  <a:pt x="36" y="39"/>
                  <a:pt x="36" y="39"/>
                  <a:pt x="36" y="39"/>
                </a:cubicBezTo>
                <a:cubicBezTo>
                  <a:pt x="36" y="39"/>
                  <a:pt x="36" y="39"/>
                  <a:pt x="36" y="39"/>
                </a:cubicBezTo>
                <a:cubicBezTo>
                  <a:pt x="35" y="39"/>
                  <a:pt x="35" y="39"/>
                  <a:pt x="35" y="39"/>
                </a:cubicBezTo>
                <a:cubicBezTo>
                  <a:pt x="32" y="36"/>
                  <a:pt x="30" y="33"/>
                  <a:pt x="29" y="28"/>
                </a:cubicBezTo>
                <a:cubicBezTo>
                  <a:pt x="29" y="28"/>
                  <a:pt x="29" y="28"/>
                  <a:pt x="29" y="27"/>
                </a:cubicBezTo>
                <a:cubicBezTo>
                  <a:pt x="29" y="27"/>
                  <a:pt x="29" y="27"/>
                  <a:pt x="29" y="27"/>
                </a:cubicBezTo>
                <a:cubicBezTo>
                  <a:pt x="29" y="27"/>
                  <a:pt x="29" y="27"/>
                  <a:pt x="29" y="27"/>
                </a:cubicBezTo>
                <a:cubicBezTo>
                  <a:pt x="29" y="27"/>
                  <a:pt x="29" y="27"/>
                  <a:pt x="29" y="27"/>
                </a:cubicBezTo>
                <a:close/>
                <a:moveTo>
                  <a:pt x="87" y="78"/>
                </a:moveTo>
                <a:cubicBezTo>
                  <a:pt x="87" y="78"/>
                  <a:pt x="87" y="78"/>
                  <a:pt x="87" y="78"/>
                </a:cubicBezTo>
                <a:cubicBezTo>
                  <a:pt x="87" y="67"/>
                  <a:pt x="87" y="67"/>
                  <a:pt x="87" y="67"/>
                </a:cubicBezTo>
                <a:cubicBezTo>
                  <a:pt x="87" y="66"/>
                  <a:pt x="88" y="65"/>
                  <a:pt x="89" y="65"/>
                </a:cubicBezTo>
                <a:cubicBezTo>
                  <a:pt x="90" y="65"/>
                  <a:pt x="91" y="66"/>
                  <a:pt x="91" y="67"/>
                </a:cubicBezTo>
                <a:cubicBezTo>
                  <a:pt x="91" y="73"/>
                  <a:pt x="91" y="73"/>
                  <a:pt x="91" y="73"/>
                </a:cubicBezTo>
                <a:cubicBezTo>
                  <a:pt x="97" y="73"/>
                  <a:pt x="97" y="73"/>
                  <a:pt x="97" y="73"/>
                </a:cubicBezTo>
                <a:cubicBezTo>
                  <a:pt x="97" y="68"/>
                  <a:pt x="97" y="68"/>
                  <a:pt x="97" y="68"/>
                </a:cubicBezTo>
                <a:cubicBezTo>
                  <a:pt x="97" y="66"/>
                  <a:pt x="97" y="65"/>
                  <a:pt x="96" y="63"/>
                </a:cubicBezTo>
                <a:cubicBezTo>
                  <a:pt x="96" y="63"/>
                  <a:pt x="96" y="63"/>
                  <a:pt x="96" y="63"/>
                </a:cubicBezTo>
                <a:cubicBezTo>
                  <a:pt x="96" y="63"/>
                  <a:pt x="96" y="63"/>
                  <a:pt x="96" y="63"/>
                </a:cubicBezTo>
                <a:cubicBezTo>
                  <a:pt x="95" y="61"/>
                  <a:pt x="94" y="60"/>
                  <a:pt x="93" y="59"/>
                </a:cubicBezTo>
                <a:cubicBezTo>
                  <a:pt x="88" y="54"/>
                  <a:pt x="88" y="54"/>
                  <a:pt x="88" y="54"/>
                </a:cubicBezTo>
                <a:cubicBezTo>
                  <a:pt x="86" y="55"/>
                  <a:pt x="83" y="55"/>
                  <a:pt x="80" y="56"/>
                </a:cubicBezTo>
                <a:cubicBezTo>
                  <a:pt x="81" y="58"/>
                  <a:pt x="82" y="61"/>
                  <a:pt x="82" y="64"/>
                </a:cubicBezTo>
                <a:cubicBezTo>
                  <a:pt x="82" y="71"/>
                  <a:pt x="82" y="71"/>
                  <a:pt x="82" y="71"/>
                </a:cubicBezTo>
                <a:cubicBezTo>
                  <a:pt x="82" y="73"/>
                  <a:pt x="81" y="75"/>
                  <a:pt x="80" y="76"/>
                </a:cubicBezTo>
                <a:cubicBezTo>
                  <a:pt x="80" y="77"/>
                  <a:pt x="79" y="78"/>
                  <a:pt x="77" y="78"/>
                </a:cubicBezTo>
                <a:cubicBezTo>
                  <a:pt x="87" y="78"/>
                  <a:pt x="87" y="78"/>
                  <a:pt x="87" y="78"/>
                </a:cubicBezTo>
                <a:close/>
                <a:moveTo>
                  <a:pt x="75" y="27"/>
                </a:moveTo>
                <a:cubicBezTo>
                  <a:pt x="75" y="27"/>
                  <a:pt x="75" y="27"/>
                  <a:pt x="75" y="27"/>
                </a:cubicBezTo>
                <a:cubicBezTo>
                  <a:pt x="75" y="27"/>
                  <a:pt x="75" y="27"/>
                  <a:pt x="75" y="27"/>
                </a:cubicBezTo>
                <a:cubicBezTo>
                  <a:pt x="75" y="27"/>
                  <a:pt x="75" y="27"/>
                  <a:pt x="75" y="27"/>
                </a:cubicBezTo>
                <a:cubicBezTo>
                  <a:pt x="75" y="27"/>
                  <a:pt x="75" y="27"/>
                  <a:pt x="75" y="27"/>
                </a:cubicBezTo>
                <a:cubicBezTo>
                  <a:pt x="75" y="27"/>
                  <a:pt x="75" y="27"/>
                  <a:pt x="75" y="27"/>
                </a:cubicBezTo>
                <a:cubicBezTo>
                  <a:pt x="74" y="32"/>
                  <a:pt x="71" y="36"/>
                  <a:pt x="68" y="39"/>
                </a:cubicBezTo>
                <a:cubicBezTo>
                  <a:pt x="68" y="39"/>
                  <a:pt x="68" y="39"/>
                  <a:pt x="68" y="39"/>
                </a:cubicBezTo>
                <a:cubicBezTo>
                  <a:pt x="68" y="39"/>
                  <a:pt x="68" y="39"/>
                  <a:pt x="68" y="39"/>
                </a:cubicBezTo>
                <a:cubicBezTo>
                  <a:pt x="68" y="40"/>
                  <a:pt x="68" y="40"/>
                  <a:pt x="68" y="40"/>
                </a:cubicBezTo>
                <a:cubicBezTo>
                  <a:pt x="74" y="46"/>
                  <a:pt x="74" y="46"/>
                  <a:pt x="74" y="46"/>
                </a:cubicBezTo>
                <a:cubicBezTo>
                  <a:pt x="74" y="46"/>
                  <a:pt x="74" y="46"/>
                  <a:pt x="74" y="46"/>
                </a:cubicBezTo>
                <a:cubicBezTo>
                  <a:pt x="75" y="47"/>
                  <a:pt x="76" y="47"/>
                  <a:pt x="76" y="48"/>
                </a:cubicBezTo>
                <a:cubicBezTo>
                  <a:pt x="77" y="48"/>
                  <a:pt x="77" y="48"/>
                  <a:pt x="78" y="49"/>
                </a:cubicBezTo>
                <a:cubicBezTo>
                  <a:pt x="78" y="49"/>
                  <a:pt x="78" y="49"/>
                  <a:pt x="78" y="49"/>
                </a:cubicBezTo>
                <a:cubicBezTo>
                  <a:pt x="78" y="49"/>
                  <a:pt x="78" y="49"/>
                  <a:pt x="78" y="49"/>
                </a:cubicBezTo>
                <a:cubicBezTo>
                  <a:pt x="78" y="49"/>
                  <a:pt x="79" y="49"/>
                  <a:pt x="80" y="49"/>
                </a:cubicBezTo>
                <a:cubicBezTo>
                  <a:pt x="83" y="49"/>
                  <a:pt x="86" y="47"/>
                  <a:pt x="88" y="45"/>
                </a:cubicBezTo>
                <a:cubicBezTo>
                  <a:pt x="90" y="43"/>
                  <a:pt x="92" y="40"/>
                  <a:pt x="92" y="37"/>
                </a:cubicBezTo>
                <a:cubicBezTo>
                  <a:pt x="92" y="34"/>
                  <a:pt x="90" y="31"/>
                  <a:pt x="88" y="29"/>
                </a:cubicBezTo>
                <a:cubicBezTo>
                  <a:pt x="86" y="27"/>
                  <a:pt x="83" y="25"/>
                  <a:pt x="80" y="25"/>
                </a:cubicBezTo>
                <a:cubicBezTo>
                  <a:pt x="79" y="25"/>
                  <a:pt x="78" y="26"/>
                  <a:pt x="77" y="26"/>
                </a:cubicBezTo>
                <a:cubicBezTo>
                  <a:pt x="76" y="26"/>
                  <a:pt x="75" y="27"/>
                  <a:pt x="75" y="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defTabSz="1219200"/>
            <a:endParaRPr lang="zh-CN" altLang="en-US" sz="2400">
              <a:solidFill>
                <a:srgbClr val="333333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2" name="PA_矩形 24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222626" y="1769544"/>
            <a:ext cx="2903686" cy="1593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>
              <a:lnSpc>
                <a:spcPct val="120000"/>
              </a:lnSpc>
              <a:spcBef>
                <a:spcPts val="400"/>
              </a:spcBef>
            </a:pPr>
            <a:r>
              <a:rPr lang="zh-CN" altLang="en-US" sz="2400" b="1">
                <a:solidFill>
                  <a:srgbClr val="333333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提供智能化服务</a:t>
            </a:r>
            <a:endParaRPr lang="zh-CN" altLang="en-US" sz="2400" b="1">
              <a:solidFill>
                <a:srgbClr val="333333">
                  <a:lumMod val="75000"/>
                  <a:lumOff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defTabSz="1219200">
              <a:lnSpc>
                <a:spcPct val="12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智能租品推荐</a:t>
            </a:r>
            <a:endParaRPr lang="zh-CN" altLang="en-US">
              <a:solidFill>
                <a:srgbClr val="FFFFFF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defTabSz="1219200">
              <a:lnSpc>
                <a:spcPct val="12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反馈机制先进</a:t>
            </a:r>
            <a:endParaRPr lang="zh-CN" altLang="en-US">
              <a:solidFill>
                <a:srgbClr val="FFFFFF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defTabSz="1219200">
              <a:lnSpc>
                <a:spcPct val="12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系统交互性好</a:t>
            </a:r>
            <a:endParaRPr lang="zh-CN" altLang="en-US">
              <a:solidFill>
                <a:srgbClr val="FFFFFF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PA_矩形 24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7465695" y="1007110"/>
            <a:ext cx="3815080" cy="1675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>
              <a:lnSpc>
                <a:spcPct val="120000"/>
              </a:lnSpc>
              <a:spcBef>
                <a:spcPts val="400"/>
              </a:spcBef>
            </a:pPr>
            <a:r>
              <a:rPr lang="zh-CN" altLang="en-US" sz="2800" b="1" dirty="0">
                <a:solidFill>
                  <a:srgbClr val="333333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提供全品类的租赁服务</a:t>
            </a:r>
            <a:endParaRPr lang="zh-CN" altLang="en-US" sz="2800" b="1" dirty="0">
              <a:solidFill>
                <a:srgbClr val="333333">
                  <a:lumMod val="75000"/>
                  <a:lumOff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defTabSz="1219200">
              <a:lnSpc>
                <a:spcPct val="12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涵盖了如：</a:t>
            </a:r>
            <a:r>
              <a:rPr lang="zh-CN" altLang="en-US" sz="2000" dirty="0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房屋类、</a:t>
            </a:r>
            <a:r>
              <a:rPr lang="zh-CN" altLang="en-US" sz="2000" dirty="0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电子类，虚拟类，家电类，手机平板类，儿童家教类等等租品产品。</a:t>
            </a:r>
            <a:endParaRPr lang="zh-CN" altLang="en-US" sz="2000" dirty="0">
              <a:solidFill>
                <a:srgbClr val="FFFFFF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PA_矩形 24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8279130" y="4257040"/>
            <a:ext cx="3658870" cy="826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>
              <a:lnSpc>
                <a:spcPct val="120000"/>
              </a:lnSpc>
              <a:spcBef>
                <a:spcPts val="400"/>
              </a:spcBef>
            </a:pPr>
            <a:r>
              <a:rPr lang="zh-CN" altLang="en-US" sz="2400" b="1">
                <a:solidFill>
                  <a:srgbClr val="333333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额外支持</a:t>
            </a:r>
            <a:r>
              <a:rPr lang="en-US" altLang="zh-CN" sz="2400" b="1">
                <a:solidFill>
                  <a:srgbClr val="333333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C2C</a:t>
            </a:r>
            <a:r>
              <a:rPr lang="zh-CN" altLang="en-US" sz="2400" b="1">
                <a:solidFill>
                  <a:srgbClr val="333333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的商业模式</a:t>
            </a:r>
            <a:endParaRPr lang="zh-CN" altLang="en-US" sz="2400" b="1">
              <a:solidFill>
                <a:srgbClr val="333333">
                  <a:lumMod val="75000"/>
                  <a:lumOff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defTabSz="1219200">
              <a:lnSpc>
                <a:spcPct val="12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小程序端上传租品</a:t>
            </a:r>
            <a:endParaRPr lang="zh-CN" altLang="en-US">
              <a:solidFill>
                <a:srgbClr val="FFFFFF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PA_椭圆 14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6248219" y="1692212"/>
            <a:ext cx="1217332" cy="121770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0" tIns="0" rIns="0" bIns="0" numCol="1" anchor="t" anchorCtr="0" compatLnSpc="1"/>
          <a:lstStyle/>
          <a:p>
            <a:pPr algn="ctr" defTabSz="1219200"/>
            <a:r>
              <a:rPr lang="en-US" altLang="zh-CN" sz="4000" b="1">
                <a:solidFill>
                  <a:srgbClr val="FFFFFF"/>
                </a:solidFill>
                <a:latin typeface="Calibri" panose="020F0502020204030204"/>
                <a:ea typeface="宋体" panose="02010600030101010101" pitchFamily="2" charset="-122"/>
              </a:rPr>
              <a:t>02</a:t>
            </a:r>
            <a:endParaRPr lang="en-US" altLang="zh-CN" sz="4000" b="1" dirty="0">
              <a:solidFill>
                <a:srgbClr val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32" name="PA_椭圆 14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6960669" y="3506225"/>
            <a:ext cx="1217332" cy="121770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0" tIns="0" rIns="0" bIns="0" numCol="1" anchor="t" anchorCtr="0" compatLnSpc="1"/>
          <a:lstStyle/>
          <a:p>
            <a:pPr algn="ctr" defTabSz="1219200"/>
            <a:r>
              <a:rPr lang="en-US" altLang="zh-CN" sz="4000" b="1">
                <a:solidFill>
                  <a:srgbClr val="FFFFFF"/>
                </a:solidFill>
                <a:latin typeface="Calibri" panose="020F0502020204030204"/>
                <a:ea typeface="宋体" panose="02010600030101010101" pitchFamily="2" charset="-122"/>
              </a:rPr>
              <a:t>03</a:t>
            </a:r>
            <a:endParaRPr lang="en-US" altLang="zh-CN" sz="4000" b="1" dirty="0">
              <a:solidFill>
                <a:srgbClr val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" name="PA_椭圆 14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4126029" y="3938025"/>
            <a:ext cx="1217332" cy="1217708"/>
          </a:xfrm>
          <a:prstGeom prst="ellipse">
            <a:avLst/>
          </a:prstGeom>
          <a:solidFill>
            <a:srgbClr val="C5E0B4"/>
          </a:solidFill>
          <a:ln>
            <a:noFill/>
          </a:ln>
        </p:spPr>
        <p:txBody>
          <a:bodyPr vert="horz" wrap="square" lIns="0" tIns="0" rIns="0" bIns="0" numCol="1" anchor="t" anchorCtr="0" compatLnSpc="1"/>
          <a:lstStyle/>
          <a:p>
            <a:pPr algn="ctr" defTabSz="1219200"/>
            <a:r>
              <a:rPr lang="en-US" altLang="zh-CN" sz="4000" b="1">
                <a:solidFill>
                  <a:srgbClr val="FFFFFF"/>
                </a:solidFill>
                <a:latin typeface="Calibri" panose="020F0502020204030204"/>
                <a:ea typeface="宋体" panose="02010600030101010101" pitchFamily="2" charset="-122"/>
              </a:rPr>
              <a:t>04</a:t>
            </a:r>
            <a:endParaRPr lang="en-US" altLang="zh-CN" sz="4000" b="1" dirty="0">
              <a:solidFill>
                <a:srgbClr val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3" name="PA_矩形 24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311150" y="4257040"/>
            <a:ext cx="3815080" cy="1675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>
              <a:lnSpc>
                <a:spcPct val="120000"/>
              </a:lnSpc>
              <a:spcBef>
                <a:spcPts val="400"/>
              </a:spcBef>
            </a:pPr>
            <a:r>
              <a:rPr lang="en-US" altLang="zh-CN" sz="2800" b="1" dirty="0">
                <a:solidFill>
                  <a:srgbClr val="333333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800" b="1" dirty="0">
                <a:solidFill>
                  <a:srgbClr val="333333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多模式租赁</a:t>
            </a:r>
            <a:endParaRPr lang="zh-CN" altLang="en-US" sz="2800" b="1" dirty="0">
              <a:solidFill>
                <a:srgbClr val="333333">
                  <a:lumMod val="75000"/>
                  <a:lumOff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defTabSz="1219200">
              <a:lnSpc>
                <a:spcPct val="12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根据租品灵活支持先租后买，以租代买，租后买断，租后续租等租赁模式。</a:t>
            </a:r>
            <a:endParaRPr lang="zh-CN" altLang="en-US" sz="2000" dirty="0">
              <a:solidFill>
                <a:srgbClr val="FFFFFF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PA_任意多边形 19"/>
          <p:cNvSpPr>
            <a:spLocks noEditPoints="1"/>
          </p:cNvSpPr>
          <p:nvPr>
            <p:custDataLst>
              <p:tags r:id="rId20"/>
            </p:custDataLst>
          </p:nvPr>
        </p:nvSpPr>
        <p:spPr bwMode="auto">
          <a:xfrm>
            <a:off x="9172324" y="535677"/>
            <a:ext cx="393008" cy="319616"/>
          </a:xfrm>
          <a:custGeom>
            <a:avLst/>
            <a:gdLst>
              <a:gd name="T0" fmla="*/ 80 w 104"/>
              <a:gd name="T1" fmla="*/ 19 h 85"/>
              <a:gd name="T2" fmla="*/ 93 w 104"/>
              <a:gd name="T3" fmla="*/ 50 h 85"/>
              <a:gd name="T4" fmla="*/ 104 w 104"/>
              <a:gd name="T5" fmla="*/ 68 h 85"/>
              <a:gd name="T6" fmla="*/ 98 w 104"/>
              <a:gd name="T7" fmla="*/ 80 h 85"/>
              <a:gd name="T8" fmla="*/ 94 w 104"/>
              <a:gd name="T9" fmla="*/ 82 h 85"/>
              <a:gd name="T10" fmla="*/ 13 w 104"/>
              <a:gd name="T11" fmla="*/ 85 h 85"/>
              <a:gd name="T12" fmla="*/ 10 w 104"/>
              <a:gd name="T13" fmla="*/ 80 h 85"/>
              <a:gd name="T14" fmla="*/ 1 w 104"/>
              <a:gd name="T15" fmla="*/ 78 h 85"/>
              <a:gd name="T16" fmla="*/ 1 w 104"/>
              <a:gd name="T17" fmla="*/ 60 h 85"/>
              <a:gd name="T18" fmla="*/ 5 w 104"/>
              <a:gd name="T19" fmla="*/ 37 h 85"/>
              <a:gd name="T20" fmla="*/ 29 w 104"/>
              <a:gd name="T21" fmla="*/ 20 h 85"/>
              <a:gd name="T22" fmla="*/ 62 w 104"/>
              <a:gd name="T23" fmla="*/ 78 h 85"/>
              <a:gd name="T24" fmla="*/ 62 w 104"/>
              <a:gd name="T25" fmla="*/ 75 h 85"/>
              <a:gd name="T26" fmla="*/ 66 w 104"/>
              <a:gd name="T27" fmla="*/ 63 h 85"/>
              <a:gd name="T28" fmla="*/ 75 w 104"/>
              <a:gd name="T29" fmla="*/ 71 h 85"/>
              <a:gd name="T30" fmla="*/ 74 w 104"/>
              <a:gd name="T31" fmla="*/ 57 h 85"/>
              <a:gd name="T32" fmla="*/ 72 w 104"/>
              <a:gd name="T33" fmla="*/ 53 h 85"/>
              <a:gd name="T34" fmla="*/ 71 w 104"/>
              <a:gd name="T35" fmla="*/ 53 h 85"/>
              <a:gd name="T36" fmla="*/ 70 w 104"/>
              <a:gd name="T37" fmla="*/ 51 h 85"/>
              <a:gd name="T38" fmla="*/ 41 w 104"/>
              <a:gd name="T39" fmla="*/ 44 h 85"/>
              <a:gd name="T40" fmla="*/ 32 w 104"/>
              <a:gd name="T41" fmla="*/ 53 h 85"/>
              <a:gd name="T42" fmla="*/ 32 w 104"/>
              <a:gd name="T43" fmla="*/ 53 h 85"/>
              <a:gd name="T44" fmla="*/ 29 w 104"/>
              <a:gd name="T45" fmla="*/ 64 h 85"/>
              <a:gd name="T46" fmla="*/ 37 w 104"/>
              <a:gd name="T47" fmla="*/ 72 h 85"/>
              <a:gd name="T48" fmla="*/ 41 w 104"/>
              <a:gd name="T49" fmla="*/ 63 h 85"/>
              <a:gd name="T50" fmla="*/ 41 w 104"/>
              <a:gd name="T51" fmla="*/ 75 h 85"/>
              <a:gd name="T52" fmla="*/ 52 w 104"/>
              <a:gd name="T53" fmla="*/ 40 h 85"/>
              <a:gd name="T54" fmla="*/ 52 w 104"/>
              <a:gd name="T55" fmla="*/ 7 h 85"/>
              <a:gd name="T56" fmla="*/ 17 w 104"/>
              <a:gd name="T57" fmla="*/ 78 h 85"/>
              <a:gd name="T58" fmla="*/ 23 w 104"/>
              <a:gd name="T59" fmla="*/ 76 h 85"/>
              <a:gd name="T60" fmla="*/ 23 w 104"/>
              <a:gd name="T61" fmla="*/ 56 h 85"/>
              <a:gd name="T62" fmla="*/ 8 w 104"/>
              <a:gd name="T63" fmla="*/ 63 h 85"/>
              <a:gd name="T64" fmla="*/ 7 w 104"/>
              <a:gd name="T65" fmla="*/ 73 h 85"/>
              <a:gd name="T66" fmla="*/ 15 w 104"/>
              <a:gd name="T67" fmla="*/ 65 h 85"/>
              <a:gd name="T68" fmla="*/ 29 w 104"/>
              <a:gd name="T69" fmla="*/ 27 h 85"/>
              <a:gd name="T70" fmla="*/ 24 w 104"/>
              <a:gd name="T71" fmla="*/ 25 h 85"/>
              <a:gd name="T72" fmla="*/ 15 w 104"/>
              <a:gd name="T73" fmla="*/ 45 h 85"/>
              <a:gd name="T74" fmla="*/ 26 w 104"/>
              <a:gd name="T75" fmla="*/ 49 h 85"/>
              <a:gd name="T76" fmla="*/ 36 w 104"/>
              <a:gd name="T77" fmla="*/ 40 h 85"/>
              <a:gd name="T78" fmla="*/ 35 w 104"/>
              <a:gd name="T79" fmla="*/ 39 h 85"/>
              <a:gd name="T80" fmla="*/ 29 w 104"/>
              <a:gd name="T81" fmla="*/ 27 h 85"/>
              <a:gd name="T82" fmla="*/ 87 w 104"/>
              <a:gd name="T83" fmla="*/ 78 h 85"/>
              <a:gd name="T84" fmla="*/ 89 w 104"/>
              <a:gd name="T85" fmla="*/ 65 h 85"/>
              <a:gd name="T86" fmla="*/ 97 w 104"/>
              <a:gd name="T87" fmla="*/ 73 h 85"/>
              <a:gd name="T88" fmla="*/ 96 w 104"/>
              <a:gd name="T89" fmla="*/ 63 h 85"/>
              <a:gd name="T90" fmla="*/ 88 w 104"/>
              <a:gd name="T91" fmla="*/ 54 h 85"/>
              <a:gd name="T92" fmla="*/ 82 w 104"/>
              <a:gd name="T93" fmla="*/ 71 h 85"/>
              <a:gd name="T94" fmla="*/ 87 w 104"/>
              <a:gd name="T95" fmla="*/ 78 h 85"/>
              <a:gd name="T96" fmla="*/ 75 w 104"/>
              <a:gd name="T97" fmla="*/ 27 h 85"/>
              <a:gd name="T98" fmla="*/ 75 w 104"/>
              <a:gd name="T99" fmla="*/ 27 h 85"/>
              <a:gd name="T100" fmla="*/ 68 w 104"/>
              <a:gd name="T101" fmla="*/ 39 h 85"/>
              <a:gd name="T102" fmla="*/ 74 w 104"/>
              <a:gd name="T103" fmla="*/ 46 h 85"/>
              <a:gd name="T104" fmla="*/ 78 w 104"/>
              <a:gd name="T105" fmla="*/ 49 h 85"/>
              <a:gd name="T106" fmla="*/ 88 w 104"/>
              <a:gd name="T107" fmla="*/ 45 h 85"/>
              <a:gd name="T108" fmla="*/ 80 w 104"/>
              <a:gd name="T109" fmla="*/ 25 h 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04" h="85">
                <a:moveTo>
                  <a:pt x="52" y="0"/>
                </a:moveTo>
                <a:cubicBezTo>
                  <a:pt x="63" y="0"/>
                  <a:pt x="73" y="8"/>
                  <a:pt x="75" y="20"/>
                </a:cubicBezTo>
                <a:cubicBezTo>
                  <a:pt x="76" y="19"/>
                  <a:pt x="78" y="19"/>
                  <a:pt x="80" y="19"/>
                </a:cubicBezTo>
                <a:cubicBezTo>
                  <a:pt x="85" y="19"/>
                  <a:pt x="90" y="21"/>
                  <a:pt x="93" y="24"/>
                </a:cubicBezTo>
                <a:cubicBezTo>
                  <a:pt x="96" y="27"/>
                  <a:pt x="98" y="32"/>
                  <a:pt x="98" y="37"/>
                </a:cubicBezTo>
                <a:cubicBezTo>
                  <a:pt x="98" y="42"/>
                  <a:pt x="97" y="46"/>
                  <a:pt x="93" y="50"/>
                </a:cubicBezTo>
                <a:cubicBezTo>
                  <a:pt x="98" y="54"/>
                  <a:pt x="98" y="54"/>
                  <a:pt x="98" y="54"/>
                </a:cubicBezTo>
                <a:cubicBezTo>
                  <a:pt x="100" y="56"/>
                  <a:pt x="101" y="58"/>
                  <a:pt x="102" y="60"/>
                </a:cubicBezTo>
                <a:cubicBezTo>
                  <a:pt x="103" y="63"/>
                  <a:pt x="104" y="65"/>
                  <a:pt x="104" y="68"/>
                </a:cubicBezTo>
                <a:cubicBezTo>
                  <a:pt x="104" y="74"/>
                  <a:pt x="104" y="74"/>
                  <a:pt x="104" y="74"/>
                </a:cubicBezTo>
                <a:cubicBezTo>
                  <a:pt x="104" y="75"/>
                  <a:pt x="103" y="77"/>
                  <a:pt x="102" y="78"/>
                </a:cubicBezTo>
                <a:cubicBezTo>
                  <a:pt x="102" y="79"/>
                  <a:pt x="100" y="80"/>
                  <a:pt x="98" y="80"/>
                </a:cubicBezTo>
                <a:cubicBezTo>
                  <a:pt x="98" y="80"/>
                  <a:pt x="98" y="80"/>
                  <a:pt x="98" y="80"/>
                </a:cubicBezTo>
                <a:cubicBezTo>
                  <a:pt x="94" y="80"/>
                  <a:pt x="94" y="80"/>
                  <a:pt x="94" y="80"/>
                </a:cubicBezTo>
                <a:cubicBezTo>
                  <a:pt x="94" y="82"/>
                  <a:pt x="94" y="82"/>
                  <a:pt x="94" y="82"/>
                </a:cubicBezTo>
                <a:cubicBezTo>
                  <a:pt x="94" y="84"/>
                  <a:pt x="92" y="85"/>
                  <a:pt x="90" y="85"/>
                </a:cubicBezTo>
                <a:cubicBezTo>
                  <a:pt x="90" y="85"/>
                  <a:pt x="90" y="85"/>
                  <a:pt x="90" y="85"/>
                </a:cubicBezTo>
                <a:cubicBezTo>
                  <a:pt x="13" y="85"/>
                  <a:pt x="13" y="85"/>
                  <a:pt x="13" y="85"/>
                </a:cubicBezTo>
                <a:cubicBezTo>
                  <a:pt x="13" y="85"/>
                  <a:pt x="13" y="85"/>
                  <a:pt x="13" y="85"/>
                </a:cubicBezTo>
                <a:cubicBezTo>
                  <a:pt x="11" y="85"/>
                  <a:pt x="10" y="84"/>
                  <a:pt x="10" y="82"/>
                </a:cubicBezTo>
                <a:cubicBezTo>
                  <a:pt x="10" y="80"/>
                  <a:pt x="10" y="80"/>
                  <a:pt x="10" y="80"/>
                </a:cubicBezTo>
                <a:cubicBezTo>
                  <a:pt x="6" y="80"/>
                  <a:pt x="6" y="80"/>
                  <a:pt x="6" y="80"/>
                </a:cubicBezTo>
                <a:cubicBezTo>
                  <a:pt x="5" y="80"/>
                  <a:pt x="5" y="80"/>
                  <a:pt x="5" y="80"/>
                </a:cubicBezTo>
                <a:cubicBezTo>
                  <a:pt x="3" y="80"/>
                  <a:pt x="2" y="79"/>
                  <a:pt x="1" y="78"/>
                </a:cubicBezTo>
                <a:cubicBezTo>
                  <a:pt x="0" y="77"/>
                  <a:pt x="0" y="75"/>
                  <a:pt x="0" y="74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65"/>
                  <a:pt x="0" y="63"/>
                  <a:pt x="1" y="60"/>
                </a:cubicBezTo>
                <a:cubicBezTo>
                  <a:pt x="2" y="58"/>
                  <a:pt x="4" y="56"/>
                  <a:pt x="6" y="54"/>
                </a:cubicBezTo>
                <a:cubicBezTo>
                  <a:pt x="10" y="50"/>
                  <a:pt x="10" y="50"/>
                  <a:pt x="10" y="50"/>
                </a:cubicBezTo>
                <a:cubicBezTo>
                  <a:pt x="7" y="46"/>
                  <a:pt x="5" y="42"/>
                  <a:pt x="5" y="37"/>
                </a:cubicBezTo>
                <a:cubicBezTo>
                  <a:pt x="5" y="32"/>
                  <a:pt x="7" y="27"/>
                  <a:pt x="11" y="24"/>
                </a:cubicBezTo>
                <a:cubicBezTo>
                  <a:pt x="14" y="21"/>
                  <a:pt x="19" y="19"/>
                  <a:pt x="24" y="19"/>
                </a:cubicBezTo>
                <a:cubicBezTo>
                  <a:pt x="25" y="19"/>
                  <a:pt x="27" y="19"/>
                  <a:pt x="29" y="20"/>
                </a:cubicBezTo>
                <a:cubicBezTo>
                  <a:pt x="31" y="8"/>
                  <a:pt x="40" y="0"/>
                  <a:pt x="52" y="0"/>
                </a:cubicBezTo>
                <a:close/>
                <a:moveTo>
                  <a:pt x="62" y="78"/>
                </a:moveTo>
                <a:cubicBezTo>
                  <a:pt x="62" y="78"/>
                  <a:pt x="62" y="78"/>
                  <a:pt x="62" y="78"/>
                </a:cubicBezTo>
                <a:cubicBezTo>
                  <a:pt x="62" y="75"/>
                  <a:pt x="62" y="75"/>
                  <a:pt x="62" y="75"/>
                </a:cubicBezTo>
                <a:cubicBezTo>
                  <a:pt x="62" y="75"/>
                  <a:pt x="62" y="75"/>
                  <a:pt x="62" y="75"/>
                </a:cubicBezTo>
                <a:cubicBezTo>
                  <a:pt x="62" y="75"/>
                  <a:pt x="62" y="75"/>
                  <a:pt x="62" y="75"/>
                </a:cubicBezTo>
                <a:cubicBezTo>
                  <a:pt x="62" y="63"/>
                  <a:pt x="62" y="63"/>
                  <a:pt x="62" y="63"/>
                </a:cubicBezTo>
                <a:cubicBezTo>
                  <a:pt x="62" y="62"/>
                  <a:pt x="63" y="61"/>
                  <a:pt x="64" y="61"/>
                </a:cubicBezTo>
                <a:cubicBezTo>
                  <a:pt x="65" y="61"/>
                  <a:pt x="66" y="62"/>
                  <a:pt x="66" y="63"/>
                </a:cubicBezTo>
                <a:cubicBezTo>
                  <a:pt x="66" y="72"/>
                  <a:pt x="66" y="72"/>
                  <a:pt x="66" y="72"/>
                </a:cubicBezTo>
                <a:cubicBezTo>
                  <a:pt x="75" y="72"/>
                  <a:pt x="75" y="72"/>
                  <a:pt x="75" y="72"/>
                </a:cubicBezTo>
                <a:cubicBezTo>
                  <a:pt x="75" y="72"/>
                  <a:pt x="75" y="71"/>
                  <a:pt x="75" y="71"/>
                </a:cubicBezTo>
                <a:cubicBezTo>
                  <a:pt x="75" y="64"/>
                  <a:pt x="75" y="64"/>
                  <a:pt x="75" y="64"/>
                </a:cubicBezTo>
                <a:cubicBezTo>
                  <a:pt x="75" y="61"/>
                  <a:pt x="75" y="59"/>
                  <a:pt x="74" y="57"/>
                </a:cubicBezTo>
                <a:cubicBezTo>
                  <a:pt x="74" y="57"/>
                  <a:pt x="74" y="57"/>
                  <a:pt x="74" y="57"/>
                </a:cubicBezTo>
                <a:cubicBezTo>
                  <a:pt x="74" y="57"/>
                  <a:pt x="74" y="57"/>
                  <a:pt x="74" y="57"/>
                </a:cubicBezTo>
                <a:cubicBezTo>
                  <a:pt x="73" y="56"/>
                  <a:pt x="72" y="54"/>
                  <a:pt x="72" y="53"/>
                </a:cubicBezTo>
                <a:cubicBezTo>
                  <a:pt x="72" y="53"/>
                  <a:pt x="72" y="53"/>
                  <a:pt x="72" y="53"/>
                </a:cubicBezTo>
                <a:cubicBezTo>
                  <a:pt x="72" y="53"/>
                  <a:pt x="72" y="53"/>
                  <a:pt x="72" y="53"/>
                </a:cubicBezTo>
                <a:cubicBezTo>
                  <a:pt x="72" y="53"/>
                  <a:pt x="72" y="53"/>
                  <a:pt x="72" y="53"/>
                </a:cubicBezTo>
                <a:cubicBezTo>
                  <a:pt x="71" y="53"/>
                  <a:pt x="71" y="53"/>
                  <a:pt x="71" y="53"/>
                </a:cubicBezTo>
                <a:cubicBezTo>
                  <a:pt x="71" y="53"/>
                  <a:pt x="71" y="53"/>
                  <a:pt x="71" y="53"/>
                </a:cubicBezTo>
                <a:cubicBezTo>
                  <a:pt x="71" y="52"/>
                  <a:pt x="70" y="51"/>
                  <a:pt x="70" y="51"/>
                </a:cubicBezTo>
                <a:cubicBezTo>
                  <a:pt x="70" y="51"/>
                  <a:pt x="70" y="51"/>
                  <a:pt x="70" y="51"/>
                </a:cubicBezTo>
                <a:cubicBezTo>
                  <a:pt x="62" y="44"/>
                  <a:pt x="62" y="44"/>
                  <a:pt x="62" y="44"/>
                </a:cubicBezTo>
                <a:cubicBezTo>
                  <a:pt x="59" y="45"/>
                  <a:pt x="56" y="46"/>
                  <a:pt x="52" y="46"/>
                </a:cubicBezTo>
                <a:cubicBezTo>
                  <a:pt x="48" y="46"/>
                  <a:pt x="44" y="45"/>
                  <a:pt x="41" y="44"/>
                </a:cubicBezTo>
                <a:cubicBezTo>
                  <a:pt x="34" y="51"/>
                  <a:pt x="34" y="51"/>
                  <a:pt x="34" y="51"/>
                </a:cubicBezTo>
                <a:cubicBezTo>
                  <a:pt x="34" y="51"/>
                  <a:pt x="34" y="51"/>
                  <a:pt x="34" y="51"/>
                </a:cubicBezTo>
                <a:cubicBezTo>
                  <a:pt x="33" y="51"/>
                  <a:pt x="33" y="52"/>
                  <a:pt x="32" y="53"/>
                </a:cubicBezTo>
                <a:cubicBezTo>
                  <a:pt x="32" y="53"/>
                  <a:pt x="32" y="53"/>
                  <a:pt x="32" y="53"/>
                </a:cubicBezTo>
                <a:cubicBezTo>
                  <a:pt x="32" y="53"/>
                  <a:pt x="32" y="53"/>
                  <a:pt x="32" y="53"/>
                </a:cubicBezTo>
                <a:cubicBezTo>
                  <a:pt x="32" y="53"/>
                  <a:pt x="32" y="53"/>
                  <a:pt x="32" y="53"/>
                </a:cubicBezTo>
                <a:cubicBezTo>
                  <a:pt x="32" y="53"/>
                  <a:pt x="32" y="53"/>
                  <a:pt x="32" y="53"/>
                </a:cubicBezTo>
                <a:cubicBezTo>
                  <a:pt x="31" y="54"/>
                  <a:pt x="30" y="56"/>
                  <a:pt x="30" y="57"/>
                </a:cubicBezTo>
                <a:cubicBezTo>
                  <a:pt x="29" y="59"/>
                  <a:pt x="29" y="61"/>
                  <a:pt x="29" y="64"/>
                </a:cubicBezTo>
                <a:cubicBezTo>
                  <a:pt x="29" y="71"/>
                  <a:pt x="29" y="71"/>
                  <a:pt x="29" y="71"/>
                </a:cubicBezTo>
                <a:cubicBezTo>
                  <a:pt x="29" y="71"/>
                  <a:pt x="29" y="72"/>
                  <a:pt x="29" y="72"/>
                </a:cubicBezTo>
                <a:cubicBezTo>
                  <a:pt x="37" y="72"/>
                  <a:pt x="37" y="72"/>
                  <a:pt x="37" y="72"/>
                </a:cubicBezTo>
                <a:cubicBezTo>
                  <a:pt x="37" y="63"/>
                  <a:pt x="37" y="63"/>
                  <a:pt x="37" y="63"/>
                </a:cubicBezTo>
                <a:cubicBezTo>
                  <a:pt x="37" y="62"/>
                  <a:pt x="38" y="61"/>
                  <a:pt x="39" y="61"/>
                </a:cubicBezTo>
                <a:cubicBezTo>
                  <a:pt x="41" y="61"/>
                  <a:pt x="41" y="62"/>
                  <a:pt x="41" y="63"/>
                </a:cubicBezTo>
                <a:cubicBezTo>
                  <a:pt x="41" y="75"/>
                  <a:pt x="41" y="75"/>
                  <a:pt x="41" y="75"/>
                </a:cubicBezTo>
                <a:cubicBezTo>
                  <a:pt x="41" y="75"/>
                  <a:pt x="41" y="75"/>
                  <a:pt x="41" y="75"/>
                </a:cubicBezTo>
                <a:cubicBezTo>
                  <a:pt x="41" y="75"/>
                  <a:pt x="41" y="75"/>
                  <a:pt x="41" y="75"/>
                </a:cubicBezTo>
                <a:cubicBezTo>
                  <a:pt x="41" y="78"/>
                  <a:pt x="41" y="78"/>
                  <a:pt x="41" y="78"/>
                </a:cubicBezTo>
                <a:cubicBezTo>
                  <a:pt x="62" y="78"/>
                  <a:pt x="62" y="78"/>
                  <a:pt x="62" y="78"/>
                </a:cubicBezTo>
                <a:close/>
                <a:moveTo>
                  <a:pt x="52" y="40"/>
                </a:moveTo>
                <a:cubicBezTo>
                  <a:pt x="52" y="40"/>
                  <a:pt x="52" y="40"/>
                  <a:pt x="52" y="40"/>
                </a:cubicBezTo>
                <a:cubicBezTo>
                  <a:pt x="61" y="40"/>
                  <a:pt x="68" y="32"/>
                  <a:pt x="68" y="23"/>
                </a:cubicBezTo>
                <a:cubicBezTo>
                  <a:pt x="68" y="14"/>
                  <a:pt x="61" y="7"/>
                  <a:pt x="52" y="7"/>
                </a:cubicBezTo>
                <a:cubicBezTo>
                  <a:pt x="43" y="7"/>
                  <a:pt x="35" y="14"/>
                  <a:pt x="35" y="23"/>
                </a:cubicBezTo>
                <a:cubicBezTo>
                  <a:pt x="35" y="32"/>
                  <a:pt x="43" y="40"/>
                  <a:pt x="52" y="40"/>
                </a:cubicBezTo>
                <a:close/>
                <a:moveTo>
                  <a:pt x="17" y="78"/>
                </a:moveTo>
                <a:cubicBezTo>
                  <a:pt x="17" y="78"/>
                  <a:pt x="17" y="78"/>
                  <a:pt x="17" y="78"/>
                </a:cubicBezTo>
                <a:cubicBezTo>
                  <a:pt x="26" y="78"/>
                  <a:pt x="26" y="78"/>
                  <a:pt x="26" y="78"/>
                </a:cubicBezTo>
                <a:cubicBezTo>
                  <a:pt x="25" y="78"/>
                  <a:pt x="24" y="77"/>
                  <a:pt x="23" y="76"/>
                </a:cubicBezTo>
                <a:cubicBezTo>
                  <a:pt x="22" y="75"/>
                  <a:pt x="22" y="73"/>
                  <a:pt x="22" y="71"/>
                </a:cubicBezTo>
                <a:cubicBezTo>
                  <a:pt x="22" y="64"/>
                  <a:pt x="22" y="64"/>
                  <a:pt x="22" y="64"/>
                </a:cubicBezTo>
                <a:cubicBezTo>
                  <a:pt x="22" y="61"/>
                  <a:pt x="22" y="58"/>
                  <a:pt x="23" y="56"/>
                </a:cubicBezTo>
                <a:cubicBezTo>
                  <a:pt x="21" y="55"/>
                  <a:pt x="18" y="55"/>
                  <a:pt x="16" y="54"/>
                </a:cubicBezTo>
                <a:cubicBezTo>
                  <a:pt x="11" y="59"/>
                  <a:pt x="11" y="59"/>
                  <a:pt x="11" y="59"/>
                </a:cubicBezTo>
                <a:cubicBezTo>
                  <a:pt x="9" y="60"/>
                  <a:pt x="8" y="61"/>
                  <a:pt x="8" y="63"/>
                </a:cubicBezTo>
                <a:cubicBezTo>
                  <a:pt x="8" y="63"/>
                  <a:pt x="8" y="63"/>
                  <a:pt x="8" y="63"/>
                </a:cubicBezTo>
                <a:cubicBezTo>
                  <a:pt x="7" y="65"/>
                  <a:pt x="7" y="66"/>
                  <a:pt x="7" y="68"/>
                </a:cubicBezTo>
                <a:cubicBezTo>
                  <a:pt x="7" y="73"/>
                  <a:pt x="7" y="73"/>
                  <a:pt x="7" y="73"/>
                </a:cubicBezTo>
                <a:cubicBezTo>
                  <a:pt x="13" y="73"/>
                  <a:pt x="13" y="73"/>
                  <a:pt x="13" y="73"/>
                </a:cubicBezTo>
                <a:cubicBezTo>
                  <a:pt x="13" y="67"/>
                  <a:pt x="13" y="67"/>
                  <a:pt x="13" y="67"/>
                </a:cubicBezTo>
                <a:cubicBezTo>
                  <a:pt x="13" y="66"/>
                  <a:pt x="13" y="65"/>
                  <a:pt x="15" y="65"/>
                </a:cubicBezTo>
                <a:cubicBezTo>
                  <a:pt x="16" y="65"/>
                  <a:pt x="17" y="66"/>
                  <a:pt x="17" y="67"/>
                </a:cubicBezTo>
                <a:cubicBezTo>
                  <a:pt x="17" y="78"/>
                  <a:pt x="17" y="78"/>
                  <a:pt x="17" y="78"/>
                </a:cubicBezTo>
                <a:close/>
                <a:moveTo>
                  <a:pt x="29" y="27"/>
                </a:moveTo>
                <a:cubicBezTo>
                  <a:pt x="29" y="27"/>
                  <a:pt x="29" y="27"/>
                  <a:pt x="29" y="27"/>
                </a:cubicBezTo>
                <a:cubicBezTo>
                  <a:pt x="28" y="27"/>
                  <a:pt x="28" y="26"/>
                  <a:pt x="27" y="26"/>
                </a:cubicBezTo>
                <a:cubicBezTo>
                  <a:pt x="26" y="26"/>
                  <a:pt x="25" y="25"/>
                  <a:pt x="24" y="25"/>
                </a:cubicBezTo>
                <a:cubicBezTo>
                  <a:pt x="20" y="25"/>
                  <a:pt x="17" y="27"/>
                  <a:pt x="15" y="29"/>
                </a:cubicBezTo>
                <a:cubicBezTo>
                  <a:pt x="13" y="31"/>
                  <a:pt x="12" y="34"/>
                  <a:pt x="12" y="37"/>
                </a:cubicBezTo>
                <a:cubicBezTo>
                  <a:pt x="12" y="40"/>
                  <a:pt x="13" y="43"/>
                  <a:pt x="15" y="45"/>
                </a:cubicBezTo>
                <a:cubicBezTo>
                  <a:pt x="15" y="45"/>
                  <a:pt x="15" y="45"/>
                  <a:pt x="15" y="45"/>
                </a:cubicBezTo>
                <a:cubicBezTo>
                  <a:pt x="17" y="47"/>
                  <a:pt x="20" y="49"/>
                  <a:pt x="24" y="49"/>
                </a:cubicBezTo>
                <a:cubicBezTo>
                  <a:pt x="24" y="49"/>
                  <a:pt x="25" y="49"/>
                  <a:pt x="26" y="49"/>
                </a:cubicBezTo>
                <a:cubicBezTo>
                  <a:pt x="26" y="48"/>
                  <a:pt x="27" y="48"/>
                  <a:pt x="27" y="48"/>
                </a:cubicBezTo>
                <a:cubicBezTo>
                  <a:pt x="28" y="47"/>
                  <a:pt x="29" y="47"/>
                  <a:pt x="29" y="46"/>
                </a:cubicBezTo>
                <a:cubicBezTo>
                  <a:pt x="36" y="40"/>
                  <a:pt x="36" y="40"/>
                  <a:pt x="36" y="40"/>
                </a:cubicBezTo>
                <a:cubicBezTo>
                  <a:pt x="36" y="39"/>
                  <a:pt x="36" y="39"/>
                  <a:pt x="36" y="39"/>
                </a:cubicBezTo>
                <a:cubicBezTo>
                  <a:pt x="36" y="39"/>
                  <a:pt x="36" y="39"/>
                  <a:pt x="36" y="39"/>
                </a:cubicBezTo>
                <a:cubicBezTo>
                  <a:pt x="35" y="39"/>
                  <a:pt x="35" y="39"/>
                  <a:pt x="35" y="39"/>
                </a:cubicBezTo>
                <a:cubicBezTo>
                  <a:pt x="32" y="36"/>
                  <a:pt x="30" y="33"/>
                  <a:pt x="29" y="28"/>
                </a:cubicBezTo>
                <a:cubicBezTo>
                  <a:pt x="29" y="28"/>
                  <a:pt x="29" y="28"/>
                  <a:pt x="29" y="27"/>
                </a:cubicBezTo>
                <a:cubicBezTo>
                  <a:pt x="29" y="27"/>
                  <a:pt x="29" y="27"/>
                  <a:pt x="29" y="27"/>
                </a:cubicBezTo>
                <a:cubicBezTo>
                  <a:pt x="29" y="27"/>
                  <a:pt x="29" y="27"/>
                  <a:pt x="29" y="27"/>
                </a:cubicBezTo>
                <a:cubicBezTo>
                  <a:pt x="29" y="27"/>
                  <a:pt x="29" y="27"/>
                  <a:pt x="29" y="27"/>
                </a:cubicBezTo>
                <a:close/>
                <a:moveTo>
                  <a:pt x="87" y="78"/>
                </a:moveTo>
                <a:cubicBezTo>
                  <a:pt x="87" y="78"/>
                  <a:pt x="87" y="78"/>
                  <a:pt x="87" y="78"/>
                </a:cubicBezTo>
                <a:cubicBezTo>
                  <a:pt x="87" y="67"/>
                  <a:pt x="87" y="67"/>
                  <a:pt x="87" y="67"/>
                </a:cubicBezTo>
                <a:cubicBezTo>
                  <a:pt x="87" y="66"/>
                  <a:pt x="88" y="65"/>
                  <a:pt x="89" y="65"/>
                </a:cubicBezTo>
                <a:cubicBezTo>
                  <a:pt x="90" y="65"/>
                  <a:pt x="91" y="66"/>
                  <a:pt x="91" y="67"/>
                </a:cubicBezTo>
                <a:cubicBezTo>
                  <a:pt x="91" y="73"/>
                  <a:pt x="91" y="73"/>
                  <a:pt x="91" y="73"/>
                </a:cubicBezTo>
                <a:cubicBezTo>
                  <a:pt x="97" y="73"/>
                  <a:pt x="97" y="73"/>
                  <a:pt x="97" y="73"/>
                </a:cubicBezTo>
                <a:cubicBezTo>
                  <a:pt x="97" y="68"/>
                  <a:pt x="97" y="68"/>
                  <a:pt x="97" y="68"/>
                </a:cubicBezTo>
                <a:cubicBezTo>
                  <a:pt x="97" y="66"/>
                  <a:pt x="97" y="65"/>
                  <a:pt x="96" y="63"/>
                </a:cubicBezTo>
                <a:cubicBezTo>
                  <a:pt x="96" y="63"/>
                  <a:pt x="96" y="63"/>
                  <a:pt x="96" y="63"/>
                </a:cubicBezTo>
                <a:cubicBezTo>
                  <a:pt x="96" y="63"/>
                  <a:pt x="96" y="63"/>
                  <a:pt x="96" y="63"/>
                </a:cubicBezTo>
                <a:cubicBezTo>
                  <a:pt x="95" y="61"/>
                  <a:pt x="94" y="60"/>
                  <a:pt x="93" y="59"/>
                </a:cubicBezTo>
                <a:cubicBezTo>
                  <a:pt x="88" y="54"/>
                  <a:pt x="88" y="54"/>
                  <a:pt x="88" y="54"/>
                </a:cubicBezTo>
                <a:cubicBezTo>
                  <a:pt x="86" y="55"/>
                  <a:pt x="83" y="55"/>
                  <a:pt x="80" y="56"/>
                </a:cubicBezTo>
                <a:cubicBezTo>
                  <a:pt x="81" y="58"/>
                  <a:pt x="82" y="61"/>
                  <a:pt x="82" y="64"/>
                </a:cubicBezTo>
                <a:cubicBezTo>
                  <a:pt x="82" y="71"/>
                  <a:pt x="82" y="71"/>
                  <a:pt x="82" y="71"/>
                </a:cubicBezTo>
                <a:cubicBezTo>
                  <a:pt x="82" y="73"/>
                  <a:pt x="81" y="75"/>
                  <a:pt x="80" y="76"/>
                </a:cubicBezTo>
                <a:cubicBezTo>
                  <a:pt x="80" y="77"/>
                  <a:pt x="79" y="78"/>
                  <a:pt x="77" y="78"/>
                </a:cubicBezTo>
                <a:cubicBezTo>
                  <a:pt x="87" y="78"/>
                  <a:pt x="87" y="78"/>
                  <a:pt x="87" y="78"/>
                </a:cubicBezTo>
                <a:close/>
                <a:moveTo>
                  <a:pt x="75" y="27"/>
                </a:moveTo>
                <a:cubicBezTo>
                  <a:pt x="75" y="27"/>
                  <a:pt x="75" y="27"/>
                  <a:pt x="75" y="27"/>
                </a:cubicBezTo>
                <a:cubicBezTo>
                  <a:pt x="75" y="27"/>
                  <a:pt x="75" y="27"/>
                  <a:pt x="75" y="27"/>
                </a:cubicBezTo>
                <a:cubicBezTo>
                  <a:pt x="75" y="27"/>
                  <a:pt x="75" y="27"/>
                  <a:pt x="75" y="27"/>
                </a:cubicBezTo>
                <a:cubicBezTo>
                  <a:pt x="75" y="27"/>
                  <a:pt x="75" y="27"/>
                  <a:pt x="75" y="27"/>
                </a:cubicBezTo>
                <a:cubicBezTo>
                  <a:pt x="75" y="27"/>
                  <a:pt x="75" y="27"/>
                  <a:pt x="75" y="27"/>
                </a:cubicBezTo>
                <a:cubicBezTo>
                  <a:pt x="74" y="32"/>
                  <a:pt x="71" y="36"/>
                  <a:pt x="68" y="39"/>
                </a:cubicBezTo>
                <a:cubicBezTo>
                  <a:pt x="68" y="39"/>
                  <a:pt x="68" y="39"/>
                  <a:pt x="68" y="39"/>
                </a:cubicBezTo>
                <a:cubicBezTo>
                  <a:pt x="68" y="39"/>
                  <a:pt x="68" y="39"/>
                  <a:pt x="68" y="39"/>
                </a:cubicBezTo>
                <a:cubicBezTo>
                  <a:pt x="68" y="40"/>
                  <a:pt x="68" y="40"/>
                  <a:pt x="68" y="40"/>
                </a:cubicBezTo>
                <a:cubicBezTo>
                  <a:pt x="74" y="46"/>
                  <a:pt x="74" y="46"/>
                  <a:pt x="74" y="46"/>
                </a:cubicBezTo>
                <a:cubicBezTo>
                  <a:pt x="74" y="46"/>
                  <a:pt x="74" y="46"/>
                  <a:pt x="74" y="46"/>
                </a:cubicBezTo>
                <a:cubicBezTo>
                  <a:pt x="75" y="47"/>
                  <a:pt x="76" y="47"/>
                  <a:pt x="76" y="48"/>
                </a:cubicBezTo>
                <a:cubicBezTo>
                  <a:pt x="77" y="48"/>
                  <a:pt x="77" y="48"/>
                  <a:pt x="78" y="49"/>
                </a:cubicBezTo>
                <a:cubicBezTo>
                  <a:pt x="78" y="49"/>
                  <a:pt x="78" y="49"/>
                  <a:pt x="78" y="49"/>
                </a:cubicBezTo>
                <a:cubicBezTo>
                  <a:pt x="78" y="49"/>
                  <a:pt x="78" y="49"/>
                  <a:pt x="78" y="49"/>
                </a:cubicBezTo>
                <a:cubicBezTo>
                  <a:pt x="78" y="49"/>
                  <a:pt x="79" y="49"/>
                  <a:pt x="80" y="49"/>
                </a:cubicBezTo>
                <a:cubicBezTo>
                  <a:pt x="83" y="49"/>
                  <a:pt x="86" y="47"/>
                  <a:pt x="88" y="45"/>
                </a:cubicBezTo>
                <a:cubicBezTo>
                  <a:pt x="90" y="43"/>
                  <a:pt x="92" y="40"/>
                  <a:pt x="92" y="37"/>
                </a:cubicBezTo>
                <a:cubicBezTo>
                  <a:pt x="92" y="34"/>
                  <a:pt x="90" y="31"/>
                  <a:pt x="88" y="29"/>
                </a:cubicBezTo>
                <a:cubicBezTo>
                  <a:pt x="86" y="27"/>
                  <a:pt x="83" y="25"/>
                  <a:pt x="80" y="25"/>
                </a:cubicBezTo>
                <a:cubicBezTo>
                  <a:pt x="79" y="25"/>
                  <a:pt x="78" y="26"/>
                  <a:pt x="77" y="26"/>
                </a:cubicBezTo>
                <a:cubicBezTo>
                  <a:pt x="76" y="26"/>
                  <a:pt x="75" y="27"/>
                  <a:pt x="75" y="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defTabSz="1219200"/>
            <a:endParaRPr lang="zh-CN" altLang="en-US" sz="2400">
              <a:solidFill>
                <a:srgbClr val="333333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4" name="PA_矩形 24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7465695" y="1007110"/>
            <a:ext cx="3815080" cy="906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>
              <a:lnSpc>
                <a:spcPct val="120000"/>
              </a:lnSpc>
              <a:spcBef>
                <a:spcPts val="400"/>
              </a:spcBef>
            </a:pPr>
            <a:r>
              <a:rPr lang="zh-CN" altLang="en-US" sz="2800" b="1" dirty="0">
                <a:solidFill>
                  <a:srgbClr val="333333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提供全品类的租赁服务</a:t>
            </a:r>
            <a:endParaRPr lang="zh-CN" altLang="en-US" sz="2800" b="1" dirty="0">
              <a:solidFill>
                <a:srgbClr val="333333">
                  <a:lumMod val="75000"/>
                  <a:lumOff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defTabSz="1219200">
              <a:lnSpc>
                <a:spcPct val="12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zh-CN" altLang="en-US" sz="2000" dirty="0">
              <a:solidFill>
                <a:srgbClr val="FFFFFF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78790" y="140335"/>
            <a:ext cx="1644650" cy="584835"/>
          </a:xfrm>
          <a:prstGeom prst="rect">
            <a:avLst/>
          </a:prstGeom>
          <a:solidFill>
            <a:srgbClr val="4CC1D0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 flipH="1">
            <a:off x="478790" y="847725"/>
            <a:ext cx="1656715" cy="5715"/>
          </a:xfrm>
          <a:prstGeom prst="line">
            <a:avLst/>
          </a:prstGeom>
          <a:ln w="15875">
            <a:solidFill>
              <a:srgbClr val="54C3D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478790" y="137795"/>
            <a:ext cx="16446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产品目标</a:t>
            </a:r>
            <a:endParaRPr lang="zh-CN" altLang="en-US" sz="28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pic>
        <p:nvPicPr>
          <p:cNvPr id="26" name="图片 25" descr="话筒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122170" y="3893185"/>
            <a:ext cx="386715" cy="3867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7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7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7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7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8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339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9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39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9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2381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1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1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39"/>
                                  </p:iterate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1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1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39"/>
                                  </p:iterate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3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 autoUpdateAnimBg="0"/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 autoUpdateAnimBg="0"/>
      <p:bldP spid="17" grpId="0" bldLvl="0" animBg="1"/>
      <p:bldP spid="18" grpId="0" bldLvl="0" animBg="1"/>
      <p:bldP spid="19" grpId="0" bldLvl="0" animBg="1"/>
      <p:bldP spid="22" grpId="0"/>
      <p:bldP spid="24" grpId="0" animBg="1" autoUpdateAnimBg="0"/>
      <p:bldP spid="25" grpId="0"/>
      <p:bldP spid="31" grpId="0" bldLvl="0" animBg="1"/>
      <p:bldP spid="32" grpId="0" bldLvl="0" animBg="1"/>
      <p:bldP spid="2" grpId="0" bldLvl="0" animBg="1"/>
      <p:bldP spid="3" grpId="0" animBg="1" autoUpdateAnimBg="0"/>
      <p:bldP spid="4" grpId="0" bldLvl="0" animBg="1"/>
      <p:bldP spid="14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5"/>
          <p:cNvSpPr/>
          <p:nvPr/>
        </p:nvSpPr>
        <p:spPr>
          <a:xfrm>
            <a:off x="5376933" y="1016043"/>
            <a:ext cx="408404" cy="408404"/>
          </a:xfrm>
          <a:prstGeom prst="ellipse">
            <a:avLst/>
          </a:prstGeom>
          <a:solidFill>
            <a:srgbClr val="25B7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Oval 4"/>
          <p:cNvSpPr/>
          <p:nvPr/>
        </p:nvSpPr>
        <p:spPr>
          <a:xfrm>
            <a:off x="2124642" y="4413149"/>
            <a:ext cx="914400" cy="9144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Oval 6"/>
          <p:cNvSpPr/>
          <p:nvPr/>
        </p:nvSpPr>
        <p:spPr>
          <a:xfrm>
            <a:off x="6793206" y="5408114"/>
            <a:ext cx="766148" cy="766148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7" name="组合 79"/>
          <p:cNvGrpSpPr/>
          <p:nvPr/>
        </p:nvGrpSpPr>
        <p:grpSpPr bwMode="auto">
          <a:xfrm>
            <a:off x="1315085" y="1390015"/>
            <a:ext cx="4380230" cy="4389120"/>
            <a:chOff x="6379729" y="2488774"/>
            <a:chExt cx="2513016" cy="2513016"/>
          </a:xfrm>
        </p:grpSpPr>
        <p:sp>
          <p:nvSpPr>
            <p:cNvPr id="8" name="任意多边形 82"/>
            <p:cNvSpPr/>
            <p:nvPr/>
          </p:nvSpPr>
          <p:spPr>
            <a:xfrm rot="3738964">
              <a:off x="6379729" y="2488774"/>
              <a:ext cx="2513016" cy="2513016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gradFill flip="none" rotWithShape="1">
              <a:gsLst>
                <a:gs pos="17000">
                  <a:srgbClr val="FFFFFF"/>
                </a:gs>
                <a:gs pos="88000">
                  <a:srgbClr val="FFFFFF">
                    <a:lumMod val="72000"/>
                  </a:srgbClr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127000" dist="63500" dir="7380000" sx="102000" sy="102000" algn="tr" rotWithShape="0">
                <a:prstClr val="black">
                  <a:alpha val="39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endParaRPr>
            </a:p>
          </p:txBody>
        </p:sp>
        <p:sp>
          <p:nvSpPr>
            <p:cNvPr id="9" name="任意多边形 83"/>
            <p:cNvSpPr/>
            <p:nvPr/>
          </p:nvSpPr>
          <p:spPr>
            <a:xfrm rot="16377237">
              <a:off x="6409518" y="2506881"/>
              <a:ext cx="2476803" cy="2476800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gradFill flip="none" rotWithShape="1">
              <a:gsLst>
                <a:gs pos="29000">
                  <a:srgbClr val="FFFFFF"/>
                </a:gs>
                <a:gs pos="98000">
                  <a:srgbClr val="FFFFFF">
                    <a:lumMod val="75000"/>
                  </a:srgbClr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softEdge rad="0"/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" name="Oval 8"/>
          <p:cNvSpPr/>
          <p:nvPr/>
        </p:nvSpPr>
        <p:spPr>
          <a:xfrm>
            <a:off x="4443461" y="2207559"/>
            <a:ext cx="538550" cy="5385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Oval 9"/>
          <p:cNvSpPr/>
          <p:nvPr/>
        </p:nvSpPr>
        <p:spPr>
          <a:xfrm>
            <a:off x="2762438" y="1521713"/>
            <a:ext cx="553208" cy="55320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Oval 10"/>
          <p:cNvSpPr/>
          <p:nvPr/>
        </p:nvSpPr>
        <p:spPr>
          <a:xfrm>
            <a:off x="6905283" y="1181617"/>
            <a:ext cx="1373608" cy="1373608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b="1" dirty="0"/>
              <a:t>2</a:t>
            </a:r>
            <a:endParaRPr lang="en-US" sz="8000" b="1" dirty="0"/>
          </a:p>
        </p:txBody>
      </p:sp>
      <p:sp>
        <p:nvSpPr>
          <p:cNvPr id="13" name="Oval 11"/>
          <p:cNvSpPr/>
          <p:nvPr/>
        </p:nvSpPr>
        <p:spPr>
          <a:xfrm>
            <a:off x="3236132" y="419245"/>
            <a:ext cx="740105" cy="740105"/>
          </a:xfrm>
          <a:prstGeom prst="ellipse">
            <a:avLst/>
          </a:prstGeom>
          <a:solidFill>
            <a:srgbClr val="F6A5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Oval 12"/>
          <p:cNvSpPr/>
          <p:nvPr/>
        </p:nvSpPr>
        <p:spPr>
          <a:xfrm>
            <a:off x="3085546" y="5791188"/>
            <a:ext cx="230100" cy="230100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" name="Oval 13"/>
          <p:cNvSpPr/>
          <p:nvPr/>
        </p:nvSpPr>
        <p:spPr>
          <a:xfrm>
            <a:off x="587041" y="3007002"/>
            <a:ext cx="554270" cy="55427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6" name="Oval 14"/>
          <p:cNvSpPr/>
          <p:nvPr/>
        </p:nvSpPr>
        <p:spPr>
          <a:xfrm>
            <a:off x="6085604" y="3848143"/>
            <a:ext cx="472224" cy="472224"/>
          </a:xfrm>
          <a:prstGeom prst="ellipse">
            <a:avLst/>
          </a:prstGeom>
          <a:solidFill>
            <a:srgbClr val="F6A5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17" name="Group 31"/>
          <p:cNvGrpSpPr/>
          <p:nvPr/>
        </p:nvGrpSpPr>
        <p:grpSpPr>
          <a:xfrm>
            <a:off x="5055555" y="2297647"/>
            <a:ext cx="986490" cy="986490"/>
            <a:chOff x="5055555" y="2012177"/>
            <a:chExt cx="986490" cy="986490"/>
          </a:xfrm>
        </p:grpSpPr>
        <p:sp>
          <p:nvSpPr>
            <p:cNvPr id="18" name="Oval 32"/>
            <p:cNvSpPr/>
            <p:nvPr/>
          </p:nvSpPr>
          <p:spPr>
            <a:xfrm>
              <a:off x="5055555" y="2012177"/>
              <a:ext cx="986490" cy="98649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pic>
          <p:nvPicPr>
            <p:cNvPr id="19" name="Picture 3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15617" y="2133970"/>
              <a:ext cx="576050" cy="576050"/>
            </a:xfrm>
            <a:prstGeom prst="rect">
              <a:avLst/>
            </a:prstGeom>
          </p:spPr>
        </p:pic>
      </p:grpSp>
      <p:grpSp>
        <p:nvGrpSpPr>
          <p:cNvPr id="20" name="Group 34"/>
          <p:cNvGrpSpPr/>
          <p:nvPr/>
        </p:nvGrpSpPr>
        <p:grpSpPr>
          <a:xfrm>
            <a:off x="1332251" y="1424447"/>
            <a:ext cx="914400" cy="914400"/>
            <a:chOff x="1664298" y="1454017"/>
            <a:chExt cx="914400" cy="914400"/>
          </a:xfrm>
        </p:grpSpPr>
        <p:sp>
          <p:nvSpPr>
            <p:cNvPr id="21" name="Oval 35"/>
            <p:cNvSpPr/>
            <p:nvPr/>
          </p:nvSpPr>
          <p:spPr>
            <a:xfrm>
              <a:off x="1664298" y="1454017"/>
              <a:ext cx="914400" cy="914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pic>
          <p:nvPicPr>
            <p:cNvPr id="22" name="Picture 3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400" y="1543797"/>
              <a:ext cx="679285" cy="679285"/>
            </a:xfrm>
            <a:prstGeom prst="rect">
              <a:avLst/>
            </a:prstGeom>
          </p:spPr>
        </p:pic>
      </p:grpSp>
      <p:sp>
        <p:nvSpPr>
          <p:cNvPr id="23" name="Oval 6"/>
          <p:cNvSpPr/>
          <p:nvPr/>
        </p:nvSpPr>
        <p:spPr>
          <a:xfrm>
            <a:off x="8023147" y="5721444"/>
            <a:ext cx="268024" cy="268024"/>
          </a:xfrm>
          <a:prstGeom prst="ellipse">
            <a:avLst/>
          </a:prstGeom>
          <a:solidFill>
            <a:srgbClr val="25B7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" name="TextBox 12"/>
          <p:cNvSpPr txBox="1"/>
          <p:nvPr/>
        </p:nvSpPr>
        <p:spPr>
          <a:xfrm>
            <a:off x="7771267" y="2746109"/>
            <a:ext cx="242824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400" b="1" dirty="0">
                <a:solidFill>
                  <a:srgbClr val="595859"/>
                </a:solidFill>
                <a:latin typeface="+mj-lt"/>
              </a:rPr>
              <a:t>方案设计</a:t>
            </a:r>
            <a:endParaRPr lang="en-US" sz="4400" b="1" dirty="0">
              <a:solidFill>
                <a:srgbClr val="595859"/>
              </a:solidFill>
              <a:latin typeface="+mj-lt"/>
            </a:endParaRPr>
          </a:p>
        </p:txBody>
      </p:sp>
      <p:pic>
        <p:nvPicPr>
          <p:cNvPr id="25" name="图片 24" descr="logo 竖版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3540" y="2764703"/>
            <a:ext cx="1523179" cy="17633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6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23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0" y="957682"/>
            <a:ext cx="3002280" cy="168656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78554" y="140293"/>
            <a:ext cx="2429569" cy="584775"/>
          </a:xfrm>
          <a:prstGeom prst="rect">
            <a:avLst/>
          </a:prstGeom>
          <a:solidFill>
            <a:srgbClr val="4CC1D0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 flipH="1" flipV="1">
            <a:off x="478554" y="821262"/>
            <a:ext cx="2523726" cy="8229"/>
          </a:xfrm>
          <a:prstGeom prst="line">
            <a:avLst/>
          </a:prstGeom>
          <a:ln w="15875">
            <a:solidFill>
              <a:srgbClr val="54C3D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78790" y="137795"/>
            <a:ext cx="24295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系统功能架构</a:t>
            </a:r>
            <a:endParaRPr lang="zh-CN" altLang="en-US" sz="28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1308735" y="5233669"/>
            <a:ext cx="2260191" cy="2169806"/>
          </a:xfrm>
          <a:prstGeom prst="ellipse">
            <a:avLst/>
          </a:prstGeom>
          <a:solidFill>
            <a:srgbClr val="00A6B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829945" y="6079490"/>
            <a:ext cx="0" cy="0"/>
            <a:chOff x="1485900" y="6386287"/>
            <a:chExt cx="10537829" cy="0"/>
          </a:xfrm>
        </p:grpSpPr>
        <p:cxnSp>
          <p:nvCxnSpPr>
            <p:cNvPr id="28" name="直接连接符 27"/>
            <p:cNvCxnSpPr/>
            <p:nvPr/>
          </p:nvCxnSpPr>
          <p:spPr>
            <a:xfrm>
              <a:off x="1485900" y="6386287"/>
              <a:ext cx="319534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8369230" y="6386287"/>
              <a:ext cx="3654499" cy="0"/>
            </a:xfrm>
            <a:prstGeom prst="line">
              <a:avLst/>
            </a:prstGeom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椭圆 20"/>
          <p:cNvSpPr/>
          <p:nvPr/>
        </p:nvSpPr>
        <p:spPr>
          <a:xfrm>
            <a:off x="11162665" y="-685801"/>
            <a:ext cx="2260191" cy="2169806"/>
          </a:xfrm>
          <a:prstGeom prst="ellipse">
            <a:avLst/>
          </a:prstGeom>
          <a:solidFill>
            <a:srgbClr val="00A6B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2350" y="1062105"/>
            <a:ext cx="2835774" cy="144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以用户需求为核心的多层应用设计，提供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端与小程序客户端服务，具备极强的扩展能力和可定制性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10009324" y="-587261"/>
            <a:ext cx="1088025" cy="1044515"/>
          </a:xfrm>
          <a:prstGeom prst="ellipse">
            <a:avLst/>
          </a:prstGeom>
          <a:solidFill>
            <a:srgbClr val="EF9802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3067050" y="1155065"/>
            <a:ext cx="8621395" cy="5467985"/>
            <a:chOff x="836" y="479"/>
            <a:chExt cx="16519" cy="9669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2310" y="8838"/>
              <a:ext cx="14895" cy="2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3562" t="7771" r="3117" b="10207"/>
            <a:stretch>
              <a:fillRect/>
            </a:stretch>
          </p:blipFill>
          <p:spPr>
            <a:xfrm>
              <a:off x="2059" y="479"/>
              <a:ext cx="15297" cy="6163"/>
            </a:xfrm>
            <a:prstGeom prst="rect">
              <a:avLst/>
            </a:prstGeom>
          </p:spPr>
        </p:pic>
        <p:cxnSp>
          <p:nvCxnSpPr>
            <p:cNvPr id="10" name="直接连接符 9"/>
            <p:cNvCxnSpPr/>
            <p:nvPr/>
          </p:nvCxnSpPr>
          <p:spPr>
            <a:xfrm>
              <a:off x="2310" y="2743"/>
              <a:ext cx="14945" cy="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 flipV="1">
              <a:off x="2312" y="6898"/>
              <a:ext cx="14859" cy="4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上箭头 11"/>
            <p:cNvSpPr/>
            <p:nvPr/>
          </p:nvSpPr>
          <p:spPr>
            <a:xfrm>
              <a:off x="9388" y="6354"/>
              <a:ext cx="972" cy="1072"/>
            </a:xfrm>
            <a:prstGeom prst="upArrow">
              <a:avLst/>
            </a:prstGeom>
            <a:solidFill>
              <a:srgbClr val="636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8107" y="7527"/>
              <a:ext cx="3535" cy="687"/>
            </a:xfrm>
            <a:prstGeom prst="roundRect">
              <a:avLst/>
            </a:prstGeom>
            <a:solidFill>
              <a:srgbClr val="AF9B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2000">
                  <a:solidFill>
                    <a:schemeClr val="tx1"/>
                  </a:solidFill>
                </a:rPr>
                <a:t>MybatisPlus</a:t>
              </a:r>
              <a:endParaRPr lang="en-US" altLang="zh-CN" sz="2000">
                <a:solidFill>
                  <a:schemeClr val="tx1"/>
                </a:solidFill>
              </a:endParaRPr>
            </a:p>
          </p:txBody>
        </p:sp>
        <p:sp>
          <p:nvSpPr>
            <p:cNvPr id="14" name="上箭头 13"/>
            <p:cNvSpPr/>
            <p:nvPr/>
          </p:nvSpPr>
          <p:spPr>
            <a:xfrm>
              <a:off x="9387" y="8315"/>
              <a:ext cx="972" cy="1072"/>
            </a:xfrm>
            <a:prstGeom prst="upArrow">
              <a:avLst/>
            </a:prstGeom>
            <a:solidFill>
              <a:srgbClr val="636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8105" y="9462"/>
              <a:ext cx="3535" cy="687"/>
            </a:xfrm>
            <a:prstGeom prst="roundRect">
              <a:avLst/>
            </a:prstGeom>
            <a:solidFill>
              <a:srgbClr val="AF9B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000">
                  <a:solidFill>
                    <a:schemeClr val="tx1"/>
                  </a:solidFill>
                </a:rPr>
                <a:t>功能架构</a:t>
              </a: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7" name="竖卷形 16"/>
            <p:cNvSpPr/>
            <p:nvPr/>
          </p:nvSpPr>
          <p:spPr>
            <a:xfrm>
              <a:off x="836" y="699"/>
              <a:ext cx="1223" cy="2027"/>
            </a:xfrm>
            <a:prstGeom prst="verticalScroll">
              <a:avLst/>
            </a:prstGeom>
            <a:solidFill>
              <a:srgbClr val="8AB1E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</a:rPr>
                <a:t>客户端</a:t>
              </a: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" name="竖卷形 18"/>
            <p:cNvSpPr/>
            <p:nvPr/>
          </p:nvSpPr>
          <p:spPr>
            <a:xfrm>
              <a:off x="836" y="3462"/>
              <a:ext cx="1223" cy="2444"/>
            </a:xfrm>
            <a:prstGeom prst="verticalScroll">
              <a:avLst/>
            </a:prstGeom>
            <a:solidFill>
              <a:srgbClr val="8AB1E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功能应用</a:t>
              </a:r>
              <a:r>
                <a:rPr lang="zh-CN" altLang="en-US"/>
                <a:t>层</a:t>
              </a:r>
              <a:endParaRPr lang="zh-CN" altLang="en-US"/>
            </a:p>
          </p:txBody>
        </p:sp>
        <p:sp>
          <p:nvSpPr>
            <p:cNvPr id="22" name="竖卷形 21"/>
            <p:cNvSpPr/>
            <p:nvPr/>
          </p:nvSpPr>
          <p:spPr>
            <a:xfrm>
              <a:off x="836" y="6642"/>
              <a:ext cx="1223" cy="2400"/>
            </a:xfrm>
            <a:prstGeom prst="verticalScroll">
              <a:avLst/>
            </a:prstGeom>
            <a:solidFill>
              <a:srgbClr val="8AB1E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数据持久层</a:t>
              </a:r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478790" y="140335"/>
            <a:ext cx="1678305" cy="584835"/>
          </a:xfrm>
          <a:prstGeom prst="rect">
            <a:avLst/>
          </a:prstGeom>
          <a:solidFill>
            <a:srgbClr val="4CC1D0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连接符 35"/>
          <p:cNvCxnSpPr/>
          <p:nvPr/>
        </p:nvCxnSpPr>
        <p:spPr>
          <a:xfrm flipH="1">
            <a:off x="478790" y="853440"/>
            <a:ext cx="1736090" cy="0"/>
          </a:xfrm>
          <a:prstGeom prst="line">
            <a:avLst/>
          </a:prstGeom>
          <a:ln w="15875">
            <a:solidFill>
              <a:srgbClr val="54C3D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478790" y="137795"/>
            <a:ext cx="22682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ea typeface="造字工房悦黑体验版细体" pitchFamily="2" charset="-122"/>
              </a:rPr>
              <a:t>技术架构</a:t>
            </a:r>
            <a:endParaRPr lang="zh-CN" altLang="en-US" sz="2800" dirty="0">
              <a:solidFill>
                <a:schemeClr val="bg1"/>
              </a:solidFill>
              <a:ea typeface="造字工房悦黑体验版细体" pitchFamily="2" charset="-122"/>
            </a:endParaRPr>
          </a:p>
        </p:txBody>
      </p:sp>
      <p:sp>
        <p:nvSpPr>
          <p:cNvPr id="4" name="Rectangle 43"/>
          <p:cNvSpPr/>
          <p:nvPr/>
        </p:nvSpPr>
        <p:spPr>
          <a:xfrm>
            <a:off x="342006" y="3621887"/>
            <a:ext cx="11372468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grpSp>
        <p:nvGrpSpPr>
          <p:cNvPr id="5" name="Group 22"/>
          <p:cNvGrpSpPr/>
          <p:nvPr/>
        </p:nvGrpSpPr>
        <p:grpSpPr>
          <a:xfrm>
            <a:off x="1432812" y="3307095"/>
            <a:ext cx="646764" cy="648072"/>
            <a:chOff x="2495600" y="3102417"/>
            <a:chExt cx="646764" cy="648072"/>
          </a:xfrm>
        </p:grpSpPr>
        <p:grpSp>
          <p:nvGrpSpPr>
            <p:cNvPr id="6" name="组合 79"/>
            <p:cNvGrpSpPr/>
            <p:nvPr/>
          </p:nvGrpSpPr>
          <p:grpSpPr bwMode="auto">
            <a:xfrm>
              <a:off x="2495600" y="3102417"/>
              <a:ext cx="646764" cy="648072"/>
              <a:chOff x="6379729" y="2488774"/>
              <a:chExt cx="2513016" cy="2513016"/>
            </a:xfrm>
          </p:grpSpPr>
          <p:sp>
            <p:nvSpPr>
              <p:cNvPr id="7" name="任意多边形 82"/>
              <p:cNvSpPr/>
              <p:nvPr/>
            </p:nvSpPr>
            <p:spPr>
              <a:xfrm rot="3738964">
                <a:off x="6379729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39000"/>
                  </a:prst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</a:endParaRPr>
              </a:p>
            </p:txBody>
          </p:sp>
          <p:sp>
            <p:nvSpPr>
              <p:cNvPr id="8" name="任意多边形 83"/>
              <p:cNvSpPr/>
              <p:nvPr/>
            </p:nvSpPr>
            <p:spPr>
              <a:xfrm rot="16377237">
                <a:off x="6397834" y="2506880"/>
                <a:ext cx="2476803" cy="2476801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9" name="椭圆 80"/>
            <p:cNvSpPr/>
            <p:nvPr/>
          </p:nvSpPr>
          <p:spPr bwMode="auto">
            <a:xfrm>
              <a:off x="2631544" y="3238636"/>
              <a:ext cx="374874" cy="375634"/>
            </a:xfrm>
            <a:prstGeom prst="ellipse">
              <a:avLst/>
            </a:prstGeom>
            <a:solidFill>
              <a:srgbClr val="92D050"/>
            </a:solidFill>
            <a:ln w="25400" cap="flat" cmpd="sng" algn="ctr">
              <a:noFill/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" name="Group 23"/>
          <p:cNvGrpSpPr/>
          <p:nvPr/>
        </p:nvGrpSpPr>
        <p:grpSpPr>
          <a:xfrm>
            <a:off x="3635650" y="3307095"/>
            <a:ext cx="646764" cy="648072"/>
            <a:chOff x="2495600" y="3102417"/>
            <a:chExt cx="646764" cy="648072"/>
          </a:xfrm>
        </p:grpSpPr>
        <p:grpSp>
          <p:nvGrpSpPr>
            <p:cNvPr id="11" name="组合 79"/>
            <p:cNvGrpSpPr/>
            <p:nvPr/>
          </p:nvGrpSpPr>
          <p:grpSpPr bwMode="auto">
            <a:xfrm>
              <a:off x="2495600" y="3102417"/>
              <a:ext cx="646764" cy="648072"/>
              <a:chOff x="6379729" y="2488774"/>
              <a:chExt cx="2513016" cy="2513016"/>
            </a:xfrm>
          </p:grpSpPr>
          <p:sp>
            <p:nvSpPr>
              <p:cNvPr id="13" name="任意多边形 82"/>
              <p:cNvSpPr/>
              <p:nvPr/>
            </p:nvSpPr>
            <p:spPr>
              <a:xfrm rot="3738964">
                <a:off x="6379729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39000"/>
                  </a:prst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</a:endParaRPr>
              </a:p>
            </p:txBody>
          </p:sp>
          <p:sp>
            <p:nvSpPr>
              <p:cNvPr id="14" name="任意多边形 83"/>
              <p:cNvSpPr/>
              <p:nvPr/>
            </p:nvSpPr>
            <p:spPr>
              <a:xfrm rot="16377237">
                <a:off x="6397834" y="2506880"/>
                <a:ext cx="2476803" cy="2476801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5" name="椭圆 80"/>
            <p:cNvSpPr/>
            <p:nvPr/>
          </p:nvSpPr>
          <p:spPr bwMode="auto">
            <a:xfrm>
              <a:off x="2631544" y="3238636"/>
              <a:ext cx="374874" cy="375634"/>
            </a:xfrm>
            <a:prstGeom prst="ellipse">
              <a:avLst/>
            </a:prstGeom>
            <a:solidFill>
              <a:srgbClr val="FFC000"/>
            </a:solidFill>
            <a:ln w="25400" cap="flat" cmpd="sng" algn="ctr">
              <a:noFill/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6" name="Group 28"/>
          <p:cNvGrpSpPr/>
          <p:nvPr/>
        </p:nvGrpSpPr>
        <p:grpSpPr>
          <a:xfrm>
            <a:off x="5734774" y="3295764"/>
            <a:ext cx="646764" cy="648072"/>
            <a:chOff x="2495600" y="3102417"/>
            <a:chExt cx="646764" cy="648072"/>
          </a:xfrm>
        </p:grpSpPr>
        <p:grpSp>
          <p:nvGrpSpPr>
            <p:cNvPr id="17" name="组合 79"/>
            <p:cNvGrpSpPr/>
            <p:nvPr/>
          </p:nvGrpSpPr>
          <p:grpSpPr bwMode="auto">
            <a:xfrm>
              <a:off x="2495600" y="3102417"/>
              <a:ext cx="646764" cy="648072"/>
              <a:chOff x="6379729" y="2488774"/>
              <a:chExt cx="2513016" cy="2513016"/>
            </a:xfrm>
          </p:grpSpPr>
          <p:sp>
            <p:nvSpPr>
              <p:cNvPr id="18" name="任意多边形 82"/>
              <p:cNvSpPr/>
              <p:nvPr/>
            </p:nvSpPr>
            <p:spPr>
              <a:xfrm rot="3738964">
                <a:off x="6379729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39000"/>
                  </a:prst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</a:endParaRPr>
              </a:p>
            </p:txBody>
          </p:sp>
          <p:sp>
            <p:nvSpPr>
              <p:cNvPr id="19" name="任意多边形 83"/>
              <p:cNvSpPr/>
              <p:nvPr/>
            </p:nvSpPr>
            <p:spPr>
              <a:xfrm rot="16377237">
                <a:off x="6397834" y="2506880"/>
                <a:ext cx="2476803" cy="2476801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1" name="椭圆 80"/>
            <p:cNvSpPr/>
            <p:nvPr/>
          </p:nvSpPr>
          <p:spPr bwMode="auto">
            <a:xfrm>
              <a:off x="2631544" y="3238636"/>
              <a:ext cx="374874" cy="3756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25400" cap="flat" cmpd="sng" algn="ctr">
              <a:noFill/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2" name="Group 33"/>
          <p:cNvGrpSpPr/>
          <p:nvPr/>
        </p:nvGrpSpPr>
        <p:grpSpPr>
          <a:xfrm>
            <a:off x="7899224" y="3293912"/>
            <a:ext cx="646764" cy="648072"/>
            <a:chOff x="2495600" y="3102417"/>
            <a:chExt cx="646764" cy="648072"/>
          </a:xfrm>
        </p:grpSpPr>
        <p:grpSp>
          <p:nvGrpSpPr>
            <p:cNvPr id="23" name="组合 79"/>
            <p:cNvGrpSpPr/>
            <p:nvPr/>
          </p:nvGrpSpPr>
          <p:grpSpPr bwMode="auto">
            <a:xfrm>
              <a:off x="2495600" y="3102417"/>
              <a:ext cx="646764" cy="648072"/>
              <a:chOff x="6379729" y="2488774"/>
              <a:chExt cx="2513016" cy="2513016"/>
            </a:xfrm>
          </p:grpSpPr>
          <p:sp>
            <p:nvSpPr>
              <p:cNvPr id="24" name="任意多边形 82"/>
              <p:cNvSpPr/>
              <p:nvPr/>
            </p:nvSpPr>
            <p:spPr>
              <a:xfrm rot="3738964">
                <a:off x="6379729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39000"/>
                  </a:prst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</a:endParaRPr>
              </a:p>
            </p:txBody>
          </p:sp>
          <p:sp>
            <p:nvSpPr>
              <p:cNvPr id="25" name="任意多边形 83"/>
              <p:cNvSpPr/>
              <p:nvPr/>
            </p:nvSpPr>
            <p:spPr>
              <a:xfrm rot="16377237">
                <a:off x="6397834" y="2506880"/>
                <a:ext cx="2476803" cy="2476801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6" name="椭圆 80"/>
            <p:cNvSpPr/>
            <p:nvPr/>
          </p:nvSpPr>
          <p:spPr bwMode="auto">
            <a:xfrm>
              <a:off x="2631544" y="3238636"/>
              <a:ext cx="374874" cy="375634"/>
            </a:xfrm>
            <a:prstGeom prst="ellipse">
              <a:avLst/>
            </a:prstGeom>
            <a:solidFill>
              <a:srgbClr val="92D050"/>
            </a:solidFill>
            <a:ln w="25400" cap="flat" cmpd="sng" algn="ctr">
              <a:noFill/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7" name="Teardrop 44"/>
          <p:cNvSpPr/>
          <p:nvPr/>
        </p:nvSpPr>
        <p:spPr>
          <a:xfrm rot="8228570">
            <a:off x="1186424" y="1782358"/>
            <a:ext cx="1139536" cy="1177043"/>
          </a:xfrm>
          <a:prstGeom prst="teardrop">
            <a:avLst/>
          </a:prstGeom>
          <a:solidFill>
            <a:srgbClr val="F2F2F2"/>
          </a:solidFill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8" name="Teardrop 45"/>
          <p:cNvSpPr/>
          <p:nvPr/>
        </p:nvSpPr>
        <p:spPr>
          <a:xfrm rot="8228570">
            <a:off x="3389262" y="1782359"/>
            <a:ext cx="1139536" cy="1177043"/>
          </a:xfrm>
          <a:prstGeom prst="teardrop">
            <a:avLst/>
          </a:prstGeom>
          <a:solidFill>
            <a:srgbClr val="F2F2F2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9" name="Teardrop 46"/>
          <p:cNvSpPr/>
          <p:nvPr/>
        </p:nvSpPr>
        <p:spPr>
          <a:xfrm rot="8228570">
            <a:off x="5488386" y="1780326"/>
            <a:ext cx="1139536" cy="1177043"/>
          </a:xfrm>
          <a:prstGeom prst="teardrop">
            <a:avLst/>
          </a:prstGeom>
          <a:solidFill>
            <a:srgbClr val="F2F2F2"/>
          </a:solidFill>
          <a:ln w="38100">
            <a:solidFill>
              <a:srgbClr val="6BC4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1" name="Teardrop 47"/>
          <p:cNvSpPr/>
          <p:nvPr/>
        </p:nvSpPr>
        <p:spPr>
          <a:xfrm rot="8228570">
            <a:off x="7652838" y="1791291"/>
            <a:ext cx="1139536" cy="1177043"/>
          </a:xfrm>
          <a:prstGeom prst="teardrop">
            <a:avLst/>
          </a:prstGeom>
          <a:solidFill>
            <a:srgbClr val="F2F2F2"/>
          </a:solidFill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grpSp>
        <p:nvGrpSpPr>
          <p:cNvPr id="68" name="Group 33"/>
          <p:cNvGrpSpPr/>
          <p:nvPr/>
        </p:nvGrpSpPr>
        <p:grpSpPr>
          <a:xfrm>
            <a:off x="10030919" y="3294547"/>
            <a:ext cx="646764" cy="648072"/>
            <a:chOff x="2495600" y="3102417"/>
            <a:chExt cx="646764" cy="648072"/>
          </a:xfrm>
        </p:grpSpPr>
        <p:grpSp>
          <p:nvGrpSpPr>
            <p:cNvPr id="69" name="组合 79"/>
            <p:cNvGrpSpPr/>
            <p:nvPr/>
          </p:nvGrpSpPr>
          <p:grpSpPr bwMode="auto">
            <a:xfrm>
              <a:off x="2495600" y="3102417"/>
              <a:ext cx="646764" cy="648072"/>
              <a:chOff x="6379729" y="2488774"/>
              <a:chExt cx="2513016" cy="2513016"/>
            </a:xfrm>
          </p:grpSpPr>
          <p:sp>
            <p:nvSpPr>
              <p:cNvPr id="70" name="任意多边形 82"/>
              <p:cNvSpPr/>
              <p:nvPr/>
            </p:nvSpPr>
            <p:spPr>
              <a:xfrm rot="3738964">
                <a:off x="6379729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39000"/>
                  </a:prst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</a:endParaRPr>
              </a:p>
            </p:txBody>
          </p:sp>
          <p:sp>
            <p:nvSpPr>
              <p:cNvPr id="71" name="任意多边形 83"/>
              <p:cNvSpPr/>
              <p:nvPr/>
            </p:nvSpPr>
            <p:spPr>
              <a:xfrm rot="16377237">
                <a:off x="6397834" y="2506880"/>
                <a:ext cx="2476803" cy="2476801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2" name="椭圆 80"/>
            <p:cNvSpPr/>
            <p:nvPr/>
          </p:nvSpPr>
          <p:spPr bwMode="auto">
            <a:xfrm>
              <a:off x="2631544" y="3238636"/>
              <a:ext cx="374874" cy="375634"/>
            </a:xfrm>
            <a:prstGeom prst="ellipse">
              <a:avLst/>
            </a:prstGeom>
            <a:solidFill>
              <a:srgbClr val="35495E"/>
            </a:solidFill>
            <a:ln w="25400" cap="flat" cmpd="sng" algn="ctr">
              <a:noFill/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0" name="Teardrop 47"/>
          <p:cNvSpPr/>
          <p:nvPr/>
        </p:nvSpPr>
        <p:spPr>
          <a:xfrm rot="8228570">
            <a:off x="9784533" y="1791926"/>
            <a:ext cx="1139536" cy="1177043"/>
          </a:xfrm>
          <a:prstGeom prst="teardrop">
            <a:avLst/>
          </a:prstGeom>
          <a:solidFill>
            <a:srgbClr val="F2F2F2"/>
          </a:solidFill>
          <a:ln w="38100">
            <a:solidFill>
              <a:srgbClr val="3549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2" name="文本框 101"/>
          <p:cNvSpPr txBox="1"/>
          <p:nvPr/>
        </p:nvSpPr>
        <p:spPr>
          <a:xfrm>
            <a:off x="1046797" y="4022869"/>
            <a:ext cx="141795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Springboot</a:t>
            </a:r>
            <a:endParaRPr lang="zh-CN" altLang="en-US"/>
          </a:p>
        </p:txBody>
      </p:sp>
      <p:sp>
        <p:nvSpPr>
          <p:cNvPr id="103" name="文本框 102"/>
          <p:cNvSpPr txBox="1"/>
          <p:nvPr/>
        </p:nvSpPr>
        <p:spPr>
          <a:xfrm>
            <a:off x="3154997" y="4034299"/>
            <a:ext cx="150431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Springcloud</a:t>
            </a:r>
            <a:endParaRPr lang="zh-CN" altLang="en-US"/>
          </a:p>
        </p:txBody>
      </p:sp>
      <p:sp>
        <p:nvSpPr>
          <p:cNvPr id="104" name="文本框 103"/>
          <p:cNvSpPr txBox="1"/>
          <p:nvPr/>
        </p:nvSpPr>
        <p:spPr>
          <a:xfrm>
            <a:off x="5349557" y="4051444"/>
            <a:ext cx="149606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MybatisPlus</a:t>
            </a:r>
            <a:endParaRPr lang="zh-CN" altLang="en-US"/>
          </a:p>
        </p:txBody>
      </p:sp>
      <p:sp>
        <p:nvSpPr>
          <p:cNvPr id="106" name="文本框 105"/>
          <p:cNvSpPr txBox="1"/>
          <p:nvPr/>
        </p:nvSpPr>
        <p:spPr>
          <a:xfrm>
            <a:off x="7339647" y="4057159"/>
            <a:ext cx="176784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SpringSecurity</a:t>
            </a:r>
            <a:endParaRPr lang="zh-CN" altLang="en-US"/>
          </a:p>
        </p:txBody>
      </p:sp>
      <p:sp>
        <p:nvSpPr>
          <p:cNvPr id="107" name="文本框 106"/>
          <p:cNvSpPr txBox="1"/>
          <p:nvPr/>
        </p:nvSpPr>
        <p:spPr>
          <a:xfrm>
            <a:off x="10052367" y="4038109"/>
            <a:ext cx="59817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Vue</a:t>
            </a:r>
            <a:endParaRPr lang="zh-CN" altLang="en-US"/>
          </a:p>
        </p:txBody>
      </p:sp>
      <p:pic>
        <p:nvPicPr>
          <p:cNvPr id="108" name="图片 107" descr="bxl-spring-bo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6182" y="1880379"/>
            <a:ext cx="1052830" cy="1052830"/>
          </a:xfrm>
          <a:prstGeom prst="rect">
            <a:avLst/>
          </a:prstGeom>
        </p:spPr>
      </p:pic>
      <p:pic>
        <p:nvPicPr>
          <p:cNvPr id="109" name="图片 108" descr="SPRINGCLOU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512" y="2024524"/>
            <a:ext cx="986790" cy="651510"/>
          </a:xfrm>
          <a:prstGeom prst="rect">
            <a:avLst/>
          </a:prstGeom>
        </p:spPr>
      </p:pic>
      <p:pic>
        <p:nvPicPr>
          <p:cNvPr id="110" name="图片 109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80392" y="2024524"/>
            <a:ext cx="831215" cy="713105"/>
          </a:xfrm>
          <a:prstGeom prst="rect">
            <a:avLst/>
          </a:prstGeom>
        </p:spPr>
      </p:pic>
      <p:pic>
        <p:nvPicPr>
          <p:cNvPr id="111" name="图片 110" descr="安全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917" y="1964834"/>
            <a:ext cx="968375" cy="968375"/>
          </a:xfrm>
          <a:prstGeom prst="rect">
            <a:avLst/>
          </a:prstGeom>
        </p:spPr>
      </p:pic>
      <p:pic>
        <p:nvPicPr>
          <p:cNvPr id="112" name="图片 111" descr="vu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9162" y="1955944"/>
            <a:ext cx="1084580" cy="1084580"/>
          </a:xfrm>
          <a:prstGeom prst="rect">
            <a:avLst/>
          </a:prstGeom>
        </p:spPr>
      </p:pic>
      <p:sp>
        <p:nvSpPr>
          <p:cNvPr id="164" name="椭圆 163"/>
          <p:cNvSpPr/>
          <p:nvPr/>
        </p:nvSpPr>
        <p:spPr>
          <a:xfrm>
            <a:off x="-1308735" y="5233669"/>
            <a:ext cx="2260191" cy="2169806"/>
          </a:xfrm>
          <a:prstGeom prst="ellipse">
            <a:avLst/>
          </a:prstGeom>
          <a:solidFill>
            <a:srgbClr val="00A6B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65" name="椭圆 164"/>
          <p:cNvSpPr/>
          <p:nvPr/>
        </p:nvSpPr>
        <p:spPr>
          <a:xfrm>
            <a:off x="11162665" y="-685801"/>
            <a:ext cx="2260191" cy="2169806"/>
          </a:xfrm>
          <a:prstGeom prst="ellipse">
            <a:avLst/>
          </a:prstGeom>
          <a:solidFill>
            <a:srgbClr val="00A6B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10009324" y="-587261"/>
            <a:ext cx="1088025" cy="1044515"/>
          </a:xfrm>
          <a:prstGeom prst="ellipse">
            <a:avLst/>
          </a:prstGeom>
          <a:solidFill>
            <a:srgbClr val="EF9802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951049" y="6359004"/>
            <a:ext cx="1088025" cy="1044515"/>
          </a:xfrm>
          <a:prstGeom prst="ellipse">
            <a:avLst/>
          </a:prstGeom>
          <a:solidFill>
            <a:srgbClr val="EF9802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27" grpId="0" bldLvl="0" animBg="1"/>
      <p:bldP spid="28" grpId="0" bldLvl="0" animBg="1"/>
      <p:bldP spid="29" grpId="0" bldLvl="0" animBg="1"/>
      <p:bldP spid="31" grpId="0" bldLvl="0" animBg="1"/>
      <p:bldP spid="100" grpId="0" bldLvl="0" animBg="1"/>
      <p:bldP spid="102" grpId="0"/>
      <p:bldP spid="103" grpId="0"/>
      <p:bldP spid="104" grpId="0"/>
      <p:bldP spid="106" grpId="0"/>
      <p:bldP spid="10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椭圆 163"/>
          <p:cNvSpPr/>
          <p:nvPr/>
        </p:nvSpPr>
        <p:spPr>
          <a:xfrm>
            <a:off x="-1308735" y="5233669"/>
            <a:ext cx="2260191" cy="2169806"/>
          </a:xfrm>
          <a:prstGeom prst="ellipse">
            <a:avLst/>
          </a:prstGeom>
          <a:solidFill>
            <a:srgbClr val="00A6B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65" name="椭圆 164"/>
          <p:cNvSpPr/>
          <p:nvPr/>
        </p:nvSpPr>
        <p:spPr>
          <a:xfrm>
            <a:off x="11162665" y="-685801"/>
            <a:ext cx="2260191" cy="2169806"/>
          </a:xfrm>
          <a:prstGeom prst="ellipse">
            <a:avLst/>
          </a:prstGeom>
          <a:solidFill>
            <a:srgbClr val="00A6B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8790" y="140335"/>
            <a:ext cx="1678305" cy="584835"/>
          </a:xfrm>
          <a:prstGeom prst="rect">
            <a:avLst/>
          </a:prstGeom>
          <a:solidFill>
            <a:srgbClr val="4CC1D0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连接符 35"/>
          <p:cNvCxnSpPr/>
          <p:nvPr/>
        </p:nvCxnSpPr>
        <p:spPr>
          <a:xfrm flipH="1">
            <a:off x="478790" y="853440"/>
            <a:ext cx="1736090" cy="0"/>
          </a:xfrm>
          <a:prstGeom prst="line">
            <a:avLst/>
          </a:prstGeom>
          <a:ln w="15875">
            <a:solidFill>
              <a:srgbClr val="54C3D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478790" y="137795"/>
            <a:ext cx="22682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ea typeface="造字工房悦黑体验版细体" pitchFamily="2" charset="-122"/>
              </a:rPr>
              <a:t>业务模式</a:t>
            </a:r>
            <a:endParaRPr lang="zh-CN" altLang="en-US" sz="2800" dirty="0">
              <a:solidFill>
                <a:schemeClr val="bg1"/>
              </a:solidFill>
              <a:ea typeface="造字工房悦黑体验版细体" pitchFamily="2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0009324" y="-587261"/>
            <a:ext cx="1088025" cy="1044515"/>
          </a:xfrm>
          <a:prstGeom prst="ellipse">
            <a:avLst/>
          </a:prstGeom>
          <a:solidFill>
            <a:srgbClr val="EF9802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4" name="图片 3" descr="流程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69085" y="704215"/>
            <a:ext cx="9947275" cy="6026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5"/>
          <p:cNvSpPr/>
          <p:nvPr/>
        </p:nvSpPr>
        <p:spPr>
          <a:xfrm>
            <a:off x="5376933" y="1016043"/>
            <a:ext cx="408404" cy="408404"/>
          </a:xfrm>
          <a:prstGeom prst="ellipse">
            <a:avLst/>
          </a:prstGeom>
          <a:solidFill>
            <a:srgbClr val="25B7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Oval 4"/>
          <p:cNvSpPr/>
          <p:nvPr/>
        </p:nvSpPr>
        <p:spPr>
          <a:xfrm>
            <a:off x="2124642" y="4413149"/>
            <a:ext cx="914400" cy="9144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Oval 6"/>
          <p:cNvSpPr/>
          <p:nvPr/>
        </p:nvSpPr>
        <p:spPr>
          <a:xfrm>
            <a:off x="6793206" y="5408114"/>
            <a:ext cx="766148" cy="766148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7" name="组合 79"/>
          <p:cNvGrpSpPr/>
          <p:nvPr/>
        </p:nvGrpSpPr>
        <p:grpSpPr bwMode="auto">
          <a:xfrm>
            <a:off x="1315085" y="1390015"/>
            <a:ext cx="4380230" cy="4389120"/>
            <a:chOff x="6379729" y="2488774"/>
            <a:chExt cx="2513016" cy="2513016"/>
          </a:xfrm>
        </p:grpSpPr>
        <p:sp>
          <p:nvSpPr>
            <p:cNvPr id="8" name="任意多边形 82"/>
            <p:cNvSpPr/>
            <p:nvPr/>
          </p:nvSpPr>
          <p:spPr>
            <a:xfrm rot="3738964">
              <a:off x="6379729" y="2488774"/>
              <a:ext cx="2513016" cy="2513016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gradFill flip="none" rotWithShape="1">
              <a:gsLst>
                <a:gs pos="17000">
                  <a:srgbClr val="FFFFFF"/>
                </a:gs>
                <a:gs pos="88000">
                  <a:srgbClr val="FFFFFF">
                    <a:lumMod val="72000"/>
                  </a:srgbClr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127000" dist="63500" dir="7380000" sx="102000" sy="102000" algn="tr" rotWithShape="0">
                <a:prstClr val="black">
                  <a:alpha val="39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endParaRPr>
            </a:p>
          </p:txBody>
        </p:sp>
        <p:sp>
          <p:nvSpPr>
            <p:cNvPr id="9" name="任意多边形 83"/>
            <p:cNvSpPr/>
            <p:nvPr/>
          </p:nvSpPr>
          <p:spPr>
            <a:xfrm rot="16377237">
              <a:off x="6409518" y="2506881"/>
              <a:ext cx="2476803" cy="2476800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gradFill flip="none" rotWithShape="1">
              <a:gsLst>
                <a:gs pos="29000">
                  <a:srgbClr val="FFFFFF"/>
                </a:gs>
                <a:gs pos="98000">
                  <a:srgbClr val="FFFFFF">
                    <a:lumMod val="75000"/>
                  </a:srgbClr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softEdge rad="0"/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" name="Oval 8"/>
          <p:cNvSpPr/>
          <p:nvPr/>
        </p:nvSpPr>
        <p:spPr>
          <a:xfrm>
            <a:off x="4443461" y="2207559"/>
            <a:ext cx="538550" cy="5385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Oval 9"/>
          <p:cNvSpPr/>
          <p:nvPr/>
        </p:nvSpPr>
        <p:spPr>
          <a:xfrm>
            <a:off x="2762438" y="1521713"/>
            <a:ext cx="553208" cy="55320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Oval 10"/>
          <p:cNvSpPr/>
          <p:nvPr/>
        </p:nvSpPr>
        <p:spPr>
          <a:xfrm>
            <a:off x="6905283" y="1181617"/>
            <a:ext cx="1373608" cy="1373608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b="1" dirty="0"/>
              <a:t>3</a:t>
            </a:r>
            <a:endParaRPr lang="en-US" sz="8000" b="1" dirty="0"/>
          </a:p>
        </p:txBody>
      </p:sp>
      <p:sp>
        <p:nvSpPr>
          <p:cNvPr id="13" name="Oval 11"/>
          <p:cNvSpPr/>
          <p:nvPr/>
        </p:nvSpPr>
        <p:spPr>
          <a:xfrm>
            <a:off x="3236132" y="419245"/>
            <a:ext cx="740105" cy="740105"/>
          </a:xfrm>
          <a:prstGeom prst="ellipse">
            <a:avLst/>
          </a:prstGeom>
          <a:solidFill>
            <a:srgbClr val="F6A5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Oval 12"/>
          <p:cNvSpPr/>
          <p:nvPr/>
        </p:nvSpPr>
        <p:spPr>
          <a:xfrm>
            <a:off x="3085546" y="5791188"/>
            <a:ext cx="230100" cy="230100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" name="Oval 13"/>
          <p:cNvSpPr/>
          <p:nvPr/>
        </p:nvSpPr>
        <p:spPr>
          <a:xfrm>
            <a:off x="587041" y="3007002"/>
            <a:ext cx="554270" cy="55427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6" name="Oval 14"/>
          <p:cNvSpPr/>
          <p:nvPr/>
        </p:nvSpPr>
        <p:spPr>
          <a:xfrm>
            <a:off x="6085604" y="3848143"/>
            <a:ext cx="472224" cy="472224"/>
          </a:xfrm>
          <a:prstGeom prst="ellipse">
            <a:avLst/>
          </a:prstGeom>
          <a:solidFill>
            <a:srgbClr val="F6A5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17" name="Group 31"/>
          <p:cNvGrpSpPr/>
          <p:nvPr/>
        </p:nvGrpSpPr>
        <p:grpSpPr>
          <a:xfrm>
            <a:off x="5055555" y="2297647"/>
            <a:ext cx="986490" cy="986490"/>
            <a:chOff x="5055555" y="2012177"/>
            <a:chExt cx="986490" cy="986490"/>
          </a:xfrm>
        </p:grpSpPr>
        <p:sp>
          <p:nvSpPr>
            <p:cNvPr id="18" name="Oval 32"/>
            <p:cNvSpPr/>
            <p:nvPr/>
          </p:nvSpPr>
          <p:spPr>
            <a:xfrm>
              <a:off x="5055555" y="2012177"/>
              <a:ext cx="986490" cy="98649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pic>
          <p:nvPicPr>
            <p:cNvPr id="19" name="Picture 3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15617" y="2133970"/>
              <a:ext cx="576050" cy="576050"/>
            </a:xfrm>
            <a:prstGeom prst="rect">
              <a:avLst/>
            </a:prstGeom>
          </p:spPr>
        </p:pic>
      </p:grpSp>
      <p:grpSp>
        <p:nvGrpSpPr>
          <p:cNvPr id="20" name="Group 34"/>
          <p:cNvGrpSpPr/>
          <p:nvPr/>
        </p:nvGrpSpPr>
        <p:grpSpPr>
          <a:xfrm>
            <a:off x="1332251" y="1424447"/>
            <a:ext cx="914400" cy="914400"/>
            <a:chOff x="1664298" y="1454017"/>
            <a:chExt cx="914400" cy="914400"/>
          </a:xfrm>
        </p:grpSpPr>
        <p:sp>
          <p:nvSpPr>
            <p:cNvPr id="21" name="Oval 35"/>
            <p:cNvSpPr/>
            <p:nvPr/>
          </p:nvSpPr>
          <p:spPr>
            <a:xfrm>
              <a:off x="1664298" y="1454017"/>
              <a:ext cx="914400" cy="914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pic>
          <p:nvPicPr>
            <p:cNvPr id="22" name="Picture 3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400" y="1543797"/>
              <a:ext cx="679285" cy="679285"/>
            </a:xfrm>
            <a:prstGeom prst="rect">
              <a:avLst/>
            </a:prstGeom>
          </p:spPr>
        </p:pic>
      </p:grpSp>
      <p:sp>
        <p:nvSpPr>
          <p:cNvPr id="23" name="Oval 6"/>
          <p:cNvSpPr/>
          <p:nvPr/>
        </p:nvSpPr>
        <p:spPr>
          <a:xfrm>
            <a:off x="8023147" y="5721444"/>
            <a:ext cx="268024" cy="268024"/>
          </a:xfrm>
          <a:prstGeom prst="ellipse">
            <a:avLst/>
          </a:prstGeom>
          <a:solidFill>
            <a:srgbClr val="25B7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" name="TextBox 12"/>
          <p:cNvSpPr txBox="1"/>
          <p:nvPr/>
        </p:nvSpPr>
        <p:spPr>
          <a:xfrm>
            <a:off x="7771267" y="2746109"/>
            <a:ext cx="242824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400" b="1" dirty="0">
                <a:solidFill>
                  <a:srgbClr val="595859"/>
                </a:solidFill>
                <a:latin typeface="+mj-lt"/>
              </a:rPr>
              <a:t>项目展示</a:t>
            </a:r>
            <a:endParaRPr lang="en-US" sz="4400" b="1" dirty="0">
              <a:solidFill>
                <a:srgbClr val="595859"/>
              </a:solidFill>
              <a:latin typeface="+mj-lt"/>
            </a:endParaRPr>
          </a:p>
        </p:txBody>
      </p:sp>
      <p:pic>
        <p:nvPicPr>
          <p:cNvPr id="25" name="图片 24" descr="logo 竖版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3540" y="2764703"/>
            <a:ext cx="1523179" cy="17633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6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23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电脑终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1272540"/>
            <a:ext cx="8397240" cy="5585460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139065" y="1550035"/>
            <a:ext cx="11077575" cy="4025900"/>
            <a:chOff x="139065" y="1550035"/>
            <a:chExt cx="11077575" cy="4025900"/>
          </a:xfrm>
        </p:grpSpPr>
        <p:pic>
          <p:nvPicPr>
            <p:cNvPr id="5" name="图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9065" y="1550035"/>
              <a:ext cx="8119745" cy="4025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矩形: 圆角 2"/>
            <p:cNvSpPr/>
            <p:nvPr/>
          </p:nvSpPr>
          <p:spPr>
            <a:xfrm>
              <a:off x="8798560" y="2651760"/>
              <a:ext cx="2418080" cy="156464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首页的可视化数据管理</a:t>
              </a:r>
              <a:endPara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6" name="图片 5"/>
          <p:cNvPicPr/>
          <p:nvPr/>
        </p:nvPicPr>
        <p:blipFill rotWithShape="1">
          <a:blip r:embed="rId3"/>
          <a:srcRect r="1648"/>
          <a:stretch>
            <a:fillRect/>
          </a:stretch>
        </p:blipFill>
        <p:spPr>
          <a:xfrm>
            <a:off x="139065" y="1552169"/>
            <a:ext cx="8119745" cy="402376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矩形: 圆角 6"/>
          <p:cNvSpPr/>
          <p:nvPr/>
        </p:nvSpPr>
        <p:spPr>
          <a:xfrm>
            <a:off x="8798560" y="2651760"/>
            <a:ext cx="2418080" cy="204216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用户管控：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查找、修改所有的注册用户的信息</a:t>
            </a:r>
            <a:endParaRPr kumimoji="0" lang="zh-CN" altLang="en-US" sz="2400" b="0" i="0" u="none" strike="noStrike" kern="1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207008" y="2414016"/>
            <a:ext cx="548640" cy="338328"/>
          </a:xfrm>
          <a:prstGeom prst="ellipse">
            <a:avLst/>
          </a:prstGeom>
          <a:noFill/>
          <a:ln w="19050">
            <a:solidFill>
              <a:srgbClr val="FAB4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>
            <a:off x="1755648" y="2560320"/>
            <a:ext cx="1865376" cy="0"/>
          </a:xfrm>
          <a:prstGeom prst="straightConnector1">
            <a:avLst/>
          </a:prstGeom>
          <a:ln w="19050">
            <a:solidFill>
              <a:srgbClr val="FAB4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464" y="1644776"/>
            <a:ext cx="3181985" cy="3903345"/>
          </a:xfrm>
          <a:prstGeom prst="rect">
            <a:avLst/>
          </a:prstGeom>
          <a:ln w="19050">
            <a:solidFill>
              <a:srgbClr val="FAB450"/>
            </a:solidFill>
          </a:ln>
        </p:spPr>
      </p:pic>
      <p:sp>
        <p:nvSpPr>
          <p:cNvPr id="12" name="椭圆 11"/>
          <p:cNvSpPr/>
          <p:nvPr/>
        </p:nvSpPr>
        <p:spPr>
          <a:xfrm>
            <a:off x="4818888" y="2487168"/>
            <a:ext cx="1773936" cy="71323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新增用户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139065" y="1550034"/>
            <a:ext cx="11077575" cy="4023764"/>
            <a:chOff x="139065" y="1550034"/>
            <a:chExt cx="11077575" cy="4023764"/>
          </a:xfrm>
        </p:grpSpPr>
        <p:pic>
          <p:nvPicPr>
            <p:cNvPr id="14" name="图片 13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139065" y="1550034"/>
              <a:ext cx="8109596" cy="40237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矩形: 圆角 14"/>
            <p:cNvSpPr/>
            <p:nvPr/>
          </p:nvSpPr>
          <p:spPr>
            <a:xfrm>
              <a:off x="8798560" y="2228088"/>
              <a:ext cx="2418080" cy="305714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投诉管理：</a:t>
              </a:r>
              <a:endPara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000" b="0" i="0" u="none" strike="noStrike" kern="1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用户投诉的请求都会在</a:t>
              </a:r>
              <a:r>
                <a:rPr kumimoji="0" lang="zh-CN" altLang="en-US" sz="2000" b="0" i="0" u="none" strike="noStrike" kern="1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该</a:t>
              </a:r>
              <a:r>
                <a:rPr kumimoji="0" lang="zh-CN" altLang="zh-CN" sz="2000" b="0" i="0" u="none" strike="noStrike" kern="1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界面显示，客服根据实际情况对用户的投诉进行审核</a:t>
              </a:r>
              <a:endParaRPr kumimoji="0" lang="zh-CN" altLang="zh-CN" sz="20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16" name="图片 15"/>
          <p:cNvPicPr/>
          <p:nvPr/>
        </p:nvPicPr>
        <p:blipFill>
          <a:blip r:embed="rId6"/>
          <a:stretch>
            <a:fillRect/>
          </a:stretch>
        </p:blipFill>
        <p:spPr>
          <a:xfrm>
            <a:off x="139064" y="1547898"/>
            <a:ext cx="8119745" cy="402376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椭圆 17"/>
          <p:cNvSpPr/>
          <p:nvPr/>
        </p:nvSpPr>
        <p:spPr>
          <a:xfrm>
            <a:off x="2249424" y="1550033"/>
            <a:ext cx="1828800" cy="94183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对用户的投诉进行审核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107623" y="1550033"/>
            <a:ext cx="11261417" cy="4021629"/>
            <a:chOff x="107623" y="1550033"/>
            <a:chExt cx="11261417" cy="4021629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7623" y="1550033"/>
              <a:ext cx="8172479" cy="40216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矩形: 圆角 19"/>
            <p:cNvSpPr/>
            <p:nvPr/>
          </p:nvSpPr>
          <p:spPr>
            <a:xfrm>
              <a:off x="8950960" y="2804160"/>
              <a:ext cx="2418080" cy="204216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公告管理：</a:t>
              </a:r>
              <a:endPara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用于管理员向用户或商家发送通知</a:t>
              </a:r>
              <a:endPara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2185417" y="1453421"/>
            <a:ext cx="3511295" cy="3921390"/>
            <a:chOff x="2185417" y="1453421"/>
            <a:chExt cx="3511295" cy="3921390"/>
          </a:xfrm>
        </p:grpSpPr>
        <p:pic>
          <p:nvPicPr>
            <p:cNvPr id="21" name="图片 20"/>
            <p:cNvPicPr>
              <a:picLocks noChangeAspect="1"/>
            </p:cNvPicPr>
            <p:nvPr/>
          </p:nvPicPr>
          <p:blipFill rotWithShape="1">
            <a:blip r:embed="rId8"/>
            <a:srcRect l="34441" t="2197" r="35367" b="9363"/>
            <a:stretch>
              <a:fillRect/>
            </a:stretch>
          </p:blipFill>
          <p:spPr>
            <a:xfrm>
              <a:off x="3172968" y="1744748"/>
              <a:ext cx="2523744" cy="3630063"/>
            </a:xfrm>
            <a:prstGeom prst="rect">
              <a:avLst/>
            </a:prstGeom>
            <a:noFill/>
            <a:ln w="28575">
              <a:solidFill>
                <a:srgbClr val="FAB450"/>
              </a:solidFill>
            </a:ln>
          </p:spPr>
        </p:pic>
        <p:sp>
          <p:nvSpPr>
            <p:cNvPr id="22" name="椭圆 21"/>
            <p:cNvSpPr/>
            <p:nvPr/>
          </p:nvSpPr>
          <p:spPr>
            <a:xfrm>
              <a:off x="2185417" y="1453421"/>
              <a:ext cx="1554480" cy="622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编辑公告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107623" y="1545760"/>
            <a:ext cx="11413817" cy="4021629"/>
            <a:chOff x="107623" y="1545760"/>
            <a:chExt cx="11413817" cy="4021629"/>
          </a:xfrm>
        </p:grpSpPr>
        <p:pic>
          <p:nvPicPr>
            <p:cNvPr id="25" name="图片 24"/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107623" y="1545760"/>
              <a:ext cx="8172479" cy="40216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" name="矩形: 圆角 25"/>
            <p:cNvSpPr/>
            <p:nvPr/>
          </p:nvSpPr>
          <p:spPr>
            <a:xfrm>
              <a:off x="9103360" y="2750312"/>
              <a:ext cx="2418080" cy="204216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性能监控：</a:t>
              </a:r>
              <a:endPara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marR="0" lvl="0" indent="266700" algn="just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管控产品部署的服务器的情况，对流量，内存等运行情况进行管控</a:t>
              </a:r>
              <a:endParaRPr kumimoji="0" lang="zh-CN" altLang="en-US" sz="20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矩形 27"/>
          <p:cNvSpPr/>
          <p:nvPr/>
        </p:nvSpPr>
        <p:spPr>
          <a:xfrm>
            <a:off x="478553" y="140293"/>
            <a:ext cx="3261343" cy="584775"/>
          </a:xfrm>
          <a:prstGeom prst="rect">
            <a:avLst/>
          </a:prstGeom>
          <a:solidFill>
            <a:srgbClr val="4CC1D0">
              <a:alpha val="95000"/>
            </a:srgbClr>
          </a:solidFill>
          <a:ln>
            <a:noFill/>
          </a:ln>
          <a:effectLst>
            <a:outerShdw blurRad="635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系统管理端的功能演示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2" name="直接连接符 31"/>
          <p:cNvCxnSpPr/>
          <p:nvPr/>
        </p:nvCxnSpPr>
        <p:spPr>
          <a:xfrm flipH="1">
            <a:off x="478790" y="853440"/>
            <a:ext cx="3261106" cy="0"/>
          </a:xfrm>
          <a:prstGeom prst="line">
            <a:avLst/>
          </a:prstGeom>
          <a:ln w="15875">
            <a:solidFill>
              <a:srgbClr val="54C3D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32"/>
          <p:cNvSpPr/>
          <p:nvPr/>
        </p:nvSpPr>
        <p:spPr>
          <a:xfrm>
            <a:off x="11162665" y="-685801"/>
            <a:ext cx="2260191" cy="2169806"/>
          </a:xfrm>
          <a:prstGeom prst="ellipse">
            <a:avLst/>
          </a:prstGeom>
          <a:solidFill>
            <a:srgbClr val="00A6B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10009324" y="-587261"/>
            <a:ext cx="1088025" cy="1044515"/>
          </a:xfrm>
          <a:prstGeom prst="ellipse">
            <a:avLst/>
          </a:prstGeom>
          <a:solidFill>
            <a:srgbClr val="EF9802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12" grpId="0" animBg="1"/>
      <p:bldP spid="12" grpId="1" animBg="1"/>
      <p:bldP spid="18" grpId="0" animBg="1"/>
      <p:bldP spid="18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电脑终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1272540"/>
            <a:ext cx="8397240" cy="5585460"/>
          </a:xfrm>
          <a:prstGeom prst="rect">
            <a:avLst/>
          </a:prstGeom>
        </p:spPr>
      </p:pic>
      <p:sp>
        <p:nvSpPr>
          <p:cNvPr id="28" name="矩形 27"/>
          <p:cNvSpPr/>
          <p:nvPr/>
        </p:nvSpPr>
        <p:spPr>
          <a:xfrm>
            <a:off x="478553" y="140293"/>
            <a:ext cx="3261343" cy="584775"/>
          </a:xfrm>
          <a:prstGeom prst="rect">
            <a:avLst/>
          </a:prstGeom>
          <a:solidFill>
            <a:srgbClr val="4CC1D0">
              <a:alpha val="95000"/>
            </a:srgbClr>
          </a:solidFill>
          <a:ln>
            <a:noFill/>
          </a:ln>
          <a:effectLst>
            <a:outerShdw blurRad="635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商家平台的</a:t>
            </a:r>
            <a:r>
              <a:rPr kumimoji="0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功能演示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3" name="组合 32" hidden="1"/>
          <p:cNvGrpSpPr/>
          <p:nvPr/>
        </p:nvGrpSpPr>
        <p:grpSpPr>
          <a:xfrm>
            <a:off x="127467" y="1561880"/>
            <a:ext cx="9673803" cy="4023580"/>
            <a:chOff x="127467" y="1561880"/>
            <a:chExt cx="9673803" cy="4023580"/>
          </a:xfrm>
        </p:grpSpPr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7467" y="1561880"/>
              <a:ext cx="8142306" cy="40235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" name="矩形 8"/>
            <p:cNvSpPr/>
            <p:nvPr/>
          </p:nvSpPr>
          <p:spPr>
            <a:xfrm>
              <a:off x="127467" y="1819656"/>
              <a:ext cx="1079541" cy="301752"/>
            </a:xfrm>
            <a:prstGeom prst="rect">
              <a:avLst/>
            </a:prstGeom>
            <a:noFill/>
            <a:ln w="28575">
              <a:solidFill>
                <a:srgbClr val="FAB4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1322283" y="2566416"/>
              <a:ext cx="6861597" cy="615696"/>
            </a:xfrm>
            <a:prstGeom prst="rect">
              <a:avLst/>
            </a:prstGeom>
            <a:noFill/>
            <a:ln w="28575">
              <a:solidFill>
                <a:srgbClr val="FAB4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对话气泡: 椭圆形 30"/>
            <p:cNvSpPr/>
            <p:nvPr/>
          </p:nvSpPr>
          <p:spPr>
            <a:xfrm>
              <a:off x="7593117" y="1728216"/>
              <a:ext cx="1998939" cy="1041476"/>
            </a:xfrm>
            <a:prstGeom prst="wedgeEllipseCallo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快捷导航栏可实现快速定位</a:t>
              </a:r>
              <a:endPara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对话气泡: 椭圆形 31"/>
            <p:cNvSpPr/>
            <p:nvPr/>
          </p:nvSpPr>
          <p:spPr>
            <a:xfrm>
              <a:off x="7802331" y="3208846"/>
              <a:ext cx="1998939" cy="1041476"/>
            </a:xfrm>
            <a:prstGeom prst="wedgeEllipseCallo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可视化数据面板</a:t>
              </a:r>
              <a:endPara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组合 37" hidden="1"/>
          <p:cNvGrpSpPr/>
          <p:nvPr/>
        </p:nvGrpSpPr>
        <p:grpSpPr>
          <a:xfrm>
            <a:off x="118531" y="1545995"/>
            <a:ext cx="9963703" cy="4023579"/>
            <a:chOff x="118531" y="1545995"/>
            <a:chExt cx="9963703" cy="4023579"/>
          </a:xfrm>
        </p:grpSpPr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467" y="1545995"/>
              <a:ext cx="8133370" cy="40235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矩形 34"/>
            <p:cNvSpPr/>
            <p:nvPr/>
          </p:nvSpPr>
          <p:spPr>
            <a:xfrm>
              <a:off x="118531" y="3031236"/>
              <a:ext cx="1079541" cy="301752"/>
            </a:xfrm>
            <a:prstGeom prst="rect">
              <a:avLst/>
            </a:prstGeom>
            <a:noFill/>
            <a:ln w="28575">
              <a:solidFill>
                <a:srgbClr val="FAB4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" name="对话气泡: 椭圆形 36"/>
            <p:cNvSpPr/>
            <p:nvPr/>
          </p:nvSpPr>
          <p:spPr>
            <a:xfrm>
              <a:off x="7521365" y="1994795"/>
              <a:ext cx="2560869" cy="1617145"/>
            </a:xfrm>
            <a:prstGeom prst="wedgeEllipseCallo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会员：</a:t>
              </a:r>
              <a:endPara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可查看自己店铺的所有的注册会员</a:t>
              </a:r>
              <a:endParaRPr kumimoji="0" lang="zh-CN" altLang="en-US" sz="20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2" name="组合 41" hidden="1"/>
          <p:cNvGrpSpPr/>
          <p:nvPr/>
        </p:nvGrpSpPr>
        <p:grpSpPr>
          <a:xfrm>
            <a:off x="118531" y="1553938"/>
            <a:ext cx="11098818" cy="4039464"/>
            <a:chOff x="118531" y="1553938"/>
            <a:chExt cx="11098818" cy="4039464"/>
          </a:xfrm>
        </p:grpSpPr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8531" y="1553938"/>
              <a:ext cx="8133370" cy="40394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" name="矩形 39"/>
            <p:cNvSpPr/>
            <p:nvPr/>
          </p:nvSpPr>
          <p:spPr>
            <a:xfrm>
              <a:off x="127467" y="4238577"/>
              <a:ext cx="1079541" cy="301752"/>
            </a:xfrm>
            <a:prstGeom prst="rect">
              <a:avLst/>
            </a:prstGeom>
            <a:noFill/>
            <a:ln w="28575">
              <a:solidFill>
                <a:srgbClr val="FAB4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" name="对话气泡: 椭圆形 40"/>
            <p:cNvSpPr/>
            <p:nvPr/>
          </p:nvSpPr>
          <p:spPr>
            <a:xfrm>
              <a:off x="7673765" y="1728216"/>
              <a:ext cx="3543584" cy="2036125"/>
            </a:xfrm>
            <a:prstGeom prst="wedgeEllipseCallo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用户帐单：</a:t>
              </a:r>
              <a:endPara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店铺中进行的所有消费活动，包括创建时间和余额明细等管理</a:t>
              </a:r>
              <a:endParaRPr kumimoji="0" lang="zh-CN" altLang="en-US" sz="20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9" name="组合 48" hidden="1"/>
          <p:cNvGrpSpPr/>
          <p:nvPr/>
        </p:nvGrpSpPr>
        <p:grpSpPr>
          <a:xfrm>
            <a:off x="109595" y="1530109"/>
            <a:ext cx="8142306" cy="4055350"/>
            <a:chOff x="109595" y="1530109"/>
            <a:chExt cx="8142306" cy="4055350"/>
          </a:xfrm>
        </p:grpSpPr>
        <p:pic>
          <p:nvPicPr>
            <p:cNvPr id="43" name="图片 4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9595" y="1530109"/>
              <a:ext cx="8142306" cy="4055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" name="矩形 43"/>
            <p:cNvSpPr/>
            <p:nvPr/>
          </p:nvSpPr>
          <p:spPr>
            <a:xfrm>
              <a:off x="109595" y="2423326"/>
              <a:ext cx="1079541" cy="301752"/>
            </a:xfrm>
            <a:prstGeom prst="rect">
              <a:avLst/>
            </a:prstGeom>
            <a:noFill/>
            <a:ln w="28575">
              <a:solidFill>
                <a:srgbClr val="FAB4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1315030" y="2652490"/>
              <a:ext cx="5500440" cy="2568095"/>
            </a:xfrm>
            <a:prstGeom prst="rect">
              <a:avLst/>
            </a:prstGeom>
            <a:noFill/>
            <a:ln w="28575">
              <a:solidFill>
                <a:srgbClr val="FAB4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7079609" y="2637207"/>
              <a:ext cx="1079541" cy="2568094"/>
            </a:xfrm>
            <a:prstGeom prst="rect">
              <a:avLst/>
            </a:prstGeom>
            <a:noFill/>
            <a:ln w="28575">
              <a:solidFill>
                <a:srgbClr val="FAB4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矩形: 圆角 46"/>
            <p:cNvSpPr/>
            <p:nvPr/>
          </p:nvSpPr>
          <p:spPr>
            <a:xfrm>
              <a:off x="1977656" y="2232837"/>
              <a:ext cx="1488558" cy="39291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商品信息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8" name="矩形: 圆角 47"/>
            <p:cNvSpPr/>
            <p:nvPr/>
          </p:nvSpPr>
          <p:spPr>
            <a:xfrm>
              <a:off x="6964325" y="2216534"/>
              <a:ext cx="1199671" cy="40478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操作栏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0" name="矩形: 圆角 49" hidden="1"/>
          <p:cNvSpPr/>
          <p:nvPr/>
        </p:nvSpPr>
        <p:spPr>
          <a:xfrm>
            <a:off x="9040421" y="2161629"/>
            <a:ext cx="2329328" cy="2782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商品管理模块：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商品分类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管理商品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商品规格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运费模块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浏览记录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商品收藏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4" name="组合 53" hidden="1"/>
          <p:cNvGrpSpPr/>
          <p:nvPr/>
        </p:nvGrpSpPr>
        <p:grpSpPr>
          <a:xfrm>
            <a:off x="115904" y="1518496"/>
            <a:ext cx="8170055" cy="4074905"/>
            <a:chOff x="115904" y="1518496"/>
            <a:chExt cx="8170055" cy="4074905"/>
          </a:xfrm>
        </p:grpSpPr>
        <p:pic>
          <p:nvPicPr>
            <p:cNvPr id="51" name="图片 5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7466" y="1518496"/>
              <a:ext cx="8158493" cy="40749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" name="矩形 51"/>
            <p:cNvSpPr/>
            <p:nvPr/>
          </p:nvSpPr>
          <p:spPr>
            <a:xfrm>
              <a:off x="115904" y="2117599"/>
              <a:ext cx="666936" cy="249765"/>
            </a:xfrm>
            <a:prstGeom prst="rect">
              <a:avLst/>
            </a:prstGeom>
            <a:noFill/>
            <a:ln w="28575">
              <a:solidFill>
                <a:srgbClr val="FAB4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3673662" y="2846854"/>
              <a:ext cx="2696532" cy="12508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上传新商品，包括名称、价格、图片、描述等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59" name="组合 58" hidden="1"/>
          <p:cNvGrpSpPr/>
          <p:nvPr/>
        </p:nvGrpSpPr>
        <p:grpSpPr>
          <a:xfrm>
            <a:off x="115903" y="1542625"/>
            <a:ext cx="8170056" cy="4050775"/>
            <a:chOff x="115903" y="1542625"/>
            <a:chExt cx="8170056" cy="4050775"/>
          </a:xfrm>
        </p:grpSpPr>
        <p:pic>
          <p:nvPicPr>
            <p:cNvPr id="55" name="图片 5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5903" y="1542625"/>
              <a:ext cx="8170056" cy="4050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" name="矩形 55"/>
            <p:cNvSpPr/>
            <p:nvPr/>
          </p:nvSpPr>
          <p:spPr>
            <a:xfrm>
              <a:off x="128063" y="2906351"/>
              <a:ext cx="922828" cy="275761"/>
            </a:xfrm>
            <a:prstGeom prst="rect">
              <a:avLst/>
            </a:prstGeom>
            <a:noFill/>
            <a:ln w="28575">
              <a:solidFill>
                <a:srgbClr val="FAB4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" name="椭圆 57"/>
            <p:cNvSpPr/>
            <p:nvPr/>
          </p:nvSpPr>
          <p:spPr>
            <a:xfrm>
              <a:off x="5614468" y="1945850"/>
              <a:ext cx="1897961" cy="7066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订单信息页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64" name="组合 63" hidden="1"/>
          <p:cNvGrpSpPr/>
          <p:nvPr/>
        </p:nvGrpSpPr>
        <p:grpSpPr>
          <a:xfrm>
            <a:off x="123475" y="1563414"/>
            <a:ext cx="8165112" cy="2745990"/>
            <a:chOff x="123475" y="1563414"/>
            <a:chExt cx="8165112" cy="2745990"/>
          </a:xfrm>
        </p:grpSpPr>
        <p:pic>
          <p:nvPicPr>
            <p:cNvPr id="61" name="图片 6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3475" y="1563414"/>
              <a:ext cx="8165112" cy="27459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" name="矩形 61"/>
            <p:cNvSpPr/>
            <p:nvPr/>
          </p:nvSpPr>
          <p:spPr>
            <a:xfrm>
              <a:off x="135316" y="2830276"/>
              <a:ext cx="922828" cy="275761"/>
            </a:xfrm>
            <a:prstGeom prst="rect">
              <a:avLst/>
            </a:prstGeom>
            <a:noFill/>
            <a:ln w="28575">
              <a:solidFill>
                <a:srgbClr val="FAB4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" name="椭圆 62"/>
            <p:cNvSpPr/>
            <p:nvPr/>
          </p:nvSpPr>
          <p:spPr>
            <a:xfrm>
              <a:off x="4489262" y="3496926"/>
              <a:ext cx="1897961" cy="7066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物流管理页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113275" y="1519861"/>
            <a:ext cx="11408874" cy="4065597"/>
            <a:chOff x="113275" y="1519861"/>
            <a:chExt cx="11408874" cy="4065597"/>
          </a:xfrm>
        </p:grpSpPr>
        <p:sp>
          <p:nvSpPr>
            <p:cNvPr id="57" name="矩形: 圆角 56"/>
            <p:cNvSpPr/>
            <p:nvPr/>
          </p:nvSpPr>
          <p:spPr>
            <a:xfrm>
              <a:off x="8925146" y="2314029"/>
              <a:ext cx="2597003" cy="203612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优惠券管理模块：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优惠券制作、发布、查看、领取记录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68" name="组合 67"/>
            <p:cNvGrpSpPr/>
            <p:nvPr/>
          </p:nvGrpSpPr>
          <p:grpSpPr>
            <a:xfrm>
              <a:off x="113275" y="1519861"/>
              <a:ext cx="8153760" cy="4065597"/>
              <a:chOff x="113275" y="1519861"/>
              <a:chExt cx="8153760" cy="4065597"/>
            </a:xfrm>
          </p:grpSpPr>
          <p:pic>
            <p:nvPicPr>
              <p:cNvPr id="65" name="图片 64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3275" y="1519861"/>
                <a:ext cx="8153760" cy="406559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6" name="矩形 65"/>
              <p:cNvSpPr/>
              <p:nvPr/>
            </p:nvSpPr>
            <p:spPr>
              <a:xfrm>
                <a:off x="132852" y="3340164"/>
                <a:ext cx="922828" cy="275761"/>
              </a:xfrm>
              <a:prstGeom prst="rect">
                <a:avLst/>
              </a:prstGeom>
              <a:noFill/>
              <a:ln w="28575">
                <a:solidFill>
                  <a:srgbClr val="FAB4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67" name="椭圆 66"/>
          <p:cNvSpPr/>
          <p:nvPr/>
        </p:nvSpPr>
        <p:spPr>
          <a:xfrm>
            <a:off x="4596147" y="1063159"/>
            <a:ext cx="2994232" cy="12508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优惠券制作，可设置名称、类型、金额、有效期等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121268" y="1404857"/>
            <a:ext cx="11400881" cy="4187385"/>
            <a:chOff x="121268" y="1404857"/>
            <a:chExt cx="11400881" cy="4187385"/>
          </a:xfrm>
        </p:grpSpPr>
        <p:pic>
          <p:nvPicPr>
            <p:cNvPr id="70" name="图片 69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1268" y="1536892"/>
              <a:ext cx="8144435" cy="4055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" name="矩形 70"/>
            <p:cNvSpPr/>
            <p:nvPr/>
          </p:nvSpPr>
          <p:spPr>
            <a:xfrm>
              <a:off x="131246" y="2725078"/>
              <a:ext cx="922828" cy="275761"/>
            </a:xfrm>
            <a:prstGeom prst="rect">
              <a:avLst/>
            </a:prstGeom>
            <a:noFill/>
            <a:ln w="28575">
              <a:solidFill>
                <a:srgbClr val="FAB4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" name="矩形: 圆角 73"/>
            <p:cNvSpPr/>
            <p:nvPr/>
          </p:nvSpPr>
          <p:spPr>
            <a:xfrm>
              <a:off x="9192821" y="2314029"/>
              <a:ext cx="2329328" cy="278251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营销管理模块：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包含对拼团、秒杀、砍价等活动的管理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5" name="椭圆 74"/>
            <p:cNvSpPr/>
            <p:nvPr/>
          </p:nvSpPr>
          <p:spPr>
            <a:xfrm>
              <a:off x="4807508" y="1404857"/>
              <a:ext cx="1782342" cy="85127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拼团产品详情页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81" name="组合 80"/>
          <p:cNvGrpSpPr/>
          <p:nvPr/>
        </p:nvGrpSpPr>
        <p:grpSpPr>
          <a:xfrm>
            <a:off x="95965" y="1530477"/>
            <a:ext cx="11273075" cy="4060714"/>
            <a:chOff x="95965" y="1530477"/>
            <a:chExt cx="11273075" cy="4060714"/>
          </a:xfrm>
        </p:grpSpPr>
        <p:pic>
          <p:nvPicPr>
            <p:cNvPr id="77" name="图片 76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5965" y="1530477"/>
              <a:ext cx="8168552" cy="40607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矩形 77"/>
            <p:cNvSpPr/>
            <p:nvPr/>
          </p:nvSpPr>
          <p:spPr>
            <a:xfrm>
              <a:off x="123986" y="2749844"/>
              <a:ext cx="922828" cy="275761"/>
            </a:xfrm>
            <a:prstGeom prst="rect">
              <a:avLst/>
            </a:prstGeom>
            <a:noFill/>
            <a:ln w="28575">
              <a:solidFill>
                <a:srgbClr val="FAB4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9" name="矩形: 圆角 78"/>
            <p:cNvSpPr/>
            <p:nvPr/>
          </p:nvSpPr>
          <p:spPr>
            <a:xfrm>
              <a:off x="8950960" y="2804160"/>
              <a:ext cx="2418080" cy="204216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财务管理模块：</a:t>
              </a:r>
              <a:endPara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包含钱包的充值、提现管理，以及店铺积分兑换设置</a:t>
              </a:r>
              <a:endParaRPr kumimoji="0" lang="zh-CN" altLang="en-US" sz="20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80" name="椭圆 79"/>
            <p:cNvSpPr/>
            <p:nvPr/>
          </p:nvSpPr>
          <p:spPr>
            <a:xfrm>
              <a:off x="5101297" y="1589742"/>
              <a:ext cx="1589549" cy="70779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钱包提现管理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85" name="组合 84"/>
          <p:cNvGrpSpPr/>
          <p:nvPr/>
        </p:nvGrpSpPr>
        <p:grpSpPr>
          <a:xfrm>
            <a:off x="93337" y="1534055"/>
            <a:ext cx="8165741" cy="4053139"/>
            <a:chOff x="93337" y="1534055"/>
            <a:chExt cx="8165741" cy="4053139"/>
          </a:xfrm>
        </p:grpSpPr>
        <p:pic>
          <p:nvPicPr>
            <p:cNvPr id="82" name="图片 81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3337" y="1534055"/>
              <a:ext cx="8165741" cy="40531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" name="椭圆 82"/>
            <p:cNvSpPr/>
            <p:nvPr/>
          </p:nvSpPr>
          <p:spPr>
            <a:xfrm>
              <a:off x="5274619" y="2779684"/>
              <a:ext cx="1706759" cy="10882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积分兑换设置页面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4" name="矩形 83"/>
            <p:cNvSpPr/>
            <p:nvPr/>
          </p:nvSpPr>
          <p:spPr>
            <a:xfrm>
              <a:off x="122142" y="4156621"/>
              <a:ext cx="1158829" cy="309290"/>
            </a:xfrm>
            <a:prstGeom prst="rect">
              <a:avLst/>
            </a:prstGeom>
            <a:noFill/>
            <a:ln w="28575">
              <a:solidFill>
                <a:srgbClr val="FAB4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60" name="直接连接符 59"/>
          <p:cNvCxnSpPr/>
          <p:nvPr/>
        </p:nvCxnSpPr>
        <p:spPr>
          <a:xfrm flipH="1">
            <a:off x="478790" y="853440"/>
            <a:ext cx="3261106" cy="0"/>
          </a:xfrm>
          <a:prstGeom prst="line">
            <a:avLst/>
          </a:prstGeom>
          <a:ln w="15875">
            <a:solidFill>
              <a:srgbClr val="54C3D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椭圆 71"/>
          <p:cNvSpPr/>
          <p:nvPr/>
        </p:nvSpPr>
        <p:spPr>
          <a:xfrm>
            <a:off x="11162665" y="-685801"/>
            <a:ext cx="2260191" cy="2169806"/>
          </a:xfrm>
          <a:prstGeom prst="ellipse">
            <a:avLst/>
          </a:prstGeom>
          <a:solidFill>
            <a:srgbClr val="00A6B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3" name="椭圆 72"/>
          <p:cNvSpPr/>
          <p:nvPr/>
        </p:nvSpPr>
        <p:spPr>
          <a:xfrm>
            <a:off x="10009324" y="-587261"/>
            <a:ext cx="1088025" cy="1044515"/>
          </a:xfrm>
          <a:prstGeom prst="ellipse">
            <a:avLst/>
          </a:prstGeom>
          <a:solidFill>
            <a:srgbClr val="EF9802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0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0" grpId="1" animBg="1"/>
      <p:bldP spid="67" grpId="0" animBg="1"/>
      <p:bldP spid="67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 rot="0">
            <a:off x="745490" y="674370"/>
            <a:ext cx="3161030" cy="6063615"/>
            <a:chOff x="8358232" y="764872"/>
            <a:chExt cx="3161212" cy="6063408"/>
          </a:xfrm>
        </p:grpSpPr>
        <p:sp>
          <p:nvSpPr>
            <p:cNvPr id="20" name="矩形: 圆角 101"/>
            <p:cNvSpPr/>
            <p:nvPr/>
          </p:nvSpPr>
          <p:spPr>
            <a:xfrm>
              <a:off x="8501791" y="903518"/>
              <a:ext cx="3017653" cy="5924762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pic>
          <p:nvPicPr>
            <p:cNvPr id="21" name="图片 20" descr="C:\Users\YHB\Desktop\QQ截图20210421201730.pngQQ截图20210421201730"/>
            <p:cNvPicPr>
              <a:picLocks noChangeAspect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8702992" y="1502555"/>
              <a:ext cx="2665883" cy="4767580"/>
            </a:xfrm>
            <a:prstGeom prst="rect">
              <a:avLst/>
            </a:prstGeom>
          </p:spPr>
        </p:pic>
        <p:sp>
          <p:nvSpPr>
            <p:cNvPr id="22" name="流程图: 数据 21"/>
            <p:cNvSpPr/>
            <p:nvPr/>
          </p:nvSpPr>
          <p:spPr>
            <a:xfrm>
              <a:off x="8358232" y="786008"/>
              <a:ext cx="2335504" cy="461113"/>
            </a:xfrm>
            <a:prstGeom prst="flowChartInputOutput">
              <a:avLst/>
            </a:prstGeom>
            <a:solidFill>
              <a:srgbClr val="FAB450"/>
            </a:solidFill>
            <a:ln>
              <a:solidFill>
                <a:srgbClr val="FAB45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8622542" y="764872"/>
              <a:ext cx="1819103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租后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服务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4" name="矩形: 圆角 115"/>
            <p:cNvSpPr/>
            <p:nvPr/>
          </p:nvSpPr>
          <p:spPr>
            <a:xfrm>
              <a:off x="8677655" y="5735482"/>
              <a:ext cx="1764767" cy="807692"/>
            </a:xfrm>
            <a:prstGeom prst="roundRect">
              <a:avLst/>
            </a:prstGeom>
            <a:ln w="28575">
              <a:solidFill>
                <a:srgbClr val="FAB4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买断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84" name="组合 83"/>
          <p:cNvGrpSpPr/>
          <p:nvPr/>
        </p:nvGrpSpPr>
        <p:grpSpPr>
          <a:xfrm>
            <a:off x="8616900" y="1107856"/>
            <a:ext cx="2645545" cy="5589967"/>
            <a:chOff x="8616900" y="1107856"/>
            <a:chExt cx="2645545" cy="5589967"/>
          </a:xfrm>
        </p:grpSpPr>
        <p:pic>
          <p:nvPicPr>
            <p:cNvPr id="118" name="图片 117" descr="Screenshot_20210415_22450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16900" y="1107856"/>
              <a:ext cx="2645545" cy="5589967"/>
            </a:xfrm>
            <a:prstGeom prst="rect">
              <a:avLst/>
            </a:prstGeom>
          </p:spPr>
        </p:pic>
        <p:sp>
          <p:nvSpPr>
            <p:cNvPr id="119" name="矩形: 圆角 118"/>
            <p:cNvSpPr/>
            <p:nvPr/>
          </p:nvSpPr>
          <p:spPr>
            <a:xfrm>
              <a:off x="9523069" y="4114316"/>
              <a:ext cx="1428856" cy="818186"/>
            </a:xfrm>
            <a:prstGeom prst="roundRect">
              <a:avLst/>
            </a:prstGeom>
            <a:ln w="28575">
              <a:solidFill>
                <a:srgbClr val="FAB4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查看物流信息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24" name="组合 123"/>
          <p:cNvGrpSpPr/>
          <p:nvPr/>
        </p:nvGrpSpPr>
        <p:grpSpPr>
          <a:xfrm>
            <a:off x="6060977" y="785978"/>
            <a:ext cx="5402029" cy="6063408"/>
            <a:chOff x="6060977" y="785978"/>
            <a:chExt cx="5402029" cy="6063408"/>
          </a:xfrm>
        </p:grpSpPr>
        <p:sp>
          <p:nvSpPr>
            <p:cNvPr id="99" name="矩形 98"/>
            <p:cNvSpPr/>
            <p:nvPr/>
          </p:nvSpPr>
          <p:spPr>
            <a:xfrm>
              <a:off x="6060977" y="5528028"/>
              <a:ext cx="427060" cy="466661"/>
            </a:xfrm>
            <a:prstGeom prst="rect">
              <a:avLst/>
            </a:prstGeom>
            <a:noFill/>
            <a:ln w="28575">
              <a:solidFill>
                <a:srgbClr val="FAB4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6" name="矩形: 圆角 165"/>
            <p:cNvSpPr/>
            <p:nvPr/>
          </p:nvSpPr>
          <p:spPr>
            <a:xfrm>
              <a:off x="8445353" y="924624"/>
              <a:ext cx="3017653" cy="5924762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9" name="直接箭头连接符 168"/>
            <p:cNvCxnSpPr>
              <a:endCxn id="166" idx="1"/>
            </p:cNvCxnSpPr>
            <p:nvPr/>
          </p:nvCxnSpPr>
          <p:spPr>
            <a:xfrm flipV="1">
              <a:off x="6434770" y="3887005"/>
              <a:ext cx="2010583" cy="1641024"/>
            </a:xfrm>
            <a:prstGeom prst="straightConnector1">
              <a:avLst/>
            </a:prstGeom>
            <a:ln w="38100">
              <a:solidFill>
                <a:srgbClr val="FAB4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3" name="图片 17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08728" y="1140797"/>
              <a:ext cx="2495515" cy="55365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" name="流程图: 数据 166"/>
            <p:cNvSpPr/>
            <p:nvPr/>
          </p:nvSpPr>
          <p:spPr>
            <a:xfrm>
              <a:off x="8301794" y="807114"/>
              <a:ext cx="2335504" cy="461113"/>
            </a:xfrm>
            <a:prstGeom prst="flowChartInputOutput">
              <a:avLst/>
            </a:prstGeom>
            <a:solidFill>
              <a:srgbClr val="FAB450"/>
            </a:solidFill>
            <a:ln>
              <a:solidFill>
                <a:srgbClr val="FAB45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8" name="文本框 167"/>
            <p:cNvSpPr txBox="1"/>
            <p:nvPr/>
          </p:nvSpPr>
          <p:spPr>
            <a:xfrm>
              <a:off x="8566104" y="785978"/>
              <a:ext cx="18191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用户个人页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028" name="组合 1027"/>
          <p:cNvGrpSpPr/>
          <p:nvPr/>
        </p:nvGrpSpPr>
        <p:grpSpPr>
          <a:xfrm>
            <a:off x="6655549" y="777192"/>
            <a:ext cx="4829765" cy="6063408"/>
            <a:chOff x="6655549" y="777192"/>
            <a:chExt cx="4829765" cy="6063408"/>
          </a:xfrm>
        </p:grpSpPr>
        <p:sp>
          <p:nvSpPr>
            <p:cNvPr id="101" name="矩形 100"/>
            <p:cNvSpPr/>
            <p:nvPr/>
          </p:nvSpPr>
          <p:spPr>
            <a:xfrm>
              <a:off x="6655549" y="5528028"/>
              <a:ext cx="427060" cy="466661"/>
            </a:xfrm>
            <a:prstGeom prst="rect">
              <a:avLst/>
            </a:prstGeom>
            <a:noFill/>
            <a:ln w="28575">
              <a:solidFill>
                <a:srgbClr val="FAB4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75" name="直接箭头连接符 174"/>
            <p:cNvCxnSpPr>
              <a:endCxn id="177" idx="1"/>
            </p:cNvCxnSpPr>
            <p:nvPr/>
          </p:nvCxnSpPr>
          <p:spPr>
            <a:xfrm flipV="1">
              <a:off x="7075432" y="3878219"/>
              <a:ext cx="1392229" cy="1684914"/>
            </a:xfrm>
            <a:prstGeom prst="straightConnector1">
              <a:avLst/>
            </a:prstGeom>
            <a:ln w="38100">
              <a:solidFill>
                <a:srgbClr val="FAB4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矩形: 圆角 176"/>
            <p:cNvSpPr/>
            <p:nvPr/>
          </p:nvSpPr>
          <p:spPr>
            <a:xfrm>
              <a:off x="8467661" y="915838"/>
              <a:ext cx="3017653" cy="5924762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8" name="流程图: 数据 177"/>
            <p:cNvSpPr/>
            <p:nvPr/>
          </p:nvSpPr>
          <p:spPr>
            <a:xfrm>
              <a:off x="8324102" y="798328"/>
              <a:ext cx="2335504" cy="461113"/>
            </a:xfrm>
            <a:prstGeom prst="flowChartInputOutput">
              <a:avLst/>
            </a:prstGeom>
            <a:solidFill>
              <a:srgbClr val="FAB450"/>
            </a:solidFill>
            <a:ln>
              <a:solidFill>
                <a:srgbClr val="FAB45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9" name="文本框 178"/>
            <p:cNvSpPr txBox="1"/>
            <p:nvPr/>
          </p:nvSpPr>
          <p:spPr>
            <a:xfrm>
              <a:off x="8588412" y="777192"/>
              <a:ext cx="18191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上传租品页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pic>
          <p:nvPicPr>
            <p:cNvPr id="180" name="图片 17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51426" y="1240387"/>
              <a:ext cx="2826740" cy="501605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" name="组合 48"/>
          <p:cNvGrpSpPr/>
          <p:nvPr/>
        </p:nvGrpSpPr>
        <p:grpSpPr>
          <a:xfrm>
            <a:off x="2413955" y="863822"/>
            <a:ext cx="6609976" cy="5853885"/>
            <a:chOff x="2413955" y="863822"/>
            <a:chExt cx="6609976" cy="5853885"/>
          </a:xfrm>
        </p:grpSpPr>
        <p:grpSp>
          <p:nvGrpSpPr>
            <p:cNvPr id="13" name="组合 12"/>
            <p:cNvGrpSpPr/>
            <p:nvPr/>
          </p:nvGrpSpPr>
          <p:grpSpPr>
            <a:xfrm>
              <a:off x="2560320" y="932688"/>
              <a:ext cx="2916936" cy="5785019"/>
              <a:chOff x="1033272" y="932688"/>
              <a:chExt cx="2916936" cy="5785019"/>
            </a:xfrm>
          </p:grpSpPr>
          <p:sp>
            <p:nvSpPr>
              <p:cNvPr id="9" name="矩形: 圆角 8"/>
              <p:cNvSpPr/>
              <p:nvPr/>
            </p:nvSpPr>
            <p:spPr>
              <a:xfrm>
                <a:off x="1033272" y="932688"/>
                <a:ext cx="2916936" cy="5785019"/>
              </a:xfrm>
              <a:prstGeom prst="round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pic>
            <p:nvPicPr>
              <p:cNvPr id="32" name="图片 31" descr="Screenshot_20210415_205608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14845" y="1158126"/>
                <a:ext cx="2525051" cy="5333329"/>
              </a:xfrm>
              <a:prstGeom prst="rect">
                <a:avLst/>
              </a:prstGeom>
            </p:spPr>
          </p:pic>
        </p:grpSp>
        <p:grpSp>
          <p:nvGrpSpPr>
            <p:cNvPr id="35" name="组合 34"/>
            <p:cNvGrpSpPr/>
            <p:nvPr/>
          </p:nvGrpSpPr>
          <p:grpSpPr>
            <a:xfrm>
              <a:off x="6106995" y="932688"/>
              <a:ext cx="2916936" cy="5785019"/>
              <a:chOff x="4951537" y="932688"/>
              <a:chExt cx="2916936" cy="5785019"/>
            </a:xfrm>
          </p:grpSpPr>
          <p:sp>
            <p:nvSpPr>
              <p:cNvPr id="34" name="矩形: 圆角 33"/>
              <p:cNvSpPr/>
              <p:nvPr/>
            </p:nvSpPr>
            <p:spPr>
              <a:xfrm>
                <a:off x="4951537" y="932688"/>
                <a:ext cx="2916936" cy="5785019"/>
              </a:xfrm>
              <a:prstGeom prst="round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pic>
            <p:nvPicPr>
              <p:cNvPr id="33" name="图片 32" descr="Screenshot_20210415_205928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19049" y="1158127"/>
                <a:ext cx="2552767" cy="5389380"/>
              </a:xfrm>
              <a:prstGeom prst="rect">
                <a:avLst/>
              </a:prstGeom>
            </p:spPr>
          </p:pic>
        </p:grpSp>
        <p:sp>
          <p:nvSpPr>
            <p:cNvPr id="36" name="矩形 35"/>
            <p:cNvSpPr/>
            <p:nvPr/>
          </p:nvSpPr>
          <p:spPr>
            <a:xfrm>
              <a:off x="2741893" y="1989492"/>
              <a:ext cx="2525051" cy="1146899"/>
            </a:xfrm>
            <a:prstGeom prst="rect">
              <a:avLst/>
            </a:prstGeom>
            <a:noFill/>
            <a:ln w="28575">
              <a:solidFill>
                <a:srgbClr val="FAB4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2741893" y="3428999"/>
              <a:ext cx="2525051" cy="528083"/>
            </a:xfrm>
            <a:prstGeom prst="rect">
              <a:avLst/>
            </a:prstGeom>
            <a:noFill/>
            <a:ln w="28575">
              <a:solidFill>
                <a:srgbClr val="FAB4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2741893" y="4377595"/>
              <a:ext cx="2525051" cy="1117949"/>
            </a:xfrm>
            <a:prstGeom prst="rect">
              <a:avLst/>
            </a:prstGeom>
            <a:noFill/>
            <a:ln w="28575">
              <a:solidFill>
                <a:srgbClr val="FAB4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2741893" y="5871171"/>
              <a:ext cx="2525051" cy="309290"/>
            </a:xfrm>
            <a:prstGeom prst="rect">
              <a:avLst/>
            </a:prstGeom>
            <a:noFill/>
            <a:ln w="28575">
              <a:solidFill>
                <a:srgbClr val="FAB4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流程图: 数据 44"/>
            <p:cNvSpPr/>
            <p:nvPr/>
          </p:nvSpPr>
          <p:spPr>
            <a:xfrm>
              <a:off x="2413955" y="863822"/>
              <a:ext cx="1673413" cy="448480"/>
            </a:xfrm>
            <a:prstGeom prst="flowChartInputOutput">
              <a:avLst/>
            </a:prstGeom>
            <a:solidFill>
              <a:srgbClr val="FAB450"/>
            </a:solidFill>
            <a:ln>
              <a:solidFill>
                <a:srgbClr val="FAB45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首页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6" name="流程图: 数据 45"/>
            <p:cNvSpPr/>
            <p:nvPr/>
          </p:nvSpPr>
          <p:spPr>
            <a:xfrm>
              <a:off x="5896683" y="863822"/>
              <a:ext cx="1836361" cy="448480"/>
            </a:xfrm>
            <a:prstGeom prst="flowChartInputOutput">
              <a:avLst/>
            </a:prstGeom>
            <a:solidFill>
              <a:srgbClr val="FAB450"/>
            </a:solidFill>
            <a:ln>
              <a:solidFill>
                <a:srgbClr val="FAB45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分类页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6274507" y="1925375"/>
              <a:ext cx="413922" cy="1679062"/>
            </a:xfrm>
            <a:prstGeom prst="rect">
              <a:avLst/>
            </a:prstGeom>
            <a:noFill/>
            <a:ln w="28575">
              <a:solidFill>
                <a:srgbClr val="FAB4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8" name="矩形 27"/>
          <p:cNvSpPr/>
          <p:nvPr/>
        </p:nvSpPr>
        <p:spPr>
          <a:xfrm>
            <a:off x="478553" y="140293"/>
            <a:ext cx="3261343" cy="584775"/>
          </a:xfrm>
          <a:prstGeom prst="rect">
            <a:avLst/>
          </a:prstGeom>
          <a:solidFill>
            <a:srgbClr val="4CC1D0">
              <a:alpha val="95000"/>
            </a:srgbClr>
          </a:solidFill>
          <a:ln>
            <a:noFill/>
          </a:ln>
          <a:effectLst>
            <a:outerShdw blurRad="635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个人用户</a:t>
            </a:r>
            <a:r>
              <a:rPr kumimoji="0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端的功能演示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766636" y="1987881"/>
            <a:ext cx="1729886" cy="3828135"/>
            <a:chOff x="766636" y="1987881"/>
            <a:chExt cx="1729886" cy="3828135"/>
          </a:xfrm>
        </p:grpSpPr>
        <p:sp>
          <p:nvSpPr>
            <p:cNvPr id="40" name="对话气泡: 圆角矩形 39"/>
            <p:cNvSpPr/>
            <p:nvPr/>
          </p:nvSpPr>
          <p:spPr>
            <a:xfrm>
              <a:off x="786594" y="1987881"/>
              <a:ext cx="1709928" cy="441782"/>
            </a:xfrm>
            <a:prstGeom prst="wedgeRoundRectCallout">
              <a:avLst>
                <a:gd name="adj1" fmla="val 78098"/>
                <a:gd name="adj2" fmla="val 104607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横幅宣传广告</a:t>
              </a:r>
              <a:endPara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41" name="对话气泡: 圆角矩形 40"/>
            <p:cNvSpPr/>
            <p:nvPr/>
          </p:nvSpPr>
          <p:spPr>
            <a:xfrm>
              <a:off x="777210" y="3028159"/>
              <a:ext cx="1709928" cy="476764"/>
            </a:xfrm>
            <a:prstGeom prst="wedgeRoundRectCallout">
              <a:avLst>
                <a:gd name="adj1" fmla="val 70077"/>
                <a:gd name="adj2" fmla="val 104607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快捷分类入口</a:t>
              </a:r>
              <a:endPara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42" name="对话气泡: 圆角矩形 41"/>
            <p:cNvSpPr/>
            <p:nvPr/>
          </p:nvSpPr>
          <p:spPr>
            <a:xfrm>
              <a:off x="777210" y="4097470"/>
              <a:ext cx="1709928" cy="476764"/>
            </a:xfrm>
            <a:prstGeom prst="wedgeRoundRectCallout">
              <a:avLst>
                <a:gd name="adj1" fmla="val 73286"/>
                <a:gd name="adj2" fmla="val 102689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产品展示区</a:t>
              </a:r>
              <a:endPara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43" name="对话气泡: 圆角矩形 42"/>
            <p:cNvSpPr/>
            <p:nvPr/>
          </p:nvSpPr>
          <p:spPr>
            <a:xfrm>
              <a:off x="766636" y="5339252"/>
              <a:ext cx="1709928" cy="476764"/>
            </a:xfrm>
            <a:prstGeom prst="wedgeRoundRectCallout">
              <a:avLst>
                <a:gd name="adj1" fmla="val 72751"/>
                <a:gd name="adj2" fmla="val 95017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小程序导航栏</a:t>
              </a:r>
              <a:endPara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8" name="对话气泡: 圆角矩形 47"/>
          <p:cNvSpPr/>
          <p:nvPr/>
        </p:nvSpPr>
        <p:spPr>
          <a:xfrm>
            <a:off x="9276112" y="932688"/>
            <a:ext cx="2219889" cy="2396261"/>
          </a:xfrm>
          <a:prstGeom prst="wedgeRoundRectCallout">
            <a:avLst>
              <a:gd name="adj1" fmla="val -79162"/>
              <a:gd name="adj2" fmla="val 8806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为便于消费者查找商品，将其分为新品、虚拟、手机、电视、电脑、家电五个大的板块</a:t>
            </a:r>
            <a:endParaRPr kumimoji="0" lang="zh-CN" altLang="en-US" sz="1800" b="0" i="0" u="none" strike="noStrike" kern="1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254427" y="864114"/>
            <a:ext cx="5300016" cy="6021583"/>
            <a:chOff x="254427" y="864114"/>
            <a:chExt cx="5300016" cy="6021583"/>
          </a:xfrm>
        </p:grpSpPr>
        <p:grpSp>
          <p:nvGrpSpPr>
            <p:cNvPr id="63" name="组合 62"/>
            <p:cNvGrpSpPr/>
            <p:nvPr/>
          </p:nvGrpSpPr>
          <p:grpSpPr>
            <a:xfrm>
              <a:off x="2344777" y="864114"/>
              <a:ext cx="3209666" cy="6021583"/>
              <a:chOff x="2344777" y="864114"/>
              <a:chExt cx="3209666" cy="6021583"/>
            </a:xfrm>
          </p:grpSpPr>
          <p:sp>
            <p:nvSpPr>
              <p:cNvPr id="51" name="矩形: 圆角 50"/>
              <p:cNvSpPr/>
              <p:nvPr/>
            </p:nvSpPr>
            <p:spPr>
              <a:xfrm>
                <a:off x="2536790" y="960935"/>
                <a:ext cx="3017653" cy="5924762"/>
              </a:xfrm>
              <a:prstGeom prst="round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87205" y="1154208"/>
                <a:ext cx="2600325" cy="54959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5" name="流程图: 数据 54"/>
              <p:cNvSpPr/>
              <p:nvPr/>
            </p:nvSpPr>
            <p:spPr>
              <a:xfrm>
                <a:off x="2344777" y="864114"/>
                <a:ext cx="2405296" cy="461113"/>
              </a:xfrm>
              <a:prstGeom prst="flowChartInputOutput">
                <a:avLst/>
              </a:prstGeom>
              <a:solidFill>
                <a:srgbClr val="FAB450"/>
              </a:solidFill>
              <a:ln>
                <a:solidFill>
                  <a:srgbClr val="FAB45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租房首页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2823281" y="2818421"/>
                <a:ext cx="2520595" cy="1291973"/>
              </a:xfrm>
              <a:prstGeom prst="rect">
                <a:avLst/>
              </a:prstGeom>
              <a:noFill/>
              <a:ln w="28575">
                <a:solidFill>
                  <a:srgbClr val="FAB4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57" name="对话气泡: 圆角矩形 56"/>
            <p:cNvSpPr/>
            <p:nvPr/>
          </p:nvSpPr>
          <p:spPr>
            <a:xfrm>
              <a:off x="254427" y="1550665"/>
              <a:ext cx="1709928" cy="1523498"/>
            </a:xfrm>
            <a:prstGeom prst="wedgeRoundRectCallout">
              <a:avLst>
                <a:gd name="adj1" fmla="val 121624"/>
                <a:gd name="adj2" fmla="val 57149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系统自动定位当前地点</a:t>
              </a:r>
              <a:endPara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选择入住时间和人数</a:t>
              </a:r>
              <a:endPara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62" name="箭头: 右 61"/>
          <p:cNvSpPr/>
          <p:nvPr/>
        </p:nvSpPr>
        <p:spPr>
          <a:xfrm>
            <a:off x="5686117" y="3074163"/>
            <a:ext cx="1976398" cy="8829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点击搜索租房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64" name="组合 63"/>
          <p:cNvGrpSpPr/>
          <p:nvPr/>
        </p:nvGrpSpPr>
        <p:grpSpPr>
          <a:xfrm>
            <a:off x="7548884" y="835865"/>
            <a:ext cx="4388689" cy="6022135"/>
            <a:chOff x="7548884" y="835865"/>
            <a:chExt cx="4388689" cy="6022135"/>
          </a:xfrm>
        </p:grpSpPr>
        <p:sp>
          <p:nvSpPr>
            <p:cNvPr id="58" name="矩形: 圆角 57"/>
            <p:cNvSpPr/>
            <p:nvPr/>
          </p:nvSpPr>
          <p:spPr>
            <a:xfrm>
              <a:off x="7740898" y="933238"/>
              <a:ext cx="3017653" cy="5924762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3356" y="1083981"/>
              <a:ext cx="2609850" cy="55149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0" name="流程图: 数据 59"/>
            <p:cNvSpPr/>
            <p:nvPr/>
          </p:nvSpPr>
          <p:spPr>
            <a:xfrm>
              <a:off x="7548884" y="836417"/>
              <a:ext cx="2405296" cy="461113"/>
            </a:xfrm>
            <a:prstGeom prst="flowChartInputOutput">
              <a:avLst/>
            </a:prstGeom>
            <a:solidFill>
              <a:srgbClr val="FAB450"/>
            </a:solidFill>
            <a:ln>
              <a:solidFill>
                <a:srgbClr val="FAB45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7902772" y="835865"/>
              <a:ext cx="17275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房屋选择页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5" name="对话气泡: 圆角矩形 64"/>
            <p:cNvSpPr/>
            <p:nvPr/>
          </p:nvSpPr>
          <p:spPr>
            <a:xfrm>
              <a:off x="10227645" y="1839433"/>
              <a:ext cx="1709928" cy="1009291"/>
            </a:xfrm>
            <a:prstGeom prst="wedgeRoundRectCallout">
              <a:avLst>
                <a:gd name="adj1" fmla="val -77978"/>
                <a:gd name="adj2" fmla="val 57847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系统根据条件筛选适合房源</a:t>
              </a:r>
              <a:endPara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1068232" y="862409"/>
            <a:ext cx="8915785" cy="5924762"/>
            <a:chOff x="1068232" y="862409"/>
            <a:chExt cx="8915785" cy="5924762"/>
          </a:xfrm>
        </p:grpSpPr>
        <p:sp>
          <p:nvSpPr>
            <p:cNvPr id="69" name="矩形: 圆角 68"/>
            <p:cNvSpPr/>
            <p:nvPr/>
          </p:nvSpPr>
          <p:spPr>
            <a:xfrm>
              <a:off x="1068232" y="862409"/>
              <a:ext cx="8915785" cy="5924762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2113" y="1055682"/>
              <a:ext cx="2619375" cy="552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1201" y="1043490"/>
              <a:ext cx="2638426" cy="5562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1" name="Picture 7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9340" y="1043491"/>
              <a:ext cx="2612853" cy="55224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7" name="矩形: 圆角 66"/>
          <p:cNvSpPr/>
          <p:nvPr/>
        </p:nvSpPr>
        <p:spPr>
          <a:xfrm>
            <a:off x="8729330" y="489098"/>
            <a:ext cx="2609851" cy="30158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房屋详情页：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·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房屋图片、价格、名称、大小、楼层等基本信息</a:t>
            </a:r>
            <a:endParaRPr kumimoji="0" lang="zh-CN" altLang="en-US" sz="1800" b="0" i="0" u="none" strike="noStrike" kern="1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·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租客评价、业主和房屋的等级评分</a:t>
            </a:r>
            <a:endParaRPr kumimoji="0" lang="zh-CN" altLang="en-US" sz="1800" b="0" i="0" u="none" strike="noStrike" kern="1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·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地理位置及出行信息</a:t>
            </a:r>
            <a:endParaRPr kumimoji="0" lang="zh-CN" altLang="en-US" sz="1800" b="0" i="0" u="none" strike="noStrike" kern="1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1220632" y="787376"/>
            <a:ext cx="9225623" cy="6152195"/>
            <a:chOff x="1220632" y="787376"/>
            <a:chExt cx="9225623" cy="6152195"/>
          </a:xfrm>
        </p:grpSpPr>
        <p:sp>
          <p:nvSpPr>
            <p:cNvPr id="75" name="矩形: 圆角 74"/>
            <p:cNvSpPr/>
            <p:nvPr/>
          </p:nvSpPr>
          <p:spPr>
            <a:xfrm>
              <a:off x="1220632" y="1014809"/>
              <a:ext cx="8915785" cy="5924762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pic>
          <p:nvPicPr>
            <p:cNvPr id="1033" name="Picture 9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47070" y="1278033"/>
              <a:ext cx="2581275" cy="5448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81512" y="1226537"/>
              <a:ext cx="2603839" cy="54959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5" name="Picture 11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55386" y="1181099"/>
              <a:ext cx="2638425" cy="5562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9" name="流程图: 数据 78"/>
            <p:cNvSpPr/>
            <p:nvPr/>
          </p:nvSpPr>
          <p:spPr>
            <a:xfrm>
              <a:off x="7703433" y="787376"/>
              <a:ext cx="2742822" cy="543234"/>
            </a:xfrm>
            <a:prstGeom prst="flowChartInputOutput">
              <a:avLst/>
            </a:prstGeom>
            <a:solidFill>
              <a:srgbClr val="FAB450"/>
            </a:solidFill>
            <a:ln>
              <a:solidFill>
                <a:srgbClr val="FAB45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8068793" y="828434"/>
              <a:ext cx="23151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房屋租赁过程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70" name="矩形: 圆角 69"/>
          <p:cNvSpPr/>
          <p:nvPr/>
        </p:nvSpPr>
        <p:spPr>
          <a:xfrm>
            <a:off x="2028275" y="1882573"/>
            <a:ext cx="1718066" cy="477519"/>
          </a:xfrm>
          <a:prstGeom prst="roundRect">
            <a:avLst/>
          </a:prstGeom>
          <a:ln w="28575">
            <a:solidFill>
              <a:srgbClr val="FAB4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选择日期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2" name="矩形: 圆角 81"/>
          <p:cNvSpPr/>
          <p:nvPr/>
        </p:nvSpPr>
        <p:spPr>
          <a:xfrm>
            <a:off x="4793739" y="1874857"/>
            <a:ext cx="1718066" cy="477519"/>
          </a:xfrm>
          <a:prstGeom prst="roundRect">
            <a:avLst/>
          </a:prstGeom>
          <a:ln w="28575">
            <a:solidFill>
              <a:srgbClr val="FAB4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确认订单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3" name="矩形: 圆角 82"/>
          <p:cNvSpPr/>
          <p:nvPr/>
        </p:nvSpPr>
        <p:spPr>
          <a:xfrm>
            <a:off x="7441936" y="1866559"/>
            <a:ext cx="1718066" cy="477519"/>
          </a:xfrm>
          <a:prstGeom prst="roundRect">
            <a:avLst/>
          </a:prstGeom>
          <a:ln w="28575">
            <a:solidFill>
              <a:srgbClr val="FAB4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支付成功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884020" y="828434"/>
            <a:ext cx="3381825" cy="6012166"/>
            <a:chOff x="884020" y="828434"/>
            <a:chExt cx="3381825" cy="6012166"/>
          </a:xfrm>
        </p:grpSpPr>
        <p:sp>
          <p:nvSpPr>
            <p:cNvPr id="86" name="矩形: 圆角 85"/>
            <p:cNvSpPr/>
            <p:nvPr/>
          </p:nvSpPr>
          <p:spPr>
            <a:xfrm>
              <a:off x="1248192" y="915838"/>
              <a:ext cx="3017653" cy="5924762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pic>
          <p:nvPicPr>
            <p:cNvPr id="87" name="图片 86" descr="Screenshot_20210415_224619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422109" y="1107856"/>
              <a:ext cx="2637474" cy="5569503"/>
            </a:xfrm>
            <a:prstGeom prst="rect">
              <a:avLst/>
            </a:prstGeom>
          </p:spPr>
        </p:pic>
        <p:sp>
          <p:nvSpPr>
            <p:cNvPr id="90" name="流程图: 数据 89"/>
            <p:cNvSpPr/>
            <p:nvPr/>
          </p:nvSpPr>
          <p:spPr>
            <a:xfrm>
              <a:off x="884020" y="828986"/>
              <a:ext cx="2200188" cy="461113"/>
            </a:xfrm>
            <a:prstGeom prst="flowChartInputOutput">
              <a:avLst/>
            </a:prstGeom>
            <a:solidFill>
              <a:srgbClr val="FAB450"/>
            </a:solidFill>
            <a:ln>
              <a:solidFill>
                <a:srgbClr val="FAB45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1237908" y="828434"/>
              <a:ext cx="14339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心愿单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2" name="矩形: 圆角 91"/>
            <p:cNvSpPr/>
            <p:nvPr/>
          </p:nvSpPr>
          <p:spPr>
            <a:xfrm>
              <a:off x="1787160" y="3890704"/>
              <a:ext cx="1718066" cy="818186"/>
            </a:xfrm>
            <a:prstGeom prst="roundRect">
              <a:avLst/>
            </a:prstGeom>
            <a:ln w="28575">
              <a:solidFill>
                <a:srgbClr val="FAB4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可多订单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一同结算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4341592" y="791580"/>
            <a:ext cx="3161212" cy="6063408"/>
            <a:chOff x="4341592" y="791580"/>
            <a:chExt cx="3161212" cy="6063408"/>
          </a:xfrm>
        </p:grpSpPr>
        <p:sp>
          <p:nvSpPr>
            <p:cNvPr id="88" name="矩形: 圆角 87"/>
            <p:cNvSpPr/>
            <p:nvPr/>
          </p:nvSpPr>
          <p:spPr>
            <a:xfrm>
              <a:off x="4485151" y="930226"/>
              <a:ext cx="3017653" cy="5924762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pic>
          <p:nvPicPr>
            <p:cNvPr id="89" name="图片 88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665147" y="1127042"/>
              <a:ext cx="2665894" cy="5562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" name="流程图: 数据 93"/>
            <p:cNvSpPr/>
            <p:nvPr/>
          </p:nvSpPr>
          <p:spPr>
            <a:xfrm>
              <a:off x="4341592" y="812716"/>
              <a:ext cx="2335504" cy="461113"/>
            </a:xfrm>
            <a:prstGeom prst="flowChartInputOutput">
              <a:avLst/>
            </a:prstGeom>
            <a:solidFill>
              <a:srgbClr val="FAB450"/>
            </a:solidFill>
            <a:ln>
              <a:solidFill>
                <a:srgbClr val="FAB45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5" name="文本框 94"/>
            <p:cNvSpPr txBox="1"/>
            <p:nvPr/>
          </p:nvSpPr>
          <p:spPr>
            <a:xfrm>
              <a:off x="4605902" y="791580"/>
              <a:ext cx="18191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用户个人页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81" name="组合 80"/>
          <p:cNvGrpSpPr/>
          <p:nvPr/>
        </p:nvGrpSpPr>
        <p:grpSpPr>
          <a:xfrm>
            <a:off x="4682228" y="764872"/>
            <a:ext cx="6837216" cy="6063408"/>
            <a:chOff x="4682228" y="764872"/>
            <a:chExt cx="6837216" cy="6063408"/>
          </a:xfrm>
        </p:grpSpPr>
        <p:sp>
          <p:nvSpPr>
            <p:cNvPr id="97" name="矩形 96"/>
            <p:cNvSpPr/>
            <p:nvPr/>
          </p:nvSpPr>
          <p:spPr>
            <a:xfrm>
              <a:off x="4682228" y="2538816"/>
              <a:ext cx="2610009" cy="966107"/>
            </a:xfrm>
            <a:prstGeom prst="rect">
              <a:avLst/>
            </a:prstGeom>
            <a:noFill/>
            <a:ln w="28575">
              <a:solidFill>
                <a:srgbClr val="FAB4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74" name="直接箭头连接符 73"/>
            <p:cNvCxnSpPr/>
            <p:nvPr/>
          </p:nvCxnSpPr>
          <p:spPr>
            <a:xfrm>
              <a:off x="7331041" y="3028159"/>
              <a:ext cx="1170750" cy="0"/>
            </a:xfrm>
            <a:prstGeom prst="straightConnector1">
              <a:avLst/>
            </a:prstGeom>
            <a:ln w="38100">
              <a:solidFill>
                <a:srgbClr val="FAB4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8358232" y="764872"/>
              <a:ext cx="3161212" cy="6063408"/>
              <a:chOff x="8358232" y="764872"/>
              <a:chExt cx="3161212" cy="6063408"/>
            </a:xfrm>
          </p:grpSpPr>
          <p:sp>
            <p:nvSpPr>
              <p:cNvPr id="102" name="矩形: 圆角 101"/>
              <p:cNvSpPr/>
              <p:nvPr/>
            </p:nvSpPr>
            <p:spPr>
              <a:xfrm>
                <a:off x="8501791" y="903518"/>
                <a:ext cx="3017653" cy="5924762"/>
              </a:xfrm>
              <a:prstGeom prst="round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pic>
            <p:nvPicPr>
              <p:cNvPr id="111" name="图片 110" descr="C:\Users\YHB\Desktop\QQ截图20210421201345.pngQQ截图20210421201345"/>
              <p:cNvPicPr>
                <a:picLocks noChangeAspect="1"/>
              </p:cNvPicPr>
              <p:nvPr/>
            </p:nvPicPr>
            <p:blipFill>
              <a:blip r:embed="rId17"/>
              <a:srcRect/>
              <a:stretch>
                <a:fillRect/>
              </a:stretch>
            </p:blipFill>
            <p:spPr>
              <a:xfrm>
                <a:off x="8702245" y="1502555"/>
                <a:ext cx="2667378" cy="4767580"/>
              </a:xfrm>
              <a:prstGeom prst="rect">
                <a:avLst/>
              </a:prstGeom>
            </p:spPr>
          </p:pic>
          <p:sp>
            <p:nvSpPr>
              <p:cNvPr id="104" name="流程图: 数据 103"/>
              <p:cNvSpPr/>
              <p:nvPr/>
            </p:nvSpPr>
            <p:spPr>
              <a:xfrm>
                <a:off x="8358232" y="786008"/>
                <a:ext cx="2335504" cy="461113"/>
              </a:xfrm>
              <a:prstGeom prst="flowChartInputOutput">
                <a:avLst/>
              </a:prstGeom>
              <a:solidFill>
                <a:srgbClr val="FAB450"/>
              </a:solidFill>
              <a:ln>
                <a:solidFill>
                  <a:srgbClr val="FAB45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5" name="文本框 104"/>
              <p:cNvSpPr txBox="1"/>
              <p:nvPr/>
            </p:nvSpPr>
            <p:spPr>
              <a:xfrm>
                <a:off x="8622542" y="764872"/>
                <a:ext cx="181910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订单页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16" name="矩形: 圆角 115"/>
              <p:cNvSpPr/>
              <p:nvPr/>
            </p:nvSpPr>
            <p:spPr>
              <a:xfrm>
                <a:off x="9148514" y="3947703"/>
                <a:ext cx="1718066" cy="818186"/>
              </a:xfrm>
              <a:prstGeom prst="roundRect">
                <a:avLst/>
              </a:prstGeom>
              <a:ln w="28575">
                <a:solidFill>
                  <a:srgbClr val="FAB4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查看我所有的订单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113" name="组合 112"/>
          <p:cNvGrpSpPr/>
          <p:nvPr/>
        </p:nvGrpSpPr>
        <p:grpSpPr>
          <a:xfrm>
            <a:off x="560287" y="785978"/>
            <a:ext cx="6742949" cy="6063408"/>
            <a:chOff x="560287" y="785978"/>
            <a:chExt cx="6742949" cy="6063408"/>
          </a:xfrm>
        </p:grpSpPr>
        <p:sp>
          <p:nvSpPr>
            <p:cNvPr id="98" name="矩形 97"/>
            <p:cNvSpPr/>
            <p:nvPr/>
          </p:nvSpPr>
          <p:spPr>
            <a:xfrm>
              <a:off x="4693227" y="3952109"/>
              <a:ext cx="2610009" cy="437890"/>
            </a:xfrm>
            <a:prstGeom prst="rect">
              <a:avLst/>
            </a:prstGeom>
            <a:noFill/>
            <a:ln w="28575">
              <a:solidFill>
                <a:srgbClr val="FAB4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22" name="直接箭头连接符 121"/>
            <p:cNvCxnSpPr/>
            <p:nvPr/>
          </p:nvCxnSpPr>
          <p:spPr>
            <a:xfrm flipH="1">
              <a:off x="3686112" y="4209246"/>
              <a:ext cx="1010177" cy="0"/>
            </a:xfrm>
            <a:prstGeom prst="straightConnector1">
              <a:avLst/>
            </a:prstGeom>
            <a:ln w="38100">
              <a:solidFill>
                <a:srgbClr val="FAB4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矩形: 圆角 134"/>
            <p:cNvSpPr/>
            <p:nvPr/>
          </p:nvSpPr>
          <p:spPr>
            <a:xfrm>
              <a:off x="703846" y="924624"/>
              <a:ext cx="3017653" cy="5924762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pic>
          <p:nvPicPr>
            <p:cNvPr id="143" name="图片 142" descr="Screenshot_20210415_220536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889281" y="1145818"/>
              <a:ext cx="2631338" cy="5558041"/>
            </a:xfrm>
            <a:prstGeom prst="rect">
              <a:avLst/>
            </a:prstGeom>
          </p:spPr>
        </p:pic>
        <p:sp>
          <p:nvSpPr>
            <p:cNvPr id="137" name="流程图: 数据 136"/>
            <p:cNvSpPr/>
            <p:nvPr/>
          </p:nvSpPr>
          <p:spPr>
            <a:xfrm>
              <a:off x="560287" y="807114"/>
              <a:ext cx="2335504" cy="461113"/>
            </a:xfrm>
            <a:prstGeom prst="flowChartInputOutput">
              <a:avLst/>
            </a:prstGeom>
            <a:solidFill>
              <a:srgbClr val="FAB450"/>
            </a:solidFill>
            <a:ln>
              <a:solidFill>
                <a:srgbClr val="FAB45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8" name="文本框 137"/>
            <p:cNvSpPr txBox="1"/>
            <p:nvPr/>
          </p:nvSpPr>
          <p:spPr>
            <a:xfrm>
              <a:off x="824597" y="785978"/>
              <a:ext cx="18191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账户余额页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17" name="组合 116"/>
          <p:cNvGrpSpPr/>
          <p:nvPr/>
        </p:nvGrpSpPr>
        <p:grpSpPr>
          <a:xfrm>
            <a:off x="712687" y="806298"/>
            <a:ext cx="4660303" cy="6063408"/>
            <a:chOff x="712687" y="938378"/>
            <a:chExt cx="4660303" cy="6063408"/>
          </a:xfrm>
        </p:grpSpPr>
        <p:sp>
          <p:nvSpPr>
            <p:cNvPr id="159" name="矩形: 圆角 158"/>
            <p:cNvSpPr/>
            <p:nvPr/>
          </p:nvSpPr>
          <p:spPr>
            <a:xfrm>
              <a:off x="856246" y="1077024"/>
              <a:ext cx="3017653" cy="5924762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0" name="矩形 99"/>
            <p:cNvSpPr/>
            <p:nvPr/>
          </p:nvSpPr>
          <p:spPr>
            <a:xfrm>
              <a:off x="4945930" y="5540641"/>
              <a:ext cx="427060" cy="466661"/>
            </a:xfrm>
            <a:prstGeom prst="rect">
              <a:avLst/>
            </a:prstGeom>
            <a:noFill/>
            <a:ln w="28575">
              <a:solidFill>
                <a:srgbClr val="FAB4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45" name="直接箭头连接符 144"/>
            <p:cNvCxnSpPr/>
            <p:nvPr/>
          </p:nvCxnSpPr>
          <p:spPr>
            <a:xfrm flipH="1" flipV="1">
              <a:off x="3739896" y="4143817"/>
              <a:ext cx="1206035" cy="1533969"/>
            </a:xfrm>
            <a:prstGeom prst="straightConnector1">
              <a:avLst/>
            </a:prstGeom>
            <a:ln w="38100">
              <a:solidFill>
                <a:srgbClr val="FAB4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6" name="图片 145" descr="IMG_20210415_213836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54818" y="1210439"/>
              <a:ext cx="2594832" cy="5664568"/>
            </a:xfrm>
            <a:prstGeom prst="rect">
              <a:avLst/>
            </a:prstGeom>
          </p:spPr>
        </p:pic>
        <p:sp>
          <p:nvSpPr>
            <p:cNvPr id="161" name="流程图: 数据 160"/>
            <p:cNvSpPr/>
            <p:nvPr/>
          </p:nvSpPr>
          <p:spPr>
            <a:xfrm>
              <a:off x="712687" y="959514"/>
              <a:ext cx="2335504" cy="461113"/>
            </a:xfrm>
            <a:prstGeom prst="flowChartInputOutput">
              <a:avLst/>
            </a:prstGeom>
            <a:solidFill>
              <a:srgbClr val="FAB450"/>
            </a:solidFill>
            <a:ln>
              <a:solidFill>
                <a:srgbClr val="FAB45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2" name="文本框 161"/>
            <p:cNvSpPr txBox="1"/>
            <p:nvPr/>
          </p:nvSpPr>
          <p:spPr>
            <a:xfrm>
              <a:off x="976997" y="938378"/>
              <a:ext cx="18191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地址管理页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 rot="0">
            <a:off x="8358505" y="807085"/>
            <a:ext cx="3161030" cy="6063615"/>
            <a:chOff x="8358232" y="764872"/>
            <a:chExt cx="3161212" cy="6063408"/>
          </a:xfrm>
        </p:grpSpPr>
        <p:sp>
          <p:nvSpPr>
            <p:cNvPr id="6" name="矩形: 圆角 101"/>
            <p:cNvSpPr/>
            <p:nvPr/>
          </p:nvSpPr>
          <p:spPr>
            <a:xfrm>
              <a:off x="8501791" y="903518"/>
              <a:ext cx="3017653" cy="5924762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pic>
          <p:nvPicPr>
            <p:cNvPr id="7" name="图片 6" descr="C:\Users\YHB\Desktop\QQ截图20210421201345.pngQQ截图20210421201345"/>
            <p:cNvPicPr>
              <a:picLocks noChangeAspect="1"/>
            </p:cNvPicPr>
            <p:nvPr/>
          </p:nvPicPr>
          <p:blipFill>
            <a:blip r:embed="rId17"/>
            <a:srcRect/>
            <a:stretch>
              <a:fillRect/>
            </a:stretch>
          </p:blipFill>
          <p:spPr>
            <a:xfrm>
              <a:off x="8702245" y="1502555"/>
              <a:ext cx="2667378" cy="4767580"/>
            </a:xfrm>
            <a:prstGeom prst="rect">
              <a:avLst/>
            </a:prstGeom>
          </p:spPr>
        </p:pic>
        <p:sp>
          <p:nvSpPr>
            <p:cNvPr id="8" name="流程图: 数据 7"/>
            <p:cNvSpPr/>
            <p:nvPr/>
          </p:nvSpPr>
          <p:spPr>
            <a:xfrm>
              <a:off x="8358232" y="786008"/>
              <a:ext cx="2335504" cy="461113"/>
            </a:xfrm>
            <a:prstGeom prst="flowChartInputOutput">
              <a:avLst/>
            </a:prstGeom>
            <a:solidFill>
              <a:srgbClr val="FAB450"/>
            </a:solidFill>
            <a:ln>
              <a:solidFill>
                <a:srgbClr val="FAB45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8622542" y="764872"/>
              <a:ext cx="1819103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租后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服务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" name="矩形: 圆角 115"/>
            <p:cNvSpPr/>
            <p:nvPr/>
          </p:nvSpPr>
          <p:spPr>
            <a:xfrm>
              <a:off x="8677656" y="5724688"/>
              <a:ext cx="2016241" cy="818487"/>
            </a:xfrm>
            <a:prstGeom prst="roundRect">
              <a:avLst/>
            </a:prstGeom>
            <a:ln w="28575">
              <a:solidFill>
                <a:srgbClr val="FAB4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以租代购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/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续租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0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8" grpId="1" animBg="1"/>
      <p:bldP spid="62" grpId="0" animBg="1"/>
      <p:bldP spid="62" grpId="1" animBg="1"/>
      <p:bldP spid="67" grpId="0" animBg="1"/>
      <p:bldP spid="67" grpId="1" animBg="1"/>
      <p:bldP spid="70" grpId="0" animBg="1"/>
      <p:bldP spid="70" grpId="1" animBg="1"/>
      <p:bldP spid="82" grpId="0" animBg="1"/>
      <p:bldP spid="82" grpId="1" animBg="1"/>
      <p:bldP spid="83" grpId="0" animBg="1"/>
      <p:bldP spid="83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5"/>
          <p:cNvSpPr/>
          <p:nvPr/>
        </p:nvSpPr>
        <p:spPr>
          <a:xfrm>
            <a:off x="5376933" y="1016043"/>
            <a:ext cx="408404" cy="408404"/>
          </a:xfrm>
          <a:prstGeom prst="ellipse">
            <a:avLst/>
          </a:prstGeom>
          <a:solidFill>
            <a:srgbClr val="25B7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Oval 4"/>
          <p:cNvSpPr/>
          <p:nvPr/>
        </p:nvSpPr>
        <p:spPr>
          <a:xfrm>
            <a:off x="2124642" y="4413149"/>
            <a:ext cx="914400" cy="9144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Oval 6"/>
          <p:cNvSpPr/>
          <p:nvPr/>
        </p:nvSpPr>
        <p:spPr>
          <a:xfrm>
            <a:off x="6793206" y="5408114"/>
            <a:ext cx="766148" cy="766148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7" name="组合 79"/>
          <p:cNvGrpSpPr/>
          <p:nvPr/>
        </p:nvGrpSpPr>
        <p:grpSpPr bwMode="auto">
          <a:xfrm>
            <a:off x="1315085" y="1390015"/>
            <a:ext cx="4380230" cy="4389120"/>
            <a:chOff x="6379729" y="2488774"/>
            <a:chExt cx="2513016" cy="2513016"/>
          </a:xfrm>
        </p:grpSpPr>
        <p:sp>
          <p:nvSpPr>
            <p:cNvPr id="8" name="任意多边形 82"/>
            <p:cNvSpPr/>
            <p:nvPr/>
          </p:nvSpPr>
          <p:spPr>
            <a:xfrm rot="3738964">
              <a:off x="6379729" y="2488774"/>
              <a:ext cx="2513016" cy="2513016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gradFill flip="none" rotWithShape="1">
              <a:gsLst>
                <a:gs pos="17000">
                  <a:srgbClr val="FFFFFF"/>
                </a:gs>
                <a:gs pos="88000">
                  <a:srgbClr val="FFFFFF">
                    <a:lumMod val="72000"/>
                  </a:srgbClr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127000" dist="63500" dir="7380000" sx="102000" sy="102000" algn="tr" rotWithShape="0">
                <a:prstClr val="black">
                  <a:alpha val="39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endParaRPr>
            </a:p>
          </p:txBody>
        </p:sp>
        <p:sp>
          <p:nvSpPr>
            <p:cNvPr id="9" name="任意多边形 83"/>
            <p:cNvSpPr/>
            <p:nvPr/>
          </p:nvSpPr>
          <p:spPr>
            <a:xfrm rot="16377237">
              <a:off x="6409518" y="2506881"/>
              <a:ext cx="2476803" cy="2476800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gradFill flip="none" rotWithShape="1">
              <a:gsLst>
                <a:gs pos="29000">
                  <a:srgbClr val="FFFFFF"/>
                </a:gs>
                <a:gs pos="98000">
                  <a:srgbClr val="FFFFFF">
                    <a:lumMod val="75000"/>
                  </a:srgbClr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softEdge rad="0"/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" name="Oval 8"/>
          <p:cNvSpPr/>
          <p:nvPr/>
        </p:nvSpPr>
        <p:spPr>
          <a:xfrm>
            <a:off x="4443461" y="2207559"/>
            <a:ext cx="538550" cy="5385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Oval 9"/>
          <p:cNvSpPr/>
          <p:nvPr/>
        </p:nvSpPr>
        <p:spPr>
          <a:xfrm>
            <a:off x="2762438" y="1521713"/>
            <a:ext cx="553208" cy="55320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Oval 10"/>
          <p:cNvSpPr/>
          <p:nvPr/>
        </p:nvSpPr>
        <p:spPr>
          <a:xfrm>
            <a:off x="6905283" y="1181617"/>
            <a:ext cx="1373608" cy="1373608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b="1" dirty="0"/>
              <a:t>4</a:t>
            </a:r>
            <a:endParaRPr lang="en-US" sz="8000" b="1" dirty="0"/>
          </a:p>
        </p:txBody>
      </p:sp>
      <p:sp>
        <p:nvSpPr>
          <p:cNvPr id="13" name="Oval 11"/>
          <p:cNvSpPr/>
          <p:nvPr/>
        </p:nvSpPr>
        <p:spPr>
          <a:xfrm>
            <a:off x="3236132" y="419245"/>
            <a:ext cx="740105" cy="740105"/>
          </a:xfrm>
          <a:prstGeom prst="ellipse">
            <a:avLst/>
          </a:prstGeom>
          <a:solidFill>
            <a:srgbClr val="F6A5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Oval 12"/>
          <p:cNvSpPr/>
          <p:nvPr/>
        </p:nvSpPr>
        <p:spPr>
          <a:xfrm>
            <a:off x="3085546" y="5791188"/>
            <a:ext cx="230100" cy="230100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" name="Oval 13"/>
          <p:cNvSpPr/>
          <p:nvPr/>
        </p:nvSpPr>
        <p:spPr>
          <a:xfrm>
            <a:off x="587041" y="3007002"/>
            <a:ext cx="554270" cy="55427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6" name="Oval 14"/>
          <p:cNvSpPr/>
          <p:nvPr/>
        </p:nvSpPr>
        <p:spPr>
          <a:xfrm>
            <a:off x="6085604" y="3848143"/>
            <a:ext cx="472224" cy="472224"/>
          </a:xfrm>
          <a:prstGeom prst="ellipse">
            <a:avLst/>
          </a:prstGeom>
          <a:solidFill>
            <a:srgbClr val="F6A5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17" name="Group 31"/>
          <p:cNvGrpSpPr/>
          <p:nvPr/>
        </p:nvGrpSpPr>
        <p:grpSpPr>
          <a:xfrm>
            <a:off x="5055555" y="2297647"/>
            <a:ext cx="986490" cy="986490"/>
            <a:chOff x="5055555" y="2012177"/>
            <a:chExt cx="986490" cy="986490"/>
          </a:xfrm>
        </p:grpSpPr>
        <p:sp>
          <p:nvSpPr>
            <p:cNvPr id="18" name="Oval 32"/>
            <p:cNvSpPr/>
            <p:nvPr/>
          </p:nvSpPr>
          <p:spPr>
            <a:xfrm>
              <a:off x="5055555" y="2012177"/>
              <a:ext cx="986490" cy="98649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pic>
          <p:nvPicPr>
            <p:cNvPr id="19" name="Picture 3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15617" y="2133970"/>
              <a:ext cx="576050" cy="576050"/>
            </a:xfrm>
            <a:prstGeom prst="rect">
              <a:avLst/>
            </a:prstGeom>
          </p:spPr>
        </p:pic>
      </p:grpSp>
      <p:grpSp>
        <p:nvGrpSpPr>
          <p:cNvPr id="20" name="Group 34"/>
          <p:cNvGrpSpPr/>
          <p:nvPr/>
        </p:nvGrpSpPr>
        <p:grpSpPr>
          <a:xfrm>
            <a:off x="1332251" y="1424447"/>
            <a:ext cx="914400" cy="914400"/>
            <a:chOff x="1664298" y="1454017"/>
            <a:chExt cx="914400" cy="914400"/>
          </a:xfrm>
        </p:grpSpPr>
        <p:sp>
          <p:nvSpPr>
            <p:cNvPr id="21" name="Oval 35"/>
            <p:cNvSpPr/>
            <p:nvPr/>
          </p:nvSpPr>
          <p:spPr>
            <a:xfrm>
              <a:off x="1664298" y="1454017"/>
              <a:ext cx="914400" cy="914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pic>
          <p:nvPicPr>
            <p:cNvPr id="22" name="Picture 3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400" y="1543797"/>
              <a:ext cx="679285" cy="679285"/>
            </a:xfrm>
            <a:prstGeom prst="rect">
              <a:avLst/>
            </a:prstGeom>
          </p:spPr>
        </p:pic>
      </p:grpSp>
      <p:sp>
        <p:nvSpPr>
          <p:cNvPr id="23" name="Oval 6"/>
          <p:cNvSpPr/>
          <p:nvPr/>
        </p:nvSpPr>
        <p:spPr>
          <a:xfrm>
            <a:off x="8023147" y="5721444"/>
            <a:ext cx="268024" cy="268024"/>
          </a:xfrm>
          <a:prstGeom prst="ellipse">
            <a:avLst/>
          </a:prstGeom>
          <a:solidFill>
            <a:srgbClr val="25B7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" name="TextBox 12"/>
          <p:cNvSpPr txBox="1"/>
          <p:nvPr/>
        </p:nvSpPr>
        <p:spPr>
          <a:xfrm>
            <a:off x="7791450" y="2746375"/>
            <a:ext cx="2541905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400" b="1" dirty="0">
                <a:solidFill>
                  <a:srgbClr val="595859"/>
                </a:solidFill>
                <a:latin typeface="+mj-lt"/>
              </a:rPr>
              <a:t>团队介绍</a:t>
            </a:r>
            <a:endParaRPr lang="en-US" sz="4400" b="1" dirty="0">
              <a:solidFill>
                <a:srgbClr val="595859"/>
              </a:solidFill>
              <a:latin typeface="+mj-lt"/>
            </a:endParaRPr>
          </a:p>
          <a:p>
            <a:pPr algn="l"/>
            <a:r>
              <a:rPr lang="en-US" sz="4400" b="1" dirty="0">
                <a:solidFill>
                  <a:srgbClr val="595859"/>
                </a:solidFill>
                <a:latin typeface="+mj-lt"/>
                <a:sym typeface="+mn-ea"/>
              </a:rPr>
              <a:t>       与</a:t>
            </a:r>
            <a:endParaRPr lang="en-US" sz="4400" b="1" dirty="0">
              <a:solidFill>
                <a:srgbClr val="595859"/>
              </a:solidFill>
              <a:latin typeface="+mj-lt"/>
            </a:endParaRPr>
          </a:p>
          <a:p>
            <a:pPr algn="l"/>
            <a:r>
              <a:rPr lang="en-US" sz="4400" b="1" dirty="0">
                <a:solidFill>
                  <a:srgbClr val="595859"/>
                </a:solidFill>
                <a:latin typeface="+mj-lt"/>
              </a:rPr>
              <a:t>系统特色</a:t>
            </a:r>
            <a:endParaRPr lang="en-US" sz="4400" b="1" dirty="0">
              <a:solidFill>
                <a:srgbClr val="595859"/>
              </a:solidFill>
              <a:latin typeface="+mj-lt"/>
            </a:endParaRPr>
          </a:p>
        </p:txBody>
      </p:sp>
      <p:pic>
        <p:nvPicPr>
          <p:cNvPr id="25" name="图片 24" descr="logo 竖版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3540" y="2764703"/>
            <a:ext cx="1523179" cy="17633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6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23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箭头连接符 33"/>
          <p:cNvCxnSpPr/>
          <p:nvPr/>
        </p:nvCxnSpPr>
        <p:spPr>
          <a:xfrm>
            <a:off x="6945630" y="2677160"/>
            <a:ext cx="1757680" cy="130556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flipH="1">
            <a:off x="2739390" y="2583180"/>
            <a:ext cx="2339975" cy="84074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/>
        </p:nvGrpSpPr>
        <p:grpSpPr>
          <a:xfrm>
            <a:off x="8666437" y="3883338"/>
            <a:ext cx="1343077" cy="1197871"/>
            <a:chOff x="2810498" y="1786005"/>
            <a:chExt cx="1011264" cy="958850"/>
          </a:xfrm>
        </p:grpSpPr>
        <p:sp>
          <p:nvSpPr>
            <p:cNvPr id="39" name="椭圆 38"/>
            <p:cNvSpPr/>
            <p:nvPr/>
          </p:nvSpPr>
          <p:spPr bwMode="auto">
            <a:xfrm>
              <a:off x="2862912" y="1786005"/>
              <a:ext cx="958850" cy="958850"/>
            </a:xfrm>
            <a:prstGeom prst="ellipse">
              <a:avLst/>
            </a:prstGeom>
            <a:solidFill>
              <a:srgbClr val="FFC000"/>
            </a:solidFill>
            <a:ln w="31750" cap="flat">
              <a:gradFill>
                <a:gsLst>
                  <a:gs pos="0">
                    <a:schemeClr val="bg1"/>
                  </a:gs>
                  <a:gs pos="100000">
                    <a:srgbClr val="DDDDDD"/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228600" dist="101600" dir="5400000" algn="t" rotWithShape="0">
                <a:schemeClr val="tx1">
                  <a:lumMod val="85000"/>
                  <a:lumOff val="15000"/>
                  <a:alpha val="3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810498" y="1995437"/>
              <a:ext cx="983972" cy="6272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07950" algn="ctr">
                <a:spcBef>
                  <a:spcPts val="600"/>
                </a:spcBef>
                <a:defRPr/>
              </a:pPr>
              <a:r>
                <a:rPr lang="zh-CN" altLang="en-US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运营经理</a:t>
              </a:r>
              <a:endPara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  <a:p>
              <a:pPr marL="107950" algn="ctr">
                <a:spcBef>
                  <a:spcPts val="600"/>
                </a:spcBef>
                <a:defRPr/>
              </a:pPr>
              <a:r>
                <a:rPr lang="zh-CN" altLang="en-US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尹艳</a:t>
              </a:r>
              <a:endPara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225741" y="3384296"/>
            <a:ext cx="1585741" cy="1479449"/>
            <a:chOff x="4746617" y="3084020"/>
            <a:chExt cx="1171687" cy="1105199"/>
          </a:xfrm>
          <a:solidFill>
            <a:srgbClr val="30BAA0"/>
          </a:solidFill>
        </p:grpSpPr>
        <p:sp>
          <p:nvSpPr>
            <p:cNvPr id="43" name="椭圆 42"/>
            <p:cNvSpPr/>
            <p:nvPr/>
          </p:nvSpPr>
          <p:spPr bwMode="auto">
            <a:xfrm>
              <a:off x="4783518" y="3084020"/>
              <a:ext cx="1134786" cy="1105199"/>
            </a:xfrm>
            <a:prstGeom prst="ellipse">
              <a:avLst/>
            </a:prstGeom>
            <a:grpFill/>
            <a:ln w="31750" cap="flat">
              <a:gradFill>
                <a:gsLst>
                  <a:gs pos="0">
                    <a:schemeClr val="bg1"/>
                  </a:gs>
                  <a:gs pos="100000">
                    <a:srgbClr val="DDDDDD"/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228600" dist="101600" dir="5400000" algn="t" rotWithShape="0">
                <a:schemeClr val="tx1">
                  <a:lumMod val="85000"/>
                  <a:lumOff val="15000"/>
                  <a:alpha val="3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746617" y="3360241"/>
              <a:ext cx="1134786" cy="5853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07950" algn="ctr">
                <a:spcBef>
                  <a:spcPts val="600"/>
                </a:spcBef>
                <a:defRPr/>
              </a:pPr>
              <a:r>
                <a:rPr lang="zh-CN" altLang="en-US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技术经理</a:t>
              </a:r>
              <a:endPara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  <a:p>
              <a:pPr marL="107950" algn="ctr">
                <a:spcBef>
                  <a:spcPts val="600"/>
                </a:spcBef>
                <a:defRPr/>
              </a:pPr>
              <a:r>
                <a:rPr lang="zh-CN" altLang="en-US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杨睿祈</a:t>
              </a:r>
              <a:endPara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5906294" y="3875734"/>
            <a:ext cx="1488241" cy="1358014"/>
            <a:chOff x="3302367" y="4849937"/>
            <a:chExt cx="967769" cy="958850"/>
          </a:xfrm>
          <a:solidFill>
            <a:srgbClr val="92D050"/>
          </a:solidFill>
        </p:grpSpPr>
        <p:sp>
          <p:nvSpPr>
            <p:cNvPr id="52" name="椭圆 51"/>
            <p:cNvSpPr/>
            <p:nvPr/>
          </p:nvSpPr>
          <p:spPr bwMode="auto">
            <a:xfrm>
              <a:off x="3312874" y="4849937"/>
              <a:ext cx="957262" cy="958850"/>
            </a:xfrm>
            <a:prstGeom prst="ellipse">
              <a:avLst/>
            </a:prstGeom>
            <a:grpFill/>
            <a:ln w="31750" cap="flat">
              <a:gradFill>
                <a:gsLst>
                  <a:gs pos="0">
                    <a:schemeClr val="bg1"/>
                  </a:gs>
                  <a:gs pos="100000">
                    <a:srgbClr val="DDDDDD"/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228600" dist="101600" dir="5400000" algn="t" rotWithShape="0">
                <a:schemeClr val="tx1">
                  <a:lumMod val="85000"/>
                  <a:lumOff val="15000"/>
                  <a:alpha val="3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3302367" y="5114718"/>
              <a:ext cx="922502" cy="5532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07950" algn="ctr">
                <a:spcBef>
                  <a:spcPts val="600"/>
                </a:spcBef>
                <a:defRPr/>
              </a:pPr>
              <a:r>
                <a:rPr lang="zh-CN" altLang="en-US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运营经理</a:t>
              </a:r>
              <a:endPara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  <a:p>
              <a:pPr marL="107950" algn="ctr">
                <a:spcBef>
                  <a:spcPts val="600"/>
                </a:spcBef>
                <a:defRPr/>
              </a:pPr>
              <a:r>
                <a:rPr lang="zh-CN" altLang="en-US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梁晓瑜</a:t>
              </a:r>
              <a:endPara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</p:grpSp>
      <p:cxnSp>
        <p:nvCxnSpPr>
          <p:cNvPr id="63" name="直接箭头连接符 62"/>
          <p:cNvCxnSpPr/>
          <p:nvPr/>
        </p:nvCxnSpPr>
        <p:spPr>
          <a:xfrm>
            <a:off x="6116320" y="3028950"/>
            <a:ext cx="300990" cy="75057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>
            <a:off x="5235794" y="1095388"/>
            <a:ext cx="1553832" cy="1460815"/>
            <a:chOff x="7949250" y="981021"/>
            <a:chExt cx="1699942" cy="1662748"/>
          </a:xfrm>
        </p:grpSpPr>
        <p:grpSp>
          <p:nvGrpSpPr>
            <p:cNvPr id="57" name="组合 56"/>
            <p:cNvGrpSpPr/>
            <p:nvPr/>
          </p:nvGrpSpPr>
          <p:grpSpPr>
            <a:xfrm>
              <a:off x="7949250" y="981021"/>
              <a:ext cx="1699942" cy="1662748"/>
              <a:chOff x="1782823" y="3070687"/>
              <a:chExt cx="1762804" cy="1762804"/>
            </a:xfrm>
            <a:solidFill>
              <a:srgbClr val="2D6B81"/>
            </a:solidFill>
          </p:grpSpPr>
          <p:sp>
            <p:nvSpPr>
              <p:cNvPr id="60" name="椭圆 59"/>
              <p:cNvSpPr/>
              <p:nvPr/>
            </p:nvSpPr>
            <p:spPr>
              <a:xfrm>
                <a:off x="1782823" y="3070687"/>
                <a:ext cx="1762804" cy="1762804"/>
              </a:xfrm>
              <a:prstGeom prst="ellipse">
                <a:avLst/>
              </a:prstGeom>
              <a:grpFill/>
              <a:ln w="28575" cap="flat">
                <a:solidFill>
                  <a:schemeClr val="bg1"/>
                </a:solidFill>
                <a:prstDash val="solid"/>
                <a:miter lim="800000"/>
              </a:ln>
              <a:effectLst>
                <a:outerShdw blurRad="228600" dist="228600" dir="5400000" algn="t" rotWithShape="0">
                  <a:schemeClr val="tx1">
                    <a:lumMod val="85000"/>
                    <a:lumOff val="15000"/>
                    <a:alpha val="28000"/>
                  </a:scheme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/>
                </a:endParaRPr>
              </a:p>
            </p:txBody>
          </p:sp>
          <p:sp>
            <p:nvSpPr>
              <p:cNvPr id="62" name="矩形 61"/>
              <p:cNvSpPr/>
              <p:nvPr/>
            </p:nvSpPr>
            <p:spPr>
              <a:xfrm>
                <a:off x="1989895" y="3513449"/>
                <a:ext cx="1374474" cy="445683"/>
              </a:xfrm>
              <a:prstGeom prst="rect">
                <a:avLst/>
              </a:prstGeom>
              <a:grpFill/>
            </p:spPr>
            <p:txBody>
              <a:bodyPr wrap="square">
                <a:spAutoFit/>
              </a:bodyPr>
              <a:lstStyle/>
              <a:p>
                <a:pPr algn="dist">
                  <a:buNone/>
                </a:pP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/>
                  </a:rPr>
                  <a:t>项目经理</a:t>
                </a:r>
                <a:endPara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/>
                </a:endParaRPr>
              </a:p>
            </p:txBody>
          </p:sp>
        </p:grpSp>
        <p:sp>
          <p:nvSpPr>
            <p:cNvPr id="64" name="矩形 63"/>
            <p:cNvSpPr/>
            <p:nvPr/>
          </p:nvSpPr>
          <p:spPr>
            <a:xfrm>
              <a:off x="8264726" y="1750606"/>
              <a:ext cx="1093885" cy="7343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zh-CN" alt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徐启佳</a:t>
              </a:r>
              <a:endPara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  <a:p>
              <a:pPr algn="ctr">
                <a:buNone/>
              </a:pP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3355112" y="4034375"/>
            <a:ext cx="1784832" cy="1479449"/>
            <a:chOff x="4715116" y="2873827"/>
            <a:chExt cx="1371343" cy="1105199"/>
          </a:xfrm>
          <a:solidFill>
            <a:srgbClr val="FA6A31"/>
          </a:solidFill>
        </p:grpSpPr>
        <p:sp>
          <p:nvSpPr>
            <p:cNvPr id="76" name="椭圆 75"/>
            <p:cNvSpPr/>
            <p:nvPr/>
          </p:nvSpPr>
          <p:spPr bwMode="auto">
            <a:xfrm>
              <a:off x="4860885" y="2873827"/>
              <a:ext cx="1134786" cy="1105199"/>
            </a:xfrm>
            <a:prstGeom prst="ellipse">
              <a:avLst/>
            </a:prstGeom>
            <a:grpFill/>
            <a:ln w="31750" cap="flat">
              <a:gradFill>
                <a:gsLst>
                  <a:gs pos="0">
                    <a:schemeClr val="bg1"/>
                  </a:gs>
                  <a:gs pos="100000">
                    <a:srgbClr val="DDDDDD"/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228600" dist="101600" dir="5400000" algn="t" rotWithShape="0">
                <a:schemeClr val="tx1">
                  <a:lumMod val="85000"/>
                  <a:lumOff val="15000"/>
                  <a:alpha val="3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4715116" y="3186900"/>
              <a:ext cx="1371343" cy="5853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07950" algn="ctr">
                <a:spcBef>
                  <a:spcPts val="600"/>
                </a:spcBef>
                <a:defRPr/>
              </a:pPr>
              <a:r>
                <a:rPr lang="zh-CN" altLang="en-US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设计经理</a:t>
              </a:r>
              <a:endPara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  <a:p>
              <a:pPr marL="107950" algn="ctr">
                <a:spcBef>
                  <a:spcPts val="600"/>
                </a:spcBef>
                <a:defRPr/>
              </a:pPr>
              <a:r>
                <a:rPr lang="zh-CN" altLang="en-US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杨晨曦</a:t>
              </a:r>
              <a:endPara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</p:grpSp>
      <p:cxnSp>
        <p:nvCxnSpPr>
          <p:cNvPr id="4" name="直接箭头连接符 3"/>
          <p:cNvCxnSpPr/>
          <p:nvPr/>
        </p:nvCxnSpPr>
        <p:spPr>
          <a:xfrm flipH="1">
            <a:off x="4578350" y="2943860"/>
            <a:ext cx="945515" cy="108966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>
            <a:off x="-1308735" y="5233669"/>
            <a:ext cx="2260191" cy="2169806"/>
          </a:xfrm>
          <a:prstGeom prst="ellipse">
            <a:avLst/>
          </a:prstGeom>
          <a:solidFill>
            <a:srgbClr val="00A6B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951049" y="6359004"/>
            <a:ext cx="1088025" cy="1044515"/>
          </a:xfrm>
          <a:prstGeom prst="ellipse">
            <a:avLst/>
          </a:prstGeom>
          <a:solidFill>
            <a:srgbClr val="EF9802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8554" y="140293"/>
            <a:ext cx="2429569" cy="584775"/>
          </a:xfrm>
          <a:prstGeom prst="rect">
            <a:avLst/>
          </a:prstGeom>
          <a:solidFill>
            <a:srgbClr val="4CC1D0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78790" y="137795"/>
            <a:ext cx="24295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人员组织架构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1162665" y="-685801"/>
            <a:ext cx="2260191" cy="2169806"/>
          </a:xfrm>
          <a:prstGeom prst="ellipse">
            <a:avLst/>
          </a:prstGeom>
          <a:solidFill>
            <a:srgbClr val="00A6B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10009324" y="-587261"/>
            <a:ext cx="1088025" cy="1044515"/>
          </a:xfrm>
          <a:prstGeom prst="ellipse">
            <a:avLst/>
          </a:prstGeom>
          <a:solidFill>
            <a:srgbClr val="EF9802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829945" y="6079490"/>
            <a:ext cx="0" cy="0"/>
            <a:chOff x="1485900" y="6386287"/>
            <a:chExt cx="10537829" cy="0"/>
          </a:xfrm>
        </p:grpSpPr>
        <p:cxnSp>
          <p:nvCxnSpPr>
            <p:cNvPr id="28" name="直接连接符 27"/>
            <p:cNvCxnSpPr/>
            <p:nvPr/>
          </p:nvCxnSpPr>
          <p:spPr>
            <a:xfrm>
              <a:off x="1485900" y="6386287"/>
              <a:ext cx="319534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8369230" y="6386287"/>
              <a:ext cx="3654499" cy="0"/>
            </a:xfrm>
            <a:prstGeom prst="line">
              <a:avLst/>
            </a:prstGeom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6" name="直接连接符 35"/>
          <p:cNvCxnSpPr/>
          <p:nvPr/>
        </p:nvCxnSpPr>
        <p:spPr>
          <a:xfrm flipH="1">
            <a:off x="478790" y="829310"/>
            <a:ext cx="2523490" cy="24130"/>
          </a:xfrm>
          <a:prstGeom prst="line">
            <a:avLst/>
          </a:prstGeom>
          <a:ln w="15875">
            <a:solidFill>
              <a:srgbClr val="54C3D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478790" y="140335"/>
            <a:ext cx="1678305" cy="584835"/>
          </a:xfrm>
          <a:prstGeom prst="rect">
            <a:avLst/>
          </a:prstGeom>
          <a:solidFill>
            <a:srgbClr val="4CC1D0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6" name="直接连接符 35"/>
          <p:cNvCxnSpPr/>
          <p:nvPr/>
        </p:nvCxnSpPr>
        <p:spPr>
          <a:xfrm flipH="1">
            <a:off x="478790" y="853440"/>
            <a:ext cx="1736090" cy="0"/>
          </a:xfrm>
          <a:prstGeom prst="line">
            <a:avLst/>
          </a:prstGeom>
          <a:ln w="15875">
            <a:solidFill>
              <a:srgbClr val="54C3D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478790" y="137795"/>
            <a:ext cx="22682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系统特色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11733" y="1303193"/>
            <a:ext cx="2768534" cy="4365914"/>
            <a:chOff x="4851466" y="1496037"/>
            <a:chExt cx="2489067" cy="4294559"/>
          </a:xfrm>
        </p:grpSpPr>
        <p:sp>
          <p:nvSpPr>
            <p:cNvPr id="15" name="矩形 14"/>
            <p:cNvSpPr/>
            <p:nvPr/>
          </p:nvSpPr>
          <p:spPr>
            <a:xfrm>
              <a:off x="4851466" y="3379992"/>
              <a:ext cx="2410604" cy="2410604"/>
            </a:xfrm>
            <a:prstGeom prst="rect">
              <a:avLst/>
            </a:prstGeom>
            <a:solidFill>
              <a:srgbClr val="30BAB4"/>
            </a:solidFill>
            <a:ln>
              <a:noFill/>
            </a:ln>
            <a:scene3d>
              <a:camera prst="isometricTopUp">
                <a:rot lat="19334322" lon="18553891" rev="3806096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863342" y="2917124"/>
              <a:ext cx="2410604" cy="2410604"/>
            </a:xfrm>
            <a:prstGeom prst="rect">
              <a:avLst/>
            </a:prstGeom>
            <a:solidFill>
              <a:srgbClr val="534751">
                <a:alpha val="60000"/>
              </a:srgbClr>
            </a:solidFill>
            <a:ln>
              <a:noFill/>
            </a:ln>
            <a:scene3d>
              <a:camera prst="isometricTopUp">
                <a:rot lat="19334316" lon="18553888" rev="3806097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4896636" y="2454256"/>
              <a:ext cx="2410604" cy="2410604"/>
            </a:xfrm>
            <a:prstGeom prst="rect">
              <a:avLst/>
            </a:prstGeom>
            <a:solidFill>
              <a:schemeClr val="bg1">
                <a:lumMod val="75000"/>
                <a:alpha val="90000"/>
              </a:schemeClr>
            </a:solidFill>
            <a:ln>
              <a:noFill/>
            </a:ln>
            <a:scene3d>
              <a:camera prst="isometricTopUp">
                <a:rot lat="19334316" lon="18553888" rev="3806097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4918760" y="1991388"/>
              <a:ext cx="2410604" cy="2410604"/>
            </a:xfrm>
            <a:prstGeom prst="rect">
              <a:avLst/>
            </a:prstGeom>
            <a:solidFill>
              <a:srgbClr val="64A4C7">
                <a:alpha val="55000"/>
              </a:srgbClr>
            </a:solidFill>
            <a:ln>
              <a:noFill/>
            </a:ln>
            <a:scene3d>
              <a:camera prst="isometricTopUp">
                <a:rot lat="19334316" lon="18553888" rev="3806097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4897446" y="1496037"/>
              <a:ext cx="2443087" cy="2443087"/>
            </a:xfrm>
            <a:prstGeom prst="rect">
              <a:avLst/>
            </a:prstGeom>
            <a:solidFill>
              <a:srgbClr val="FBB148">
                <a:alpha val="80000"/>
              </a:srgbClr>
            </a:solidFill>
            <a:ln>
              <a:noFill/>
            </a:ln>
            <a:scene3d>
              <a:camera prst="isometricTopUp">
                <a:rot lat="19334316" lon="18553888" rev="3806097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484093" y="1821758"/>
            <a:ext cx="3663848" cy="1157372"/>
            <a:chOff x="1484093" y="1764608"/>
            <a:chExt cx="3663848" cy="1157372"/>
          </a:xfrm>
        </p:grpSpPr>
        <p:sp>
          <p:nvSpPr>
            <p:cNvPr id="32" name="文本框 31"/>
            <p:cNvSpPr txBox="1"/>
            <p:nvPr/>
          </p:nvSpPr>
          <p:spPr>
            <a:xfrm>
              <a:off x="1484093" y="2168760"/>
              <a:ext cx="3663848" cy="75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Wingdings" panose="05000000000000000000" charset="0"/>
                <a:buChar char="Ø"/>
              </a:pPr>
              <a:r>
                <a:rPr 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可扩展性强</a:t>
              </a:r>
              <a:endParaRPr 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marL="285750" indent="-285750">
                <a:lnSpc>
                  <a:spcPct val="125000"/>
                </a:lnSpc>
                <a:buFont typeface="Wingdings" panose="05000000000000000000" charset="0"/>
                <a:buChar char="Ø"/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可靠性强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484093" y="1764608"/>
              <a:ext cx="1519539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FAB4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微服务框架</a:t>
              </a:r>
              <a:endParaRPr lang="zh-CN" altLang="en-US" sz="2000" b="1" dirty="0">
                <a:solidFill>
                  <a:srgbClr val="FAB45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9" name="直接连接符 8"/>
          <p:cNvCxnSpPr/>
          <p:nvPr/>
        </p:nvCxnSpPr>
        <p:spPr>
          <a:xfrm>
            <a:off x="1530914" y="2215750"/>
            <a:ext cx="3241221" cy="0"/>
          </a:xfrm>
          <a:prstGeom prst="line">
            <a:avLst/>
          </a:prstGeom>
          <a:ln w="15875">
            <a:solidFill>
              <a:srgbClr val="54C3D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/>
          <p:cNvGrpSpPr/>
          <p:nvPr/>
        </p:nvGrpSpPr>
        <p:grpSpPr>
          <a:xfrm>
            <a:off x="7701280" y="2234525"/>
            <a:ext cx="3528631" cy="1479889"/>
            <a:chOff x="7693025" y="2258655"/>
            <a:chExt cx="3528631" cy="1479889"/>
          </a:xfrm>
        </p:grpSpPr>
        <p:cxnSp>
          <p:nvCxnSpPr>
            <p:cNvPr id="39" name="直接连接符 38"/>
            <p:cNvCxnSpPr/>
            <p:nvPr/>
          </p:nvCxnSpPr>
          <p:spPr>
            <a:xfrm flipV="1">
              <a:off x="7693025" y="2675890"/>
              <a:ext cx="2332355" cy="14605"/>
            </a:xfrm>
            <a:prstGeom prst="line">
              <a:avLst/>
            </a:prstGeom>
            <a:ln w="15875">
              <a:solidFill>
                <a:srgbClr val="54C3D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组合 5"/>
            <p:cNvGrpSpPr/>
            <p:nvPr/>
          </p:nvGrpSpPr>
          <p:grpSpPr>
            <a:xfrm>
              <a:off x="8088948" y="2258655"/>
              <a:ext cx="3132708" cy="1479889"/>
              <a:chOff x="311883" y="1821758"/>
              <a:chExt cx="3132708" cy="1479889"/>
            </a:xfrm>
          </p:grpSpPr>
          <p:sp>
            <p:nvSpPr>
              <p:cNvPr id="41" name="文本框 40"/>
              <p:cNvSpPr txBox="1"/>
              <p:nvPr/>
            </p:nvSpPr>
            <p:spPr>
              <a:xfrm>
                <a:off x="394051" y="2202179"/>
                <a:ext cx="3050540" cy="10994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25000"/>
                  </a:lnSpc>
                  <a:buFont typeface="Wingdings" panose="05000000000000000000" charset="0"/>
                  <a:buChar char="Ø"/>
                </a:pPr>
                <a:r>
                  <a:rPr lang="zh-CN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提供全品租赁服务，种类丰富，无需寻找多个平台</a:t>
                </a:r>
                <a:endParaRPr 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125000"/>
                  </a:lnSpc>
                  <a:buFont typeface="Wingdings" panose="05000000000000000000" charset="0"/>
                  <a:buChar char="Ø"/>
                </a:pPr>
                <a:r>
                  <a:rPr lang="zh-CN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提供房屋租赁服务</a:t>
                </a:r>
                <a:endParaRPr 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311883" y="1821758"/>
                <a:ext cx="2033270" cy="398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6BA8C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全品类租赁</a:t>
                </a:r>
                <a:r>
                  <a:rPr lang="zh-CN" altLang="en-US" sz="2000" b="1" dirty="0">
                    <a:solidFill>
                      <a:srgbClr val="6BA8C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服务</a:t>
                </a:r>
                <a:endParaRPr lang="zh-CN" altLang="en-US" sz="2000" b="1" dirty="0">
                  <a:solidFill>
                    <a:srgbClr val="6BA8C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47" name="组合 46"/>
          <p:cNvGrpSpPr/>
          <p:nvPr/>
        </p:nvGrpSpPr>
        <p:grpSpPr>
          <a:xfrm>
            <a:off x="7503974" y="3735397"/>
            <a:ext cx="3843726" cy="1953374"/>
            <a:chOff x="7692954" y="2291675"/>
            <a:chExt cx="3843726" cy="1953374"/>
          </a:xfrm>
        </p:grpSpPr>
        <p:cxnSp>
          <p:nvCxnSpPr>
            <p:cNvPr id="48" name="直接连接符 47"/>
            <p:cNvCxnSpPr/>
            <p:nvPr/>
          </p:nvCxnSpPr>
          <p:spPr>
            <a:xfrm>
              <a:off x="7692954" y="2690742"/>
              <a:ext cx="1755846" cy="0"/>
            </a:xfrm>
            <a:prstGeom prst="line">
              <a:avLst/>
            </a:prstGeom>
            <a:ln w="15875">
              <a:solidFill>
                <a:srgbClr val="54C3D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9" name="组合 48"/>
            <p:cNvGrpSpPr/>
            <p:nvPr/>
          </p:nvGrpSpPr>
          <p:grpSpPr>
            <a:xfrm>
              <a:off x="8072962" y="2291675"/>
              <a:ext cx="3463718" cy="1953374"/>
              <a:chOff x="295897" y="1854778"/>
              <a:chExt cx="3463718" cy="1953374"/>
            </a:xfrm>
          </p:grpSpPr>
          <p:sp>
            <p:nvSpPr>
              <p:cNvPr id="50" name="文本框 49"/>
              <p:cNvSpPr txBox="1"/>
              <p:nvPr/>
            </p:nvSpPr>
            <p:spPr>
              <a:xfrm>
                <a:off x="739873" y="2362435"/>
                <a:ext cx="3019742" cy="14457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25000"/>
                  </a:lnSpc>
                  <a:buFont typeface="Wingdings" panose="05000000000000000000" charset="0"/>
                  <a:buChar char="Ø"/>
                </a:pPr>
                <a:r>
                  <a:rPr lang="en-US" altLang="zh-CN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先租后买</a:t>
                </a:r>
                <a:endPara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125000"/>
                  </a:lnSpc>
                  <a:buFont typeface="Wingdings" panose="05000000000000000000" charset="0"/>
                  <a:buChar char="Ø"/>
                </a:pPr>
                <a:r>
                  <a:rPr lang="en-US" altLang="zh-CN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以租代买</a:t>
                </a:r>
                <a:endPara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125000"/>
                  </a:lnSpc>
                  <a:buFont typeface="Wingdings" panose="05000000000000000000" charset="0"/>
                  <a:buChar char="Ø"/>
                </a:pPr>
                <a:r>
                  <a:rPr lang="en-US" altLang="zh-CN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租后买断</a:t>
                </a:r>
                <a:endPara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125000"/>
                  </a:lnSpc>
                  <a:buFont typeface="Wingdings" panose="05000000000000000000" charset="0"/>
                  <a:buChar char="Ø"/>
                </a:pPr>
                <a:r>
                  <a:rPr lang="en-US" altLang="zh-CN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租后续租</a:t>
                </a:r>
                <a:endPara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" name="文本框 50"/>
              <p:cNvSpPr txBox="1"/>
              <p:nvPr/>
            </p:nvSpPr>
            <p:spPr>
              <a:xfrm>
                <a:off x="295897" y="1854778"/>
                <a:ext cx="2626360" cy="398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>
                    <a:solidFill>
                      <a:schemeClr val="accent6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</a:t>
                </a:r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提供多种租赁模式</a:t>
                </a:r>
                <a:endParaRPr lang="zh-CN" altLang="en-US" sz="2000" b="1" dirty="0">
                  <a:solidFill>
                    <a:schemeClr val="accent6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cxnSp>
        <p:nvCxnSpPr>
          <p:cNvPr id="62" name="直接连接符 61"/>
          <p:cNvCxnSpPr/>
          <p:nvPr/>
        </p:nvCxnSpPr>
        <p:spPr>
          <a:xfrm>
            <a:off x="1333500" y="4799600"/>
            <a:ext cx="3378233" cy="0"/>
          </a:xfrm>
          <a:prstGeom prst="line">
            <a:avLst/>
          </a:prstGeom>
          <a:ln w="15875">
            <a:solidFill>
              <a:srgbClr val="54C3D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组合 62"/>
          <p:cNvGrpSpPr/>
          <p:nvPr/>
        </p:nvGrpSpPr>
        <p:grpSpPr>
          <a:xfrm>
            <a:off x="780076" y="4435819"/>
            <a:ext cx="3749041" cy="1157080"/>
            <a:chOff x="785592" y="1735398"/>
            <a:chExt cx="3749041" cy="1157080"/>
          </a:xfrm>
        </p:grpSpPr>
        <p:sp>
          <p:nvSpPr>
            <p:cNvPr id="64" name="文本框 63"/>
            <p:cNvSpPr txBox="1"/>
            <p:nvPr/>
          </p:nvSpPr>
          <p:spPr>
            <a:xfrm>
              <a:off x="785593" y="2139258"/>
              <a:ext cx="3749040" cy="75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Wingdings" panose="05000000000000000000" charset="0"/>
                <a:buChar char="Ø"/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个人用户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既是买家又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可以是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卖家</a:t>
              </a:r>
              <a:endPara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25000"/>
                </a:lnSpc>
                <a:buFont typeface="Wingdings" panose="05000000000000000000" charset="0"/>
                <a:buChar char="Ø"/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入驻商家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提供全流程化服务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785592" y="1735398"/>
              <a:ext cx="33042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33C2B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支持</a:t>
              </a:r>
              <a:r>
                <a:rPr lang="en-US" altLang="zh-CN" sz="2000" b="1" dirty="0">
                  <a:solidFill>
                    <a:srgbClr val="33C2B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B2C</a:t>
              </a:r>
              <a:r>
                <a:rPr lang="zh-CN" altLang="en-US" sz="2000" b="1" dirty="0">
                  <a:solidFill>
                    <a:srgbClr val="33C2B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2000" b="1" dirty="0">
                  <a:solidFill>
                    <a:srgbClr val="33C2B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C2C</a:t>
              </a:r>
              <a:r>
                <a:rPr lang="zh-CN" altLang="en-US" sz="2000" b="1" dirty="0">
                  <a:solidFill>
                    <a:srgbClr val="33C2B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等商业模式</a:t>
              </a:r>
              <a:endParaRPr lang="zh-CN" altLang="en-US" sz="2000" b="1" dirty="0">
                <a:solidFill>
                  <a:srgbClr val="33C2B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153304" y="3033001"/>
            <a:ext cx="2772052" cy="1654386"/>
            <a:chOff x="760405" y="1757243"/>
            <a:chExt cx="2772052" cy="1654386"/>
          </a:xfrm>
        </p:grpSpPr>
        <p:sp>
          <p:nvSpPr>
            <p:cNvPr id="8" name="文本框 7"/>
            <p:cNvSpPr txBox="1"/>
            <p:nvPr/>
          </p:nvSpPr>
          <p:spPr>
            <a:xfrm>
              <a:off x="785013" y="2034329"/>
              <a:ext cx="2747444" cy="1377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Wingdings" panose="05000000000000000000" charset="0"/>
                <a:buChar char="Ø"/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租品智能推荐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25000"/>
                </a:lnSpc>
                <a:buFont typeface="Wingdings" panose="05000000000000000000" charset="0"/>
                <a:buChar char="Ø"/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反馈机制先进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25000"/>
                </a:lnSpc>
                <a:buFont typeface="Wingdings" panose="05000000000000000000" charset="0"/>
                <a:buChar char="Ø"/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系统交互性好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/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760405" y="1757243"/>
              <a:ext cx="1728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系统服务智能</a:t>
              </a:r>
              <a:endParaRPr lang="zh-CN" altLang="en-US" sz="2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3" name="直接连接符 12"/>
          <p:cNvCxnSpPr/>
          <p:nvPr/>
        </p:nvCxnSpPr>
        <p:spPr>
          <a:xfrm flipH="1">
            <a:off x="2824480" y="3229610"/>
            <a:ext cx="1728470" cy="1270"/>
          </a:xfrm>
          <a:prstGeom prst="line">
            <a:avLst/>
          </a:prstGeom>
          <a:ln w="15875">
            <a:solidFill>
              <a:srgbClr val="54C3D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/>
        </p:nvSpPr>
        <p:spPr>
          <a:xfrm>
            <a:off x="11162665" y="-685801"/>
            <a:ext cx="2260191" cy="2169806"/>
          </a:xfrm>
          <a:prstGeom prst="ellipse">
            <a:avLst/>
          </a:prstGeom>
          <a:solidFill>
            <a:srgbClr val="00A6B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10009324" y="-587261"/>
            <a:ext cx="1088025" cy="1044515"/>
          </a:xfrm>
          <a:prstGeom prst="ellipse">
            <a:avLst/>
          </a:prstGeom>
          <a:solidFill>
            <a:srgbClr val="EF9802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1308735" y="5233669"/>
            <a:ext cx="2260191" cy="2169806"/>
          </a:xfrm>
          <a:prstGeom prst="ellipse">
            <a:avLst/>
          </a:prstGeom>
          <a:solidFill>
            <a:srgbClr val="00A6B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951049" y="6359004"/>
            <a:ext cx="1088025" cy="1044515"/>
          </a:xfrm>
          <a:prstGeom prst="ellipse">
            <a:avLst/>
          </a:prstGeom>
          <a:solidFill>
            <a:srgbClr val="EF9802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829945" y="6079490"/>
            <a:ext cx="0" cy="0"/>
            <a:chOff x="1485900" y="6386287"/>
            <a:chExt cx="10537829" cy="0"/>
          </a:xfrm>
        </p:grpSpPr>
        <p:cxnSp>
          <p:nvCxnSpPr>
            <p:cNvPr id="28" name="直接连接符 27"/>
            <p:cNvCxnSpPr/>
            <p:nvPr/>
          </p:nvCxnSpPr>
          <p:spPr>
            <a:xfrm>
              <a:off x="1485900" y="6386287"/>
              <a:ext cx="319534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8369230" y="6386287"/>
              <a:ext cx="3654499" cy="0"/>
            </a:xfrm>
            <a:prstGeom prst="line">
              <a:avLst/>
            </a:prstGeom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/>
          <p:nvPr/>
        </p:nvSpPr>
        <p:spPr>
          <a:xfrm>
            <a:off x="0" y="4092717"/>
            <a:ext cx="12192000" cy="155249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5"/>
          <p:cNvSpPr/>
          <p:nvPr/>
        </p:nvSpPr>
        <p:spPr>
          <a:xfrm>
            <a:off x="318502" y="4665266"/>
            <a:ext cx="1111084" cy="1111084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6"/>
          <p:cNvSpPr/>
          <p:nvPr/>
        </p:nvSpPr>
        <p:spPr>
          <a:xfrm>
            <a:off x="2047054" y="4338962"/>
            <a:ext cx="1060122" cy="1060122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7"/>
          <p:cNvSpPr/>
          <p:nvPr/>
        </p:nvSpPr>
        <p:spPr>
          <a:xfrm>
            <a:off x="1300182" y="3978403"/>
            <a:ext cx="798226" cy="798226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8"/>
          <p:cNvSpPr/>
          <p:nvPr/>
        </p:nvSpPr>
        <p:spPr>
          <a:xfrm>
            <a:off x="1588568" y="5114428"/>
            <a:ext cx="329326" cy="329326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12"/>
          <p:cNvSpPr txBox="1"/>
          <p:nvPr/>
        </p:nvSpPr>
        <p:spPr>
          <a:xfrm>
            <a:off x="838200" y="4509650"/>
            <a:ext cx="80520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 FOR YOUR TIME</a:t>
            </a:r>
            <a:endParaRPr 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Diamond 34"/>
          <p:cNvSpPr/>
          <p:nvPr/>
        </p:nvSpPr>
        <p:spPr>
          <a:xfrm>
            <a:off x="8059473" y="3901074"/>
            <a:ext cx="1247219" cy="1247219"/>
          </a:xfrm>
          <a:prstGeom prst="diamond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Diamond 35"/>
          <p:cNvSpPr/>
          <p:nvPr/>
        </p:nvSpPr>
        <p:spPr>
          <a:xfrm>
            <a:off x="9472885" y="4764438"/>
            <a:ext cx="782639" cy="782639"/>
          </a:xfrm>
          <a:prstGeom prst="diamond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Diamond 36"/>
          <p:cNvSpPr/>
          <p:nvPr/>
        </p:nvSpPr>
        <p:spPr>
          <a:xfrm>
            <a:off x="10375419" y="4159544"/>
            <a:ext cx="531998" cy="531998"/>
          </a:xfrm>
          <a:prstGeom prst="diamond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Diamond 37"/>
          <p:cNvSpPr/>
          <p:nvPr/>
        </p:nvSpPr>
        <p:spPr>
          <a:xfrm>
            <a:off x="11618933" y="5103369"/>
            <a:ext cx="531998" cy="531998"/>
          </a:xfrm>
          <a:prstGeom prst="diamond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Diamond 38"/>
          <p:cNvSpPr/>
          <p:nvPr/>
        </p:nvSpPr>
        <p:spPr>
          <a:xfrm>
            <a:off x="11411330" y="4942829"/>
            <a:ext cx="434626" cy="434626"/>
          </a:xfrm>
          <a:prstGeom prst="diamond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Oval 9"/>
          <p:cNvSpPr/>
          <p:nvPr/>
        </p:nvSpPr>
        <p:spPr>
          <a:xfrm>
            <a:off x="3753208" y="1256715"/>
            <a:ext cx="2381614" cy="2381613"/>
          </a:xfrm>
          <a:prstGeom prst="ellipse">
            <a:avLst/>
          </a:prstGeom>
          <a:noFill/>
          <a:ln>
            <a:solidFill>
              <a:srgbClr val="59595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Oval 10"/>
          <p:cNvSpPr/>
          <p:nvPr/>
        </p:nvSpPr>
        <p:spPr>
          <a:xfrm>
            <a:off x="2568989" y="1105678"/>
            <a:ext cx="2381614" cy="2381613"/>
          </a:xfrm>
          <a:prstGeom prst="ellipse">
            <a:avLst/>
          </a:prstGeom>
          <a:noFill/>
          <a:ln>
            <a:solidFill>
              <a:srgbClr val="59595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2" name="组合 79"/>
          <p:cNvGrpSpPr/>
          <p:nvPr/>
        </p:nvGrpSpPr>
        <p:grpSpPr bwMode="auto">
          <a:xfrm>
            <a:off x="1589596" y="810715"/>
            <a:ext cx="2340698" cy="2345431"/>
            <a:chOff x="6379729" y="2488774"/>
            <a:chExt cx="2513016" cy="2513016"/>
          </a:xfrm>
        </p:grpSpPr>
        <p:sp>
          <p:nvSpPr>
            <p:cNvPr id="43" name="任意多边形 82"/>
            <p:cNvSpPr/>
            <p:nvPr/>
          </p:nvSpPr>
          <p:spPr>
            <a:xfrm rot="3738964">
              <a:off x="6379729" y="2488774"/>
              <a:ext cx="2513016" cy="2513016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gradFill flip="none" rotWithShape="1">
              <a:gsLst>
                <a:gs pos="17000">
                  <a:srgbClr val="FFFFFF"/>
                </a:gs>
                <a:gs pos="88000">
                  <a:srgbClr val="FFFFFF">
                    <a:lumMod val="72000"/>
                  </a:srgbClr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127000" dist="63500" dir="7380000" sx="102000" sy="102000" algn="tr" rotWithShape="0">
                <a:prstClr val="black">
                  <a:alpha val="39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endParaRPr>
            </a:p>
          </p:txBody>
        </p:sp>
        <p:sp>
          <p:nvSpPr>
            <p:cNvPr id="44" name="任意多边形 83"/>
            <p:cNvSpPr/>
            <p:nvPr/>
          </p:nvSpPr>
          <p:spPr>
            <a:xfrm rot="16377237">
              <a:off x="6409518" y="2506880"/>
              <a:ext cx="2476803" cy="2476800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gradFill flip="none" rotWithShape="1">
              <a:gsLst>
                <a:gs pos="29000">
                  <a:srgbClr val="FFFFFF"/>
                </a:gs>
                <a:gs pos="98000">
                  <a:srgbClr val="FFFFFF">
                    <a:lumMod val="75000"/>
                  </a:srgbClr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softEdge rad="0"/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45" name="椭圆 80"/>
          <p:cNvSpPr/>
          <p:nvPr/>
        </p:nvSpPr>
        <p:spPr bwMode="auto">
          <a:xfrm>
            <a:off x="1932719" y="1141999"/>
            <a:ext cx="1691508" cy="1694936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>
            <a:innerShdw blurRad="63500" dist="25400" dir="18660000">
              <a:prstClr val="black">
                <a:alpha val="35000"/>
              </a:prstClr>
            </a:inn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kumimoji="0" lang="zh-CN" altLang="en-US" sz="11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46" name="组合 79"/>
          <p:cNvGrpSpPr/>
          <p:nvPr/>
        </p:nvGrpSpPr>
        <p:grpSpPr bwMode="auto">
          <a:xfrm>
            <a:off x="3630929" y="600941"/>
            <a:ext cx="2180135" cy="2184543"/>
            <a:chOff x="6379729" y="2488774"/>
            <a:chExt cx="2513016" cy="2513016"/>
          </a:xfrm>
        </p:grpSpPr>
        <p:sp>
          <p:nvSpPr>
            <p:cNvPr id="51" name="任意多边形 82"/>
            <p:cNvSpPr/>
            <p:nvPr/>
          </p:nvSpPr>
          <p:spPr>
            <a:xfrm rot="3738964">
              <a:off x="6379729" y="2488774"/>
              <a:ext cx="2513016" cy="2513016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gradFill flip="none" rotWithShape="1">
              <a:gsLst>
                <a:gs pos="17000">
                  <a:srgbClr val="FFFFFF"/>
                </a:gs>
                <a:gs pos="88000">
                  <a:srgbClr val="FFFFFF">
                    <a:lumMod val="72000"/>
                  </a:srgbClr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127000" dist="63500" dir="7380000" sx="102000" sy="102000" algn="tr" rotWithShape="0">
                <a:prstClr val="black">
                  <a:alpha val="39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endParaRPr>
            </a:p>
          </p:txBody>
        </p:sp>
        <p:sp>
          <p:nvSpPr>
            <p:cNvPr id="52" name="任意多边形 83"/>
            <p:cNvSpPr/>
            <p:nvPr/>
          </p:nvSpPr>
          <p:spPr>
            <a:xfrm rot="16377237">
              <a:off x="6409518" y="2506880"/>
              <a:ext cx="2476803" cy="2476800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gradFill flip="none" rotWithShape="1">
              <a:gsLst>
                <a:gs pos="29000">
                  <a:srgbClr val="FFFFFF"/>
                </a:gs>
                <a:gs pos="98000">
                  <a:srgbClr val="FFFFFF">
                    <a:lumMod val="75000"/>
                  </a:srgbClr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softEdge rad="0"/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3" name="椭圆 80"/>
          <p:cNvSpPr/>
          <p:nvPr/>
        </p:nvSpPr>
        <p:spPr bwMode="auto">
          <a:xfrm>
            <a:off x="3950515" y="909500"/>
            <a:ext cx="1575477" cy="1578669"/>
          </a:xfrm>
          <a:prstGeom prst="ellipse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>
            <a:innerShdw blurRad="63500" dist="25400" dir="18660000">
              <a:prstClr val="black">
                <a:alpha val="35000"/>
              </a:prstClr>
            </a:inn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endParaRPr kumimoji="0" lang="zh-CN" altLang="en-US" sz="11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54" name="组合 79"/>
          <p:cNvGrpSpPr/>
          <p:nvPr/>
        </p:nvGrpSpPr>
        <p:grpSpPr bwMode="auto">
          <a:xfrm>
            <a:off x="6509312" y="796591"/>
            <a:ext cx="2354638" cy="2359399"/>
            <a:chOff x="6379729" y="2488774"/>
            <a:chExt cx="2513016" cy="2513016"/>
          </a:xfrm>
        </p:grpSpPr>
        <p:sp>
          <p:nvSpPr>
            <p:cNvPr id="55" name="任意多边形 82"/>
            <p:cNvSpPr/>
            <p:nvPr/>
          </p:nvSpPr>
          <p:spPr>
            <a:xfrm rot="3738964">
              <a:off x="6379729" y="2488774"/>
              <a:ext cx="2513016" cy="2513016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gradFill flip="none" rotWithShape="1">
              <a:gsLst>
                <a:gs pos="17000">
                  <a:srgbClr val="FFFFFF"/>
                </a:gs>
                <a:gs pos="88000">
                  <a:srgbClr val="FFFFFF">
                    <a:lumMod val="72000"/>
                  </a:srgbClr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127000" dist="63500" dir="7380000" sx="102000" sy="102000" algn="tr" rotWithShape="0">
                <a:prstClr val="black">
                  <a:alpha val="39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endParaRPr>
            </a:p>
          </p:txBody>
        </p:sp>
        <p:sp>
          <p:nvSpPr>
            <p:cNvPr id="56" name="任意多边形 83"/>
            <p:cNvSpPr/>
            <p:nvPr/>
          </p:nvSpPr>
          <p:spPr>
            <a:xfrm rot="16377237">
              <a:off x="6409518" y="2506880"/>
              <a:ext cx="2476803" cy="2476800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gradFill flip="none" rotWithShape="1">
              <a:gsLst>
                <a:gs pos="29000">
                  <a:srgbClr val="FFFFFF"/>
                </a:gs>
                <a:gs pos="98000">
                  <a:srgbClr val="FFFFFF">
                    <a:lumMod val="75000"/>
                  </a:srgbClr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softEdge rad="0"/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7" name="椭圆 80"/>
          <p:cNvSpPr/>
          <p:nvPr/>
        </p:nvSpPr>
        <p:spPr bwMode="auto">
          <a:xfrm>
            <a:off x="6830093" y="1129335"/>
            <a:ext cx="1701582" cy="1705030"/>
          </a:xfrm>
          <a:prstGeom prst="ellipse">
            <a:avLst/>
          </a:prstGeom>
          <a:solidFill>
            <a:schemeClr val="accent4"/>
          </a:solidFill>
          <a:ln w="25400" cap="flat" cmpd="sng" algn="ctr">
            <a:noFill/>
            <a:prstDash val="solid"/>
          </a:ln>
          <a:effectLst>
            <a:innerShdw blurRad="63500" dist="25400" dir="18660000">
              <a:prstClr val="black">
                <a:alpha val="35000"/>
              </a:prstClr>
            </a:inn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kumimoji="0" lang="en-US" altLang="zh-CN" sz="11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58" name="组合 79"/>
          <p:cNvGrpSpPr/>
          <p:nvPr/>
        </p:nvGrpSpPr>
        <p:grpSpPr bwMode="auto">
          <a:xfrm>
            <a:off x="5019906" y="1945561"/>
            <a:ext cx="1920483" cy="1924366"/>
            <a:chOff x="6379729" y="2488774"/>
            <a:chExt cx="2513016" cy="2513016"/>
          </a:xfrm>
        </p:grpSpPr>
        <p:sp>
          <p:nvSpPr>
            <p:cNvPr id="59" name="任意多边形 82"/>
            <p:cNvSpPr/>
            <p:nvPr/>
          </p:nvSpPr>
          <p:spPr>
            <a:xfrm rot="3738964">
              <a:off x="6379729" y="2488774"/>
              <a:ext cx="2513016" cy="2513016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gradFill flip="none" rotWithShape="1">
              <a:gsLst>
                <a:gs pos="17000">
                  <a:srgbClr val="FFFFFF"/>
                </a:gs>
                <a:gs pos="88000">
                  <a:srgbClr val="FFFFFF">
                    <a:lumMod val="72000"/>
                  </a:srgbClr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127000" dist="63500" dir="7380000" sx="102000" sy="102000" algn="tr" rotWithShape="0">
                <a:prstClr val="black">
                  <a:alpha val="39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endParaRPr>
            </a:p>
          </p:txBody>
        </p:sp>
        <p:sp>
          <p:nvSpPr>
            <p:cNvPr id="60" name="任意多边形 83"/>
            <p:cNvSpPr/>
            <p:nvPr/>
          </p:nvSpPr>
          <p:spPr>
            <a:xfrm rot="16377237">
              <a:off x="6409518" y="2506880"/>
              <a:ext cx="2476803" cy="2476800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gradFill flip="none" rotWithShape="1">
              <a:gsLst>
                <a:gs pos="29000">
                  <a:srgbClr val="FFFFFF"/>
                </a:gs>
                <a:gs pos="98000">
                  <a:srgbClr val="FFFFFF">
                    <a:lumMod val="75000"/>
                  </a:srgbClr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softEdge rad="0"/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61" name="椭圆 80"/>
          <p:cNvSpPr/>
          <p:nvPr/>
        </p:nvSpPr>
        <p:spPr bwMode="auto">
          <a:xfrm>
            <a:off x="5301430" y="2217371"/>
            <a:ext cx="1387840" cy="1390651"/>
          </a:xfrm>
          <a:prstGeom prst="ellipse">
            <a:avLst/>
          </a:prstGeom>
          <a:solidFill>
            <a:schemeClr val="accent3"/>
          </a:solidFill>
          <a:ln w="25400" cap="flat" cmpd="sng" algn="ctr">
            <a:noFill/>
            <a:prstDash val="solid"/>
          </a:ln>
          <a:effectLst>
            <a:innerShdw blurRad="63500" dist="25400" dir="18660000">
              <a:prstClr val="black">
                <a:alpha val="35000"/>
              </a:prstClr>
            </a:inn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kumimoji="0" lang="en-US" altLang="zh-CN" sz="11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4.1.3"/>
</p:tagLst>
</file>

<file path=ppt/tags/tag2.xml><?xml version="1.0" encoding="utf-8"?>
<p:tagLst xmlns:p="http://schemas.openxmlformats.org/presentationml/2006/main">
  <p:tag name="PA" val="v4.1.3"/>
</p:tagLst>
</file>

<file path=ppt/tags/tag3.xml><?xml version="1.0" encoding="utf-8"?>
<p:tagLst xmlns:p="http://schemas.openxmlformats.org/presentationml/2006/main">
  <p:tag name="PA" val="v4.1.3"/>
</p:tagLst>
</file>

<file path=ppt/tags/tag4.xml><?xml version="1.0" encoding="utf-8"?>
<p:tagLst xmlns:p="http://schemas.openxmlformats.org/presentationml/2006/main">
  <p:tag name="PA" val="v4.1.3"/>
</p:tagLst>
</file>

<file path=ppt/tags/tag5.xml><?xml version="1.0" encoding="utf-8"?>
<p:tagLst xmlns:p="http://schemas.openxmlformats.org/presentationml/2006/main">
  <p:tag name="PA" val="v4.1.3"/>
</p:tagLst>
</file>

<file path=ppt/tags/tag6.xml><?xml version="1.0" encoding="utf-8"?>
<p:tagLst xmlns:p="http://schemas.openxmlformats.org/presentationml/2006/main">
  <p:tag name="PA" val="v4.1.3"/>
</p:tagLst>
</file>

<file path=ppt/tags/tag7.xml><?xml version="1.0" encoding="utf-8"?>
<p:tagLst xmlns:p="http://schemas.openxmlformats.org/presentationml/2006/main">
  <p:tag name="PA" val="v4.1.3"/>
</p:tagLst>
</file>

<file path=ppt/tags/tag8.xml><?xml version="1.0" encoding="utf-8"?>
<p:tagLst xmlns:p="http://schemas.openxmlformats.org/presentationml/2006/main">
  <p:tag name="PA" val="v4.1.3"/>
</p:tagLst>
</file>

<file path=ppt/tags/tag9.xml><?xml version="1.0" encoding="utf-8"?>
<p:tagLst xmlns:p="http://schemas.openxmlformats.org/presentationml/2006/main">
  <p:tag name="PA" val="v4.1.3"/>
</p:tagLst>
</file>

<file path=ppt/tags/tag10.xml><?xml version="1.0" encoding="utf-8"?>
<p:tagLst xmlns:p="http://schemas.openxmlformats.org/presentationml/2006/main">
  <p:tag name="PA" val="v4.1.3"/>
</p:tagLst>
</file>

<file path=ppt/tags/tag11.xml><?xml version="1.0" encoding="utf-8"?>
<p:tagLst xmlns:p="http://schemas.openxmlformats.org/presentationml/2006/main">
  <p:tag name="PA" val="v4.1.3"/>
</p:tagLst>
</file>

<file path=ppt/tags/tag12.xml><?xml version="1.0" encoding="utf-8"?>
<p:tagLst xmlns:p="http://schemas.openxmlformats.org/presentationml/2006/main">
  <p:tag name="PA" val="v4.1.3"/>
</p:tagLst>
</file>

<file path=ppt/tags/tag13.xml><?xml version="1.0" encoding="utf-8"?>
<p:tagLst xmlns:p="http://schemas.openxmlformats.org/presentationml/2006/main">
  <p:tag name="PA" val="v4.1.3"/>
</p:tagLst>
</file>

<file path=ppt/tags/tag14.xml><?xml version="1.0" encoding="utf-8"?>
<p:tagLst xmlns:p="http://schemas.openxmlformats.org/presentationml/2006/main">
  <p:tag name="PA" val="v4.1.3"/>
</p:tagLst>
</file>

<file path=ppt/tags/tag15.xml><?xml version="1.0" encoding="utf-8"?>
<p:tagLst xmlns:p="http://schemas.openxmlformats.org/presentationml/2006/main">
  <p:tag name="PA" val="v4.1.3"/>
</p:tagLst>
</file>

<file path=ppt/tags/tag16.xml><?xml version="1.0" encoding="utf-8"?>
<p:tagLst xmlns:p="http://schemas.openxmlformats.org/presentationml/2006/main">
  <p:tag name="PA" val="v4.1.3"/>
</p:tagLst>
</file>

<file path=ppt/tags/tag17.xml><?xml version="1.0" encoding="utf-8"?>
<p:tagLst xmlns:p="http://schemas.openxmlformats.org/presentationml/2006/main">
  <p:tag name="PA" val="v4.1.3"/>
</p:tagLst>
</file>

<file path=ppt/tags/tag18.xml><?xml version="1.0" encoding="utf-8"?>
<p:tagLst xmlns:p="http://schemas.openxmlformats.org/presentationml/2006/main">
  <p:tag name="PA" val="v4.1.3"/>
</p:tagLst>
</file>

<file path=ppt/tags/tag19.xml><?xml version="1.0" encoding="utf-8"?>
<p:tagLst xmlns:p="http://schemas.openxmlformats.org/presentationml/2006/main">
  <p:tag name="PA" val="v4.1.3"/>
</p:tagLst>
</file>

<file path=ppt/tags/tag20.xml><?xml version="1.0" encoding="utf-8"?>
<p:tagLst xmlns:p="http://schemas.openxmlformats.org/presentationml/2006/main">
  <p:tag name="PA" val="v4.1.3"/>
</p:tagLst>
</file>

<file path=ppt/tags/tag21.xml><?xml version="1.0" encoding="utf-8"?>
<p:tagLst xmlns:p="http://schemas.openxmlformats.org/presentationml/2006/main">
  <p:tag name="PA" val="v4.1.3"/>
</p:tagLst>
</file>

<file path=ppt/tags/tag22.xml><?xml version="1.0" encoding="utf-8"?>
<p:tagLst xmlns:p="http://schemas.openxmlformats.org/presentationml/2006/main">
  <p:tag name="PA" val="v4.1.3"/>
</p:tagLst>
</file>

<file path=ppt/tags/tag23.xml><?xml version="1.0" encoding="utf-8"?>
<p:tagLst xmlns:p="http://schemas.openxmlformats.org/presentationml/2006/main">
  <p:tag name="PA" val="v4.1.3"/>
</p:tagLst>
</file>

<file path=ppt/tags/tag24.xml><?xml version="1.0" encoding="utf-8"?>
<p:tagLst xmlns:p="http://schemas.openxmlformats.org/presentationml/2006/main">
  <p:tag name="PA" val="v4.1.3"/>
</p:tagLst>
</file>

<file path=ppt/tags/tag25.xml><?xml version="1.0" encoding="utf-8"?>
<p:tagLst xmlns:p="http://schemas.openxmlformats.org/presentationml/2006/main">
  <p:tag name="PA" val="v4.1.3"/>
</p:tagLst>
</file>

<file path=ppt/tags/tag26.xml><?xml version="1.0" encoding="utf-8"?>
<p:tagLst xmlns:p="http://schemas.openxmlformats.org/presentationml/2006/main">
  <p:tag name="PA" val="v4.1.3"/>
</p:tagLst>
</file>

<file path=ppt/tags/tag27.xml><?xml version="1.0" encoding="utf-8"?>
<p:tagLst xmlns:p="http://schemas.openxmlformats.org/presentationml/2006/main">
  <p:tag name="PA" val="v4.1.3"/>
</p:tagLst>
</file>

<file path=ppt/tags/tag28.xml><?xml version="1.0" encoding="utf-8"?>
<p:tagLst xmlns:p="http://schemas.openxmlformats.org/presentationml/2006/main">
  <p:tag name="PA" val="v4.1.3"/>
</p:tagLst>
</file>

<file path=ppt/tags/tag29.xml><?xml version="1.0" encoding="utf-8"?>
<p:tagLst xmlns:p="http://schemas.openxmlformats.org/presentationml/2006/main">
  <p:tag name="PA" val="v4.1.3"/>
</p:tagLst>
</file>

<file path=ppt/tags/tag30.xml><?xml version="1.0" encoding="utf-8"?>
<p:tagLst xmlns:p="http://schemas.openxmlformats.org/presentationml/2006/main">
  <p:tag name="PA" val="v4.1.3"/>
</p:tagLst>
</file>

<file path=ppt/tags/tag31.xml><?xml version="1.0" encoding="utf-8"?>
<p:tagLst xmlns:p="http://schemas.openxmlformats.org/presentationml/2006/main">
  <p:tag name="PA" val="v4.1.3"/>
</p:tagLst>
</file>

<file path=ppt/tags/tag32.xml><?xml version="1.0" encoding="utf-8"?>
<p:tagLst xmlns:p="http://schemas.openxmlformats.org/presentationml/2006/main">
  <p:tag name="PA" val="v4.1.3"/>
</p:tagLst>
</file>

<file path=ppt/tags/tag33.xml><?xml version="1.0" encoding="utf-8"?>
<p:tagLst xmlns:p="http://schemas.openxmlformats.org/presentationml/2006/main">
  <p:tag name="PA" val="v4.1.3"/>
</p:tagLst>
</file>

<file path=ppt/tags/tag34.xml><?xml version="1.0" encoding="utf-8"?>
<p:tagLst xmlns:p="http://schemas.openxmlformats.org/presentationml/2006/main">
  <p:tag name="KSO_WM_UNIT_PLACING_PICTURE_USER_VIEWPORT" val="{&quot;height&quot;:10061,&quot;width&quot;:16608}"/>
</p:tagLst>
</file>

<file path=ppt/theme/theme1.xml><?xml version="1.0" encoding="utf-8"?>
<a:theme xmlns:a="http://schemas.openxmlformats.org/drawingml/2006/main" name="9_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75F77"/>
      </a:accent1>
      <a:accent2>
        <a:srgbClr val="D74B4B"/>
      </a:accent2>
      <a:accent3>
        <a:srgbClr val="A7AA9D"/>
      </a:accent3>
      <a:accent4>
        <a:srgbClr val="2192BC"/>
      </a:accent4>
      <a:accent5>
        <a:srgbClr val="354B5E"/>
      </a:accent5>
      <a:accent6>
        <a:srgbClr val="BFBFBF"/>
      </a:accent6>
      <a:hlink>
        <a:srgbClr val="D74B4B"/>
      </a:hlink>
      <a:folHlink>
        <a:srgbClr val="869FB7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A6BC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18C80"/>
      </a:accent1>
      <a:accent2>
        <a:srgbClr val="F2CF61"/>
      </a:accent2>
      <a:accent3>
        <a:srgbClr val="A6E582"/>
      </a:accent3>
      <a:accent4>
        <a:srgbClr val="51D9B5"/>
      </a:accent4>
      <a:accent5>
        <a:srgbClr val="D95B5B"/>
      </a:accent5>
      <a:accent6>
        <a:srgbClr val="BFBFBF"/>
      </a:accent6>
      <a:hlink>
        <a:srgbClr val="D95B5B"/>
      </a:hlink>
      <a:folHlink>
        <a:srgbClr val="F2CF61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75F77"/>
    </a:accent1>
    <a:accent2>
      <a:srgbClr val="D74B4B"/>
    </a:accent2>
    <a:accent3>
      <a:srgbClr val="A7AA9D"/>
    </a:accent3>
    <a:accent4>
      <a:srgbClr val="2192BC"/>
    </a:accent4>
    <a:accent5>
      <a:srgbClr val="354B5E"/>
    </a:accent5>
    <a:accent6>
      <a:srgbClr val="BFBFBF"/>
    </a:accent6>
    <a:hlink>
      <a:srgbClr val="D74B4B"/>
    </a:hlink>
    <a:folHlink>
      <a:srgbClr val="869FB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1621</Words>
  <Application>WPS 演示</Application>
  <PresentationFormat>宽屏</PresentationFormat>
  <Paragraphs>370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43" baseType="lpstr">
      <vt:lpstr>Arial</vt:lpstr>
      <vt:lpstr>宋体</vt:lpstr>
      <vt:lpstr>Wingdings</vt:lpstr>
      <vt:lpstr>微软雅黑</vt:lpstr>
      <vt:lpstr>Droid Sans</vt:lpstr>
      <vt:lpstr>Segoe Print</vt:lpstr>
      <vt:lpstr>Arial</vt:lpstr>
      <vt:lpstr>Calibri</vt:lpstr>
      <vt:lpstr>Open Sans Semibold</vt:lpstr>
      <vt:lpstr>Yu Gothic UI Semibold</vt:lpstr>
      <vt:lpstr>Open Sans</vt:lpstr>
      <vt:lpstr>造字工房悦黑体验版细体</vt:lpstr>
      <vt:lpstr>SF UI Display Thin</vt:lpstr>
      <vt:lpstr>Roboto Condensed Light</vt:lpstr>
      <vt:lpstr>linea-arrows-10</vt:lpstr>
      <vt:lpstr>黑体</vt:lpstr>
      <vt:lpstr>Times New Roman</vt:lpstr>
      <vt:lpstr>Calibri</vt:lpstr>
      <vt:lpstr>楷体</vt:lpstr>
      <vt:lpstr>Wingdings</vt:lpstr>
      <vt:lpstr>Arial Unicode MS</vt:lpstr>
      <vt:lpstr>Calibri Light</vt:lpstr>
      <vt:lpstr>9_Office 主题</vt:lpstr>
      <vt:lpstr>2_Office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四川大学商学院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贺镕庄</dc:creator>
  <cp:lastModifiedBy>曾经的时光</cp:lastModifiedBy>
  <cp:revision>41</cp:revision>
  <dcterms:created xsi:type="dcterms:W3CDTF">2014-11-05T04:28:00Z</dcterms:created>
  <dcterms:modified xsi:type="dcterms:W3CDTF">2021-04-21T13:14:52Z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A0FE1F6B036B46D68FA3A2D9BD64BA9D</vt:lpwstr>
  </property>
  <property fmtid="{D5CDD505-2E9C-101B-9397-08002B2CF9AE}" pid="3" name="KSOProductBuildVer">
    <vt:lpwstr>2052-11.1.0.10463</vt:lpwstr>
  </property>
</Properties>
</file>